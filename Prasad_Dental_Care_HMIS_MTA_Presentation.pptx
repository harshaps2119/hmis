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0D9488"/>
          </a:solidFill>
          <a:ln/>
        </p:spPr>
      </p:sp>
      <p:sp>
        <p:nvSpPr>
          <p:cNvPr id="3" name="Shape 1"/>
          <p:cNvSpPr/>
          <p:nvPr/>
        </p:nvSpPr>
        <p:spPr>
          <a:xfrm>
            <a:off x="914400" y="731520"/>
            <a:ext cx="2926080" cy="365760"/>
          </a:xfrm>
          <a:prstGeom prst="roundRect">
            <a:avLst>
              <a:gd name="adj" fmla="val 20000"/>
            </a:avLst>
          </a:prstGeom>
          <a:solidFill>
            <a:srgbClr val="F0FDFA"/>
          </a:solidFill>
          <a:ln w="12700">
            <a:solidFill>
              <a:srgbClr val="CCFBF1"/>
            </a:solidFill>
            <a:prstDash val="solid"/>
          </a:ln>
        </p:spPr>
      </p:sp>
      <p:sp>
        <p:nvSpPr>
          <p:cNvPr id="4" name="Text 2"/>
          <p:cNvSpPr/>
          <p:nvPr/>
        </p:nvSpPr>
        <p:spPr>
          <a:xfrm>
            <a:off x="914400" y="731520"/>
            <a:ext cx="2926080" cy="365760"/>
          </a:xfrm>
          <a:prstGeom prst="rect">
            <a:avLst/>
          </a:prstGeom>
          <a:noFill/>
          <a:ln/>
        </p:spPr>
        <p:txBody>
          <a:bodyPr wrap="square" rtlCol="0" anchor="ctr"/>
          <a:lstStyle/>
          <a:p>
            <a:pPr algn="ctr" indent="0" marL="0">
              <a:buNone/>
            </a:pPr>
            <a:r>
              <a:rPr lang="en-US" sz="1000" b="1" dirty="0">
                <a:solidFill>
                  <a:srgbClr val="0F766E"/>
                </a:solidFill>
                <a:latin typeface="Segoe UI" pitchFamily="34" charset="0"/>
                <a:ea typeface="Segoe UI" pitchFamily="34" charset="-122"/>
                <a:cs typeface="Segoe UI" pitchFamily="34" charset="-120"/>
              </a:rPr>
              <a:t>HIT709 FIELD PROJECT | MTA PRESENTATION</a:t>
            </a:r>
            <a:endParaRPr lang="en-US" sz="1000" dirty="0"/>
          </a:p>
        </p:txBody>
      </p:sp>
      <p:sp>
        <p:nvSpPr>
          <p:cNvPr id="5" name="Text 3"/>
          <p:cNvSpPr/>
          <p:nvPr/>
        </p:nvSpPr>
        <p:spPr>
          <a:xfrm>
            <a:off x="914400" y="1234440"/>
            <a:ext cx="10332720" cy="640080"/>
          </a:xfrm>
          <a:prstGeom prst="rect">
            <a:avLst/>
          </a:prstGeom>
          <a:noFill/>
          <a:ln/>
        </p:spPr>
        <p:txBody>
          <a:bodyPr wrap="square" rtlCol="0" anchor="ctr"/>
          <a:lstStyle/>
          <a:p>
            <a:pPr indent="0" marL="0">
              <a:buNone/>
            </a:pPr>
            <a:r>
              <a:rPr lang="en-US" sz="3400" b="1" dirty="0">
                <a:solidFill>
                  <a:srgbClr val="0F172A"/>
                </a:solidFill>
                <a:latin typeface="Segoe UI" pitchFamily="34" charset="0"/>
                <a:ea typeface="Segoe UI" pitchFamily="34" charset="-122"/>
                <a:cs typeface="Segoe UI" pitchFamily="34" charset="-120"/>
              </a:rPr>
              <a:t>Prasad Dental Care HMIS</a:t>
            </a:r>
            <a:endParaRPr lang="en-US" sz="3400" dirty="0"/>
          </a:p>
        </p:txBody>
      </p:sp>
      <p:sp>
        <p:nvSpPr>
          <p:cNvPr id="6" name="Text 4"/>
          <p:cNvSpPr/>
          <p:nvPr/>
        </p:nvSpPr>
        <p:spPr>
          <a:xfrm>
            <a:off x="914400" y="1920240"/>
            <a:ext cx="10332720" cy="365760"/>
          </a:xfrm>
          <a:prstGeom prst="rect">
            <a:avLst/>
          </a:prstGeom>
          <a:noFill/>
          <a:ln/>
        </p:spPr>
        <p:txBody>
          <a:bodyPr wrap="square" rtlCol="0" anchor="ctr"/>
          <a:lstStyle/>
          <a:p>
            <a:pPr indent="0" marL="0">
              <a:buNone/>
            </a:pPr>
            <a:r>
              <a:rPr lang="en-US" sz="1400" dirty="0">
                <a:solidFill>
                  <a:srgbClr val="0F766E"/>
                </a:solidFill>
                <a:latin typeface="Segoe UI" pitchFamily="34" charset="0"/>
                <a:ea typeface="Segoe UI" pitchFamily="34" charset="-122"/>
                <a:cs typeface="Segoe UI" pitchFamily="34" charset="-120"/>
              </a:rPr>
              <a:t>Digital Patient Records, Chairside Operatory Queue &amp; Prescription Information System</a:t>
            </a:r>
            <a:endParaRPr lang="en-US" sz="1400" dirty="0"/>
          </a:p>
        </p:txBody>
      </p:sp>
      <p:sp>
        <p:nvSpPr>
          <p:cNvPr id="7" name="Shape 5"/>
          <p:cNvSpPr/>
          <p:nvPr/>
        </p:nvSpPr>
        <p:spPr>
          <a:xfrm>
            <a:off x="914400" y="2560320"/>
            <a:ext cx="4937760" cy="3474720"/>
          </a:xfrm>
          <a:prstGeom prst="roundRect">
            <a:avLst>
              <a:gd name="adj" fmla="val 2632"/>
            </a:avLst>
          </a:prstGeom>
          <a:solidFill>
            <a:srgbClr val="FFFFFF"/>
          </a:solidFill>
          <a:ln w="12700">
            <a:solidFill>
              <a:srgbClr val="E2E8F0"/>
            </a:solidFill>
            <a:prstDash val="solid"/>
          </a:ln>
        </p:spPr>
      </p:sp>
      <p:sp>
        <p:nvSpPr>
          <p:cNvPr id="8" name="Text 6"/>
          <p:cNvSpPr/>
          <p:nvPr/>
        </p:nvSpPr>
        <p:spPr>
          <a:xfrm>
            <a:off x="1188720" y="2834640"/>
            <a:ext cx="4389120" cy="274320"/>
          </a:xfrm>
          <a:prstGeom prst="rect">
            <a:avLst/>
          </a:prstGeom>
          <a:noFill/>
          <a:ln/>
        </p:spPr>
        <p:txBody>
          <a:bodyPr wrap="square" rtlCol="0" anchor="ctr"/>
          <a:lstStyle/>
          <a:p>
            <a:pPr indent="0" marL="0">
              <a:buNone/>
            </a:pPr>
            <a:r>
              <a:rPr lang="en-US" sz="1200" b="1" dirty="0">
                <a:solidFill>
                  <a:srgbClr val="0F766E"/>
                </a:solidFill>
                <a:latin typeface="Segoe UI" pitchFamily="34" charset="0"/>
                <a:ea typeface="Segoe UI" pitchFamily="34" charset="-122"/>
                <a:cs typeface="Segoe UI" pitchFamily="34" charset="-120"/>
              </a:rPr>
              <a:t>CLINICAL STAKEHOLDER PROFILE</a:t>
            </a:r>
            <a:endParaRPr lang="en-US" sz="1200" dirty="0"/>
          </a:p>
        </p:txBody>
      </p:sp>
      <p:sp>
        <p:nvSpPr>
          <p:cNvPr id="9" name="Text 7"/>
          <p:cNvSpPr/>
          <p:nvPr/>
        </p:nvSpPr>
        <p:spPr>
          <a:xfrm>
            <a:off x="1188720" y="3200400"/>
            <a:ext cx="4389120" cy="2560320"/>
          </a:xfrm>
          <a:prstGeom prst="rect">
            <a:avLst/>
          </a:prstGeom>
          <a:noFill/>
          <a:ln/>
        </p:spPr>
        <p:txBody>
          <a:bodyPr wrap="square" rtlCol="0" anchor="ctr"/>
          <a:lstStyle/>
          <a:p>
            <a:pPr indent="0" marL="0">
              <a:lnSpc>
                <a:spcPts val="1800"/>
              </a:lnSpc>
              <a:buNone/>
            </a:pPr>
            <a:r>
              <a:rPr lang="en-US" sz="1100" b="1" dirty="0">
                <a:solidFill>
                  <a:srgbClr val="0F172A"/>
                </a:solidFill>
                <a:latin typeface="Segoe UI" pitchFamily="34" charset="0"/>
                <a:ea typeface="Segoe UI" pitchFamily="34" charset="-122"/>
                <a:cs typeface="Segoe UI" pitchFamily="34" charset="-120"/>
              </a:rPr>
              <a:t>Clinic Name: </a:t>
            </a:r>
            <a:pPr indent="0" marL="0">
              <a:lnSpc>
                <a:spcPts val="1800"/>
              </a:lnSpc>
              <a:buNone/>
            </a:pPr>
            <a:r>
              <a:rPr lang="en-US" sz="1100" dirty="0">
                <a:solidFill>
                  <a:srgbClr val="334155"/>
                </a:solidFill>
                <a:latin typeface="Segoe UI" pitchFamily="34" charset="0"/>
                <a:ea typeface="Segoe UI" pitchFamily="34" charset="-122"/>
                <a:cs typeface="Segoe UI" pitchFamily="34" charset="-120"/>
              </a:rPr>
              <a:t>Prasad Dental Care
</a:t>
            </a:r>
            <a:pPr indent="0" marL="0">
              <a:lnSpc>
                <a:spcPts val="1800"/>
              </a:lnSpc>
              <a:buNone/>
            </a:pPr>
            <a:r>
              <a:rPr lang="en-US" sz="1100" b="1" dirty="0">
                <a:solidFill>
                  <a:srgbClr val="0F172A"/>
                </a:solidFill>
                <a:latin typeface="Segoe UI" pitchFamily="34" charset="0"/>
                <a:ea typeface="Segoe UI" pitchFamily="34" charset="-122"/>
                <a:cs typeface="Segoe UI" pitchFamily="34" charset="-120"/>
              </a:rPr>
              <a:t>Consultant Clinician: </a:t>
            </a:r>
            <a:pPr indent="0" marL="0">
              <a:lnSpc>
                <a:spcPts val="1800"/>
              </a:lnSpc>
              <a:buNone/>
            </a:pPr>
            <a:r>
              <a:rPr lang="en-US" sz="1100" dirty="0">
                <a:solidFill>
                  <a:srgbClr val="334155"/>
                </a:solidFill>
                <a:latin typeface="Segoe UI" pitchFamily="34" charset="0"/>
                <a:ea typeface="Segoe UI" pitchFamily="34" charset="-122"/>
                <a:cs typeface="Segoe UI" pitchFamily="34" charset="-120"/>
              </a:rPr>
              <a:t>Dr. Hemanth Kumar
</a:t>
            </a:r>
            <a:pPr indent="0" marL="0">
              <a:lnSpc>
                <a:spcPts val="1800"/>
              </a:lnSpc>
              <a:buNone/>
            </a:pPr>
            <a:r>
              <a:rPr lang="en-US" sz="1100" b="1" dirty="0">
                <a:solidFill>
                  <a:srgbClr val="0F172A"/>
                </a:solidFill>
                <a:latin typeface="Segoe UI" pitchFamily="34" charset="0"/>
                <a:ea typeface="Segoe UI" pitchFamily="34" charset="-122"/>
                <a:cs typeface="Segoe UI" pitchFamily="34" charset="-120"/>
              </a:rPr>
              <a:t>Qualifications: </a:t>
            </a:r>
            <a:pPr indent="0" marL="0">
              <a:lnSpc>
                <a:spcPts val="1800"/>
              </a:lnSpc>
              <a:buNone/>
            </a:pPr>
            <a:r>
              <a:rPr lang="en-US" sz="1100" dirty="0">
                <a:solidFill>
                  <a:srgbClr val="334155"/>
                </a:solidFill>
                <a:latin typeface="Segoe UI" pitchFamily="34" charset="0"/>
                <a:ea typeface="Segoe UI" pitchFamily="34" charset="-122"/>
                <a:cs typeface="Segoe UI" pitchFamily="34" charset="-120"/>
              </a:rPr>
              <a:t>BDS, MDS – Orthodontics
</a:t>
            </a:r>
            <a:pPr indent="0" marL="0">
              <a:lnSpc>
                <a:spcPts val="1800"/>
              </a:lnSpc>
              <a:buNone/>
            </a:pPr>
            <a:r>
              <a:rPr lang="en-US" sz="1100" b="1" dirty="0">
                <a:solidFill>
                  <a:srgbClr val="0F172A"/>
                </a:solidFill>
                <a:latin typeface="Segoe UI" pitchFamily="34" charset="0"/>
                <a:ea typeface="Segoe UI" pitchFamily="34" charset="-122"/>
                <a:cs typeface="Segoe UI" pitchFamily="34" charset="-120"/>
              </a:rPr>
              <a:t>Specialization: </a:t>
            </a:r>
            <a:pPr indent="0" marL="0">
              <a:lnSpc>
                <a:spcPts val="1800"/>
              </a:lnSpc>
              <a:buNone/>
            </a:pPr>
            <a:r>
              <a:rPr lang="en-US" sz="1100" dirty="0">
                <a:solidFill>
                  <a:srgbClr val="334155"/>
                </a:solidFill>
                <a:latin typeface="Segoe UI" pitchFamily="34" charset="0"/>
                <a:ea typeface="Segoe UI" pitchFamily="34" charset="-122"/>
                <a:cs typeface="Segoe UI" pitchFamily="34" charset="-120"/>
              </a:rPr>
              <a:t>Orthodontics &amp; Dentofacial Orthopedics
</a:t>
            </a:r>
            <a:pPr indent="0" marL="0">
              <a:lnSpc>
                <a:spcPts val="1800"/>
              </a:lnSpc>
              <a:buNone/>
            </a:pPr>
            <a:r>
              <a:rPr lang="en-US" sz="1100" b="1" dirty="0">
                <a:solidFill>
                  <a:srgbClr val="0F172A"/>
                </a:solidFill>
                <a:latin typeface="Segoe UI" pitchFamily="34" charset="0"/>
                <a:ea typeface="Segoe UI" pitchFamily="34" charset="-122"/>
                <a:cs typeface="Segoe UI" pitchFamily="34" charset="-120"/>
              </a:rPr>
              <a:t>Clinic Address: </a:t>
            </a:r>
            <a:pPr indent="0" marL="0">
              <a:lnSpc>
                <a:spcPts val="1800"/>
              </a:lnSpc>
              <a:buNone/>
            </a:pPr>
            <a:r>
              <a:rPr lang="en-US" sz="1100" dirty="0">
                <a:solidFill>
                  <a:srgbClr val="334155"/>
                </a:solidFill>
                <a:latin typeface="Segoe UI" pitchFamily="34" charset="0"/>
                <a:ea typeface="Segoe UI" pitchFamily="34" charset="-122"/>
                <a:cs typeface="Segoe UI" pitchFamily="34" charset="-120"/>
              </a:rPr>
              <a:t>N V R Buildings, Kothapeta, Kurnool, AP – 518004
</a:t>
            </a:r>
            <a:pPr indent="0" marL="0">
              <a:lnSpc>
                <a:spcPts val="1800"/>
              </a:lnSpc>
              <a:buNone/>
            </a:pPr>
            <a:r>
              <a:rPr lang="en-US" sz="1100" b="1" dirty="0">
                <a:solidFill>
                  <a:srgbClr val="0F172A"/>
                </a:solidFill>
                <a:latin typeface="Segoe UI" pitchFamily="34" charset="0"/>
                <a:ea typeface="Segoe UI" pitchFamily="34" charset="-122"/>
                <a:cs typeface="Segoe UI" pitchFamily="34" charset="-120"/>
              </a:rPr>
              <a:t>Contact Phone: </a:t>
            </a:r>
            <a:pPr indent="0" marL="0">
              <a:lnSpc>
                <a:spcPts val="1800"/>
              </a:lnSpc>
              <a:buNone/>
            </a:pPr>
            <a:r>
              <a:rPr lang="en-US" sz="1100" dirty="0">
                <a:solidFill>
                  <a:srgbClr val="334155"/>
                </a:solidFill>
                <a:latin typeface="Segoe UI" pitchFamily="34" charset="0"/>
                <a:ea typeface="Segoe UI" pitchFamily="34" charset="-122"/>
                <a:cs typeface="Segoe UI" pitchFamily="34" charset="-120"/>
              </a:rPr>
              <a:t>8328456378</a:t>
            </a:r>
            <a:endParaRPr lang="en-US" sz="1100" dirty="0"/>
          </a:p>
        </p:txBody>
      </p:sp>
      <p:sp>
        <p:nvSpPr>
          <p:cNvPr id="10" name="Shape 8"/>
          <p:cNvSpPr/>
          <p:nvPr/>
        </p:nvSpPr>
        <p:spPr>
          <a:xfrm>
            <a:off x="6217920" y="2560320"/>
            <a:ext cx="5029200" cy="3474720"/>
          </a:xfrm>
          <a:prstGeom prst="roundRect">
            <a:avLst>
              <a:gd name="adj" fmla="val 2632"/>
            </a:avLst>
          </a:prstGeom>
          <a:solidFill>
            <a:srgbClr val="FFFFFF"/>
          </a:solidFill>
          <a:ln w="12700">
            <a:solidFill>
              <a:srgbClr val="E2E8F0"/>
            </a:solidFill>
            <a:prstDash val="solid"/>
          </a:ln>
        </p:spPr>
      </p:sp>
      <p:sp>
        <p:nvSpPr>
          <p:cNvPr id="11" name="Text 9"/>
          <p:cNvSpPr/>
          <p:nvPr/>
        </p:nvSpPr>
        <p:spPr>
          <a:xfrm>
            <a:off x="6492240" y="2834640"/>
            <a:ext cx="4480560" cy="274320"/>
          </a:xfrm>
          <a:prstGeom prst="rect">
            <a:avLst/>
          </a:prstGeom>
          <a:noFill/>
          <a:ln/>
        </p:spPr>
        <p:txBody>
          <a:bodyPr wrap="square" rtlCol="0" anchor="ctr"/>
          <a:lstStyle/>
          <a:p>
            <a:pPr indent="0" marL="0">
              <a:buNone/>
            </a:pPr>
            <a:r>
              <a:rPr lang="en-US" sz="1200" b="1" dirty="0">
                <a:solidFill>
                  <a:srgbClr val="0F766E"/>
                </a:solidFill>
                <a:latin typeface="Segoe UI" pitchFamily="34" charset="0"/>
                <a:ea typeface="Segoe UI" pitchFamily="34" charset="-122"/>
                <a:cs typeface="Segoe UI" pitchFamily="34" charset="-120"/>
              </a:rPr>
              <a:t>ACADEMIC &amp; EVALUATION CONTEXT</a:t>
            </a:r>
            <a:endParaRPr lang="en-US" sz="1200" dirty="0"/>
          </a:p>
        </p:txBody>
      </p:sp>
      <p:sp>
        <p:nvSpPr>
          <p:cNvPr id="12" name="Text 10"/>
          <p:cNvSpPr/>
          <p:nvPr/>
        </p:nvSpPr>
        <p:spPr>
          <a:xfrm>
            <a:off x="6492240" y="3200400"/>
            <a:ext cx="4480560" cy="2560320"/>
          </a:xfrm>
          <a:prstGeom prst="rect">
            <a:avLst/>
          </a:prstGeom>
          <a:noFill/>
          <a:ln/>
        </p:spPr>
        <p:txBody>
          <a:bodyPr wrap="square" rtlCol="0" anchor="ctr"/>
          <a:lstStyle/>
          <a:p>
            <a:pPr indent="0" marL="0">
              <a:lnSpc>
                <a:spcPts val="1800"/>
              </a:lnSpc>
              <a:buNone/>
            </a:pPr>
            <a:r>
              <a:rPr lang="en-US" sz="1100" b="1" dirty="0">
                <a:solidFill>
                  <a:srgbClr val="0F172A"/>
                </a:solidFill>
                <a:latin typeface="Segoe UI" pitchFamily="34" charset="0"/>
                <a:ea typeface="Segoe UI" pitchFamily="34" charset="-122"/>
                <a:cs typeface="Segoe UI" pitchFamily="34" charset="-120"/>
              </a:rPr>
              <a:t>Program: </a:t>
            </a:r>
            <a:pPr indent="0" marL="0">
              <a:lnSpc>
                <a:spcPts val="1800"/>
              </a:lnSpc>
              <a:buNone/>
            </a:pPr>
            <a:r>
              <a:rPr lang="en-US" sz="1100" dirty="0">
                <a:solidFill>
                  <a:srgbClr val="334155"/>
                </a:solidFill>
                <a:latin typeface="Segoe UI" pitchFamily="34" charset="0"/>
                <a:ea typeface="Segoe UI" pitchFamily="34" charset="-122"/>
                <a:cs typeface="Segoe UI" pitchFamily="34" charset="-120"/>
              </a:rPr>
              <a:t>PGDM Hospital &amp; Health Management
</a:t>
            </a:r>
            <a:pPr indent="0" marL="0">
              <a:lnSpc>
                <a:spcPts val="1800"/>
              </a:lnSpc>
              <a:buNone/>
            </a:pPr>
            <a:r>
              <a:rPr lang="en-US" sz="1100" b="1" dirty="0">
                <a:solidFill>
                  <a:srgbClr val="0F172A"/>
                </a:solidFill>
                <a:latin typeface="Segoe UI" pitchFamily="34" charset="0"/>
                <a:ea typeface="Segoe UI" pitchFamily="34" charset="-122"/>
                <a:cs typeface="Segoe UI" pitchFamily="34" charset="-120"/>
              </a:rPr>
              <a:t>Course: </a:t>
            </a:r>
            <a:pPr indent="0" marL="0">
              <a:lnSpc>
                <a:spcPts val="1800"/>
              </a:lnSpc>
              <a:buNone/>
            </a:pPr>
            <a:r>
              <a:rPr lang="en-US" sz="1100" dirty="0">
                <a:solidFill>
                  <a:srgbClr val="334155"/>
                </a:solidFill>
                <a:latin typeface="Segoe UI" pitchFamily="34" charset="0"/>
                <a:ea typeface="Segoe UI" pitchFamily="34" charset="-122"/>
                <a:cs typeface="Segoe UI" pitchFamily="34" charset="-120"/>
              </a:rPr>
              <a:t>HIT709 Healthcare Management Information Systems
</a:t>
            </a:r>
            <a:pPr indent="0" marL="0">
              <a:lnSpc>
                <a:spcPts val="1800"/>
              </a:lnSpc>
              <a:buNone/>
            </a:pPr>
            <a:r>
              <a:rPr lang="en-US" sz="1100" b="1" dirty="0">
                <a:solidFill>
                  <a:srgbClr val="0F172A"/>
                </a:solidFill>
                <a:latin typeface="Segoe UI" pitchFamily="34" charset="0"/>
                <a:ea typeface="Segoe UI" pitchFamily="34" charset="-122"/>
                <a:cs typeface="Segoe UI" pitchFamily="34" charset="-120"/>
              </a:rPr>
              <a:t>Evaluation Type: </a:t>
            </a:r>
            <a:pPr indent="0" marL="0">
              <a:lnSpc>
                <a:spcPts val="1800"/>
              </a:lnSpc>
              <a:buNone/>
            </a:pPr>
            <a:r>
              <a:rPr lang="en-US" sz="1100" dirty="0">
                <a:solidFill>
                  <a:srgbClr val="334155"/>
                </a:solidFill>
                <a:latin typeface="Segoe UI" pitchFamily="34" charset="0"/>
                <a:ea typeface="Segoe UI" pitchFamily="34" charset="-122"/>
                <a:cs typeface="Segoe UI" pitchFamily="34" charset="-120"/>
              </a:rPr>
              <a:t>Mid-Term Assessment (MTA) Field Project Defense
</a:t>
            </a:r>
            <a:pPr indent="0" marL="0">
              <a:lnSpc>
                <a:spcPts val="1800"/>
              </a:lnSpc>
              <a:buNone/>
            </a:pPr>
            <a:r>
              <a:rPr lang="en-US" sz="1100" b="1" dirty="0">
                <a:solidFill>
                  <a:srgbClr val="0F172A"/>
                </a:solidFill>
                <a:latin typeface="Segoe UI" pitchFamily="34" charset="0"/>
                <a:ea typeface="Segoe UI" pitchFamily="34" charset="-122"/>
                <a:cs typeface="Segoe UI" pitchFamily="34" charset="-120"/>
              </a:rPr>
              <a:t>Target Setting: </a:t>
            </a:r>
            <a:pPr indent="0" marL="0">
              <a:lnSpc>
                <a:spcPts val="1800"/>
              </a:lnSpc>
              <a:buNone/>
            </a:pPr>
            <a:r>
              <a:rPr lang="en-US" sz="1100" dirty="0">
                <a:solidFill>
                  <a:srgbClr val="334155"/>
                </a:solidFill>
                <a:latin typeface="Segoe UI" pitchFamily="34" charset="0"/>
                <a:ea typeface="Segoe UI" pitchFamily="34" charset="-122"/>
                <a:cs typeface="Segoe UI" pitchFamily="34" charset="-120"/>
              </a:rPr>
              <a:t>Single-Doctor Dental Specialty Practice
</a:t>
            </a:r>
            <a:pPr indent="0" marL="0">
              <a:lnSpc>
                <a:spcPts val="1800"/>
              </a:lnSpc>
              <a:buNone/>
            </a:pPr>
            <a:r>
              <a:rPr lang="en-US" sz="1100" b="1" dirty="0">
                <a:solidFill>
                  <a:srgbClr val="0F172A"/>
                </a:solidFill>
                <a:latin typeface="Segoe UI" pitchFamily="34" charset="0"/>
                <a:ea typeface="Segoe UI" pitchFamily="34" charset="-122"/>
                <a:cs typeface="Segoe UI" pitchFamily="34" charset="-120"/>
              </a:rPr>
              <a:t>Live Web URL: </a:t>
            </a:r>
            <a:pPr indent="0" marL="0">
              <a:lnSpc>
                <a:spcPts val="1800"/>
              </a:lnSpc>
              <a:buNone/>
            </a:pPr>
            <a:r>
              <a:rPr lang="en-US" sz="1100" b="1" dirty="0">
                <a:solidFill>
                  <a:srgbClr val="0D9488"/>
                </a:solidFill>
                <a:latin typeface="Segoe UI" pitchFamily="34" charset="0"/>
                <a:ea typeface="Segoe UI" pitchFamily="34" charset="-122"/>
                <a:cs typeface="Segoe UI" pitchFamily="34" charset="-120"/>
              </a:rPr>
              <a:t>https://hmis-wine.vercel.app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365760"/>
            <a:ext cx="2560320" cy="320040"/>
          </a:xfrm>
          <a:prstGeom prst="roundRect">
            <a:avLst>
              <a:gd name="adj" fmla="val 22857"/>
            </a:avLst>
          </a:prstGeom>
          <a:solidFill>
            <a:srgbClr val="F0FDFA"/>
          </a:solidFill>
          <a:ln w="12700">
            <a:solidFill>
              <a:srgbClr val="CCFBF1"/>
            </a:solidFill>
            <a:prstDash val="solid"/>
          </a:ln>
        </p:spPr>
      </p:sp>
      <p:sp>
        <p:nvSpPr>
          <p:cNvPr id="3" name="Text 1"/>
          <p:cNvSpPr/>
          <p:nvPr/>
        </p:nvSpPr>
        <p:spPr>
          <a:xfrm>
            <a:off x="731520" y="365760"/>
            <a:ext cx="2560320" cy="320040"/>
          </a:xfrm>
          <a:prstGeom prst="rect">
            <a:avLst/>
          </a:prstGeom>
          <a:noFill/>
          <a:ln/>
        </p:spPr>
        <p:txBody>
          <a:bodyPr wrap="square" rtlCol="0" anchor="ctr"/>
          <a:lstStyle/>
          <a:p>
            <a:pPr algn="ctr" indent="0" marL="0">
              <a:buNone/>
            </a:pPr>
            <a:r>
              <a:rPr lang="en-US" sz="950" b="1" dirty="0">
                <a:solidFill>
                  <a:srgbClr val="0F766E"/>
                </a:solidFill>
                <a:latin typeface="Segoe UI" pitchFamily="34" charset="0"/>
                <a:ea typeface="Segoe UI" pitchFamily="34" charset="-122"/>
                <a:cs typeface="Segoe UI" pitchFamily="34" charset="-120"/>
              </a:rPr>
              <a:t>CLINIC CONTEXT</a:t>
            </a:r>
            <a:endParaRPr lang="en-US" sz="950" dirty="0"/>
          </a:p>
        </p:txBody>
      </p:sp>
      <p:sp>
        <p:nvSpPr>
          <p:cNvPr id="4" name="Text 2"/>
          <p:cNvSpPr/>
          <p:nvPr/>
        </p:nvSpPr>
        <p:spPr>
          <a:xfrm>
            <a:off x="731520" y="749808"/>
            <a:ext cx="10698480" cy="41148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Prasad Dental Care: Operational Setting &amp; Context</a:t>
            </a:r>
            <a:endParaRPr lang="en-US" sz="2200" dirty="0"/>
          </a:p>
        </p:txBody>
      </p:sp>
      <p:sp>
        <p:nvSpPr>
          <p:cNvPr id="5" name="Text 3"/>
          <p:cNvSpPr/>
          <p:nvPr/>
        </p:nvSpPr>
        <p:spPr>
          <a:xfrm>
            <a:off x="731520" y="1188720"/>
            <a:ext cx="10698480" cy="274320"/>
          </a:xfrm>
          <a:prstGeom prst="rect">
            <a:avLst/>
          </a:prstGeom>
          <a:noFill/>
          <a:ln/>
        </p:spPr>
        <p:txBody>
          <a:bodyPr wrap="square" rtlCol="0" anchor="t"/>
          <a:lstStyle/>
          <a:p>
            <a:pPr indent="0" marL="0">
              <a:buNone/>
            </a:pPr>
            <a:r>
              <a:rPr lang="en-US" sz="1100" dirty="0">
                <a:solidFill>
                  <a:srgbClr val="64748B"/>
                </a:solidFill>
                <a:latin typeface="Segoe UI" pitchFamily="34" charset="0"/>
                <a:ea typeface="Segoe UI" pitchFamily="34" charset="-122"/>
                <a:cs typeface="Segoe UI" pitchFamily="34" charset="-120"/>
              </a:rPr>
              <a:t>Small-clinic outpatient environment with specialized orthodontic treatment cycles</a:t>
            </a:r>
            <a:endParaRPr lang="en-US" sz="1100" dirty="0"/>
          </a:p>
        </p:txBody>
      </p:sp>
      <p:sp>
        <p:nvSpPr>
          <p:cNvPr id="6" name="Shape 4"/>
          <p:cNvSpPr/>
          <p:nvPr/>
        </p:nvSpPr>
        <p:spPr>
          <a:xfrm>
            <a:off x="731520" y="1554480"/>
            <a:ext cx="5212080" cy="4663440"/>
          </a:xfrm>
          <a:prstGeom prst="roundRect">
            <a:avLst>
              <a:gd name="adj" fmla="val 1961"/>
            </a:avLst>
          </a:prstGeom>
          <a:solidFill>
            <a:srgbClr val="FFFFFF"/>
          </a:solidFill>
          <a:ln w="12700">
            <a:solidFill>
              <a:srgbClr val="E2E8F0"/>
            </a:solidFill>
            <a:prstDash val="solid"/>
          </a:ln>
        </p:spPr>
      </p:sp>
      <p:sp>
        <p:nvSpPr>
          <p:cNvPr id="7" name="Text 5"/>
          <p:cNvSpPr/>
          <p:nvPr/>
        </p:nvSpPr>
        <p:spPr>
          <a:xfrm>
            <a:off x="1005840" y="1828800"/>
            <a:ext cx="4663440" cy="274320"/>
          </a:xfrm>
          <a:prstGeom prst="rect">
            <a:avLst/>
          </a:prstGeom>
          <a:noFill/>
          <a:ln/>
        </p:spPr>
        <p:txBody>
          <a:bodyPr wrap="square" rtlCol="0" anchor="ctr"/>
          <a:lstStyle/>
          <a:p>
            <a:pPr indent="0" marL="0">
              <a:buNone/>
            </a:pPr>
            <a:r>
              <a:rPr lang="en-US" sz="1200" b="1" dirty="0">
                <a:solidFill>
                  <a:srgbClr val="0F766E"/>
                </a:solidFill>
                <a:latin typeface="Segoe UI" pitchFamily="34" charset="0"/>
                <a:ea typeface="Segoe UI" pitchFamily="34" charset="-122"/>
                <a:cs typeface="Segoe UI" pitchFamily="34" charset="-120"/>
              </a:rPr>
              <a:t>PRACTICE ENVIRONMENT &amp; OPERATIONAL DYNAMICS</a:t>
            </a:r>
            <a:endParaRPr lang="en-US" sz="1200" dirty="0"/>
          </a:p>
        </p:txBody>
      </p:sp>
      <p:sp>
        <p:nvSpPr>
          <p:cNvPr id="8" name="Text 6"/>
          <p:cNvSpPr/>
          <p:nvPr/>
        </p:nvSpPr>
        <p:spPr>
          <a:xfrm>
            <a:off x="1005840" y="2194560"/>
            <a:ext cx="4663440" cy="3840480"/>
          </a:xfrm>
          <a:prstGeom prst="rect">
            <a:avLst/>
          </a:prstGeom>
          <a:noFill/>
          <a:ln/>
        </p:spPr>
        <p:txBody>
          <a:bodyPr wrap="square" rtlCol="0" anchor="ctr"/>
          <a:lstStyle/>
          <a:p>
            <a:pPr indent="0" marL="0">
              <a:lnSpc>
                <a:spcPts val="1800"/>
              </a:lnSpc>
              <a:buNone/>
            </a:pPr>
            <a:r>
              <a:rPr lang="en-US" sz="1100" b="1" dirty="0">
                <a:solidFill>
                  <a:srgbClr val="0F172A"/>
                </a:solidFill>
                <a:latin typeface="Segoe UI" pitchFamily="34" charset="0"/>
                <a:ea typeface="Segoe UI" pitchFamily="34" charset="-122"/>
                <a:cs typeface="Segoe UI" pitchFamily="34" charset="-120"/>
              </a:rPr>
              <a:t>Single-Doctor Specialty Clinic:
</a:t>
            </a:r>
            <a:pPr indent="0" marL="0">
              <a:lnSpc>
                <a:spcPts val="1800"/>
              </a:lnSpc>
              <a:buNone/>
            </a:pPr>
            <a:r>
              <a:rPr lang="en-US" sz="1100" dirty="0">
                <a:solidFill>
                  <a:srgbClr val="334155"/>
                </a:solidFill>
                <a:latin typeface="Segoe UI" pitchFamily="34" charset="0"/>
                <a:ea typeface="Segoe UI" pitchFamily="34" charset="-122"/>
                <a:cs typeface="Segoe UI" pitchFamily="34" charset="-120"/>
              </a:rPr>
              <a:t>Dr. Hemanth Kumar manages high patient volumes supported by a single front-desk receptionist.
</a:t>
            </a:r>
            <a:pPr indent="0" marL="0">
              <a:lnSpc>
                <a:spcPts val="1800"/>
              </a:lnSpc>
              <a:buNone/>
            </a:pPr>
            <a:r>
              <a:rPr lang="en-US" sz="1100" b="1" dirty="0">
                <a:solidFill>
                  <a:srgbClr val="0F172A"/>
                </a:solidFill>
                <a:latin typeface="Segoe UI" pitchFamily="34" charset="0"/>
                <a:ea typeface="Segoe UI" pitchFamily="34" charset="-122"/>
                <a:cs typeface="Segoe UI" pitchFamily="34" charset="-120"/>
              </a:rPr>
              <a:t>Recurring Orthodontic Treatment Cycles:
</a:t>
            </a:r>
            <a:pPr indent="0" marL="0">
              <a:lnSpc>
                <a:spcPts val="1800"/>
              </a:lnSpc>
              <a:buNone/>
            </a:pPr>
            <a:r>
              <a:rPr lang="en-US" sz="1100" dirty="0">
                <a:solidFill>
                  <a:srgbClr val="334155"/>
                </a:solidFill>
                <a:latin typeface="Segoe UI" pitchFamily="34" charset="0"/>
                <a:ea typeface="Segoe UI" pitchFamily="34" charset="-122"/>
                <a:cs typeface="Segoe UI" pitchFamily="34" charset="-120"/>
              </a:rPr>
              <a:t>Unlike general acute OPDs, orthodontic patients return every 3 to 4 weeks over 12–24 months for bracket adjustments, archwire changes, and monitoring.
</a:t>
            </a:r>
            <a:pPr indent="0" marL="0">
              <a:lnSpc>
                <a:spcPts val="1800"/>
              </a:lnSpc>
              <a:buNone/>
            </a:pPr>
            <a:r>
              <a:rPr lang="en-US" sz="1100" b="1" dirty="0">
                <a:solidFill>
                  <a:srgbClr val="0F172A"/>
                </a:solidFill>
                <a:latin typeface="Segoe UI" pitchFamily="34" charset="0"/>
                <a:ea typeface="Segoe UI" pitchFamily="34" charset="-122"/>
                <a:cs typeface="Segoe UI" pitchFamily="34" charset="-120"/>
              </a:rPr>
              <a:t>Paper Record Vulnerability:
</a:t>
            </a:r>
            <a:pPr indent="0" marL="0">
              <a:lnSpc>
                <a:spcPts val="1800"/>
              </a:lnSpc>
              <a:buNone/>
            </a:pPr>
            <a:r>
              <a:rPr lang="en-US" sz="1100" dirty="0">
                <a:solidFill>
                  <a:srgbClr val="334155"/>
                </a:solidFill>
                <a:latin typeface="Segoe UI" pitchFamily="34" charset="0"/>
                <a:ea typeface="Segoe UI" pitchFamily="34" charset="-122"/>
                <a:cs typeface="Segoe UI" pitchFamily="34" charset="-120"/>
              </a:rPr>
              <a:t>Manual registers and paper folders frequently suffer wear-and-tear, misfiling, and physical retrieval delays.
</a:t>
            </a:r>
            <a:pPr indent="0" marL="0">
              <a:lnSpc>
                <a:spcPts val="1800"/>
              </a:lnSpc>
              <a:buNone/>
            </a:pPr>
            <a:r>
              <a:rPr lang="en-US" sz="1100" b="1" dirty="0">
                <a:solidFill>
                  <a:srgbClr val="0F172A"/>
                </a:solidFill>
                <a:latin typeface="Segoe UI" pitchFamily="34" charset="0"/>
                <a:ea typeface="Segoe UI" pitchFamily="34" charset="-122"/>
                <a:cs typeface="Segoe UI" pitchFamily="34" charset="-120"/>
              </a:rPr>
              <a:t>Need for Minimalist HMIS:
</a:t>
            </a:r>
            <a:pPr indent="0" marL="0">
              <a:lnSpc>
                <a:spcPts val="1800"/>
              </a:lnSpc>
              <a:buNone/>
            </a:pPr>
            <a:r>
              <a:rPr lang="en-US" sz="1100" dirty="0">
                <a:solidFill>
                  <a:srgbClr val="334155"/>
                </a:solidFill>
                <a:latin typeface="Segoe UI" pitchFamily="34" charset="0"/>
                <a:ea typeface="Segoe UI" pitchFamily="34" charset="-122"/>
                <a:cs typeface="Segoe UI" pitchFamily="34" charset="-120"/>
              </a:rPr>
              <a:t>Monolithic hospital packages are excessively complex. The clinic requires rapid chairside entry without administrative bloat.</a:t>
            </a:r>
            <a:endParaRPr lang="en-US" sz="1100" dirty="0"/>
          </a:p>
        </p:txBody>
      </p:sp>
      <p:sp>
        <p:nvSpPr>
          <p:cNvPr id="9" name="Shape 7"/>
          <p:cNvSpPr/>
          <p:nvPr/>
        </p:nvSpPr>
        <p:spPr>
          <a:xfrm>
            <a:off x="6217920" y="1554480"/>
            <a:ext cx="5212080" cy="4663440"/>
          </a:xfrm>
          <a:prstGeom prst="roundRect">
            <a:avLst>
              <a:gd name="adj" fmla="val 1961"/>
            </a:avLst>
          </a:prstGeom>
          <a:solidFill>
            <a:srgbClr val="FFFFFF"/>
          </a:solidFill>
          <a:ln w="12700">
            <a:solidFill>
              <a:srgbClr val="E2E8F0"/>
            </a:solidFill>
            <a:prstDash val="solid"/>
          </a:ln>
        </p:spPr>
      </p:sp>
      <p:sp>
        <p:nvSpPr>
          <p:cNvPr id="10" name="Text 8"/>
          <p:cNvSpPr/>
          <p:nvPr/>
        </p:nvSpPr>
        <p:spPr>
          <a:xfrm>
            <a:off x="6492240" y="1828800"/>
            <a:ext cx="4663440" cy="274320"/>
          </a:xfrm>
          <a:prstGeom prst="rect">
            <a:avLst/>
          </a:prstGeom>
          <a:noFill/>
          <a:ln/>
        </p:spPr>
        <p:txBody>
          <a:bodyPr wrap="square" rtlCol="0" anchor="ctr"/>
          <a:lstStyle/>
          <a:p>
            <a:pPr indent="0" marL="0">
              <a:buNone/>
            </a:pPr>
            <a:r>
              <a:rPr lang="en-US" sz="1200" b="1" dirty="0">
                <a:solidFill>
                  <a:srgbClr val="0F766E"/>
                </a:solidFill>
                <a:latin typeface="Segoe UI" pitchFamily="34" charset="0"/>
                <a:ea typeface="Segoe UI" pitchFamily="34" charset="-122"/>
                <a:cs typeface="Segoe UI" pitchFamily="34" charset="-120"/>
              </a:rPr>
              <a:t>ACADEMIC FIELD PROJECT OBJECTIVES</a:t>
            </a:r>
            <a:endParaRPr lang="en-US" sz="1200" dirty="0"/>
          </a:p>
        </p:txBody>
      </p:sp>
      <p:sp>
        <p:nvSpPr>
          <p:cNvPr id="11" name="Text 9"/>
          <p:cNvSpPr/>
          <p:nvPr/>
        </p:nvSpPr>
        <p:spPr>
          <a:xfrm>
            <a:off x="6492240" y="2194560"/>
            <a:ext cx="4663440" cy="3840480"/>
          </a:xfrm>
          <a:prstGeom prst="rect">
            <a:avLst/>
          </a:prstGeom>
          <a:noFill/>
          <a:ln/>
        </p:spPr>
        <p:txBody>
          <a:bodyPr wrap="square" rtlCol="0" anchor="ctr"/>
          <a:lstStyle/>
          <a:p>
            <a:pPr indent="0" marL="0">
              <a:lnSpc>
                <a:spcPts val="1800"/>
              </a:lnSpc>
              <a:buNone/>
            </a:pPr>
            <a:r>
              <a:rPr lang="en-US" sz="1100" b="1" dirty="0">
                <a:solidFill>
                  <a:srgbClr val="0F172A"/>
                </a:solidFill>
                <a:latin typeface="Segoe UI" pitchFamily="34" charset="0"/>
                <a:ea typeface="Segoe UI" pitchFamily="34" charset="-122"/>
                <a:cs typeface="Segoe UI" pitchFamily="34" charset="-120"/>
              </a:rPr>
              <a:t>1. Workflow Bottleneck Identification:
</a:t>
            </a:r>
            <a:pPr indent="0" marL="0">
              <a:lnSpc>
                <a:spcPts val="1800"/>
              </a:lnSpc>
              <a:buNone/>
            </a:pPr>
            <a:r>
              <a:rPr lang="en-US" sz="1100" dirty="0">
                <a:solidFill>
                  <a:srgbClr val="334155"/>
                </a:solidFill>
                <a:latin typeface="Segoe UI" pitchFamily="34" charset="0"/>
                <a:ea typeface="Segoe UI" pitchFamily="34" charset="-122"/>
                <a:cs typeface="Segoe UI" pitchFamily="34" charset="-120"/>
              </a:rPr>
              <a:t>Analyze physical check-in delays, appointment slot collisions, and chairside documentation gaps.
</a:t>
            </a:r>
            <a:pPr indent="0" marL="0">
              <a:lnSpc>
                <a:spcPts val="1800"/>
              </a:lnSpc>
              <a:buNone/>
            </a:pPr>
            <a:r>
              <a:rPr lang="en-US" sz="1100" b="1" dirty="0">
                <a:solidFill>
                  <a:srgbClr val="0F172A"/>
                </a:solidFill>
                <a:latin typeface="Segoe UI" pitchFamily="34" charset="0"/>
                <a:ea typeface="Segoe UI" pitchFamily="34" charset="-122"/>
                <a:cs typeface="Segoe UI" pitchFamily="34" charset="-120"/>
              </a:rPr>
              <a:t>2. Tailored System Architecture:
</a:t>
            </a:r>
            <a:pPr indent="0" marL="0">
              <a:lnSpc>
                <a:spcPts val="1800"/>
              </a:lnSpc>
              <a:buNone/>
            </a:pPr>
            <a:r>
              <a:rPr lang="en-US" sz="1100" dirty="0">
                <a:solidFill>
                  <a:srgbClr val="334155"/>
                </a:solidFill>
                <a:latin typeface="Segoe UI" pitchFamily="34" charset="0"/>
                <a:ea typeface="Segoe UI" pitchFamily="34" charset="-122"/>
                <a:cs typeface="Segoe UI" pitchFamily="34" charset="-120"/>
              </a:rPr>
              <a:t>Design and implement a cloud-native HMIS utilizing React, Supabase PostgreSQL, and Row Level Security.
</a:t>
            </a:r>
            <a:pPr indent="0" marL="0">
              <a:lnSpc>
                <a:spcPts val="1800"/>
              </a:lnSpc>
              <a:buNone/>
            </a:pPr>
            <a:r>
              <a:rPr lang="en-US" sz="1100" b="1" dirty="0">
                <a:solidFill>
                  <a:srgbClr val="0F172A"/>
                </a:solidFill>
                <a:latin typeface="Segoe UI" pitchFamily="34" charset="0"/>
                <a:ea typeface="Segoe UI" pitchFamily="34" charset="-122"/>
                <a:cs typeface="Segoe UI" pitchFamily="34" charset="-120"/>
              </a:rPr>
              <a:t>3. Clinical Quality &amp; Prescription Safety:
</a:t>
            </a:r>
            <a:pPr indent="0" marL="0">
              <a:lnSpc>
                <a:spcPts val="1800"/>
              </a:lnSpc>
              <a:buNone/>
            </a:pPr>
            <a:r>
              <a:rPr lang="en-US" sz="1100" dirty="0">
                <a:solidFill>
                  <a:srgbClr val="334155"/>
                </a:solidFill>
                <a:latin typeface="Segoe UI" pitchFamily="34" charset="0"/>
                <a:ea typeface="Segoe UI" pitchFamily="34" charset="-122"/>
                <a:cs typeface="Segoe UI" pitchFamily="34" charset="-120"/>
              </a:rPr>
              <a:t>Introduce visual FDI tooth charting and tamper-proof immutable digital prescriptions.
</a:t>
            </a:r>
            <a:pPr indent="0" marL="0">
              <a:lnSpc>
                <a:spcPts val="1800"/>
              </a:lnSpc>
              <a:buNone/>
            </a:pPr>
            <a:r>
              <a:rPr lang="en-US" sz="1100" b="1" dirty="0">
                <a:solidFill>
                  <a:srgbClr val="0F172A"/>
                </a:solidFill>
                <a:latin typeface="Segoe UI" pitchFamily="34" charset="0"/>
                <a:ea typeface="Segoe UI" pitchFamily="34" charset="-122"/>
                <a:cs typeface="Segoe UI" pitchFamily="34" charset="-120"/>
              </a:rPr>
              <a:t>4. Patient Self-Service Empowerment:
</a:t>
            </a:r>
            <a:pPr indent="0" marL="0">
              <a:lnSpc>
                <a:spcPts val="1800"/>
              </a:lnSpc>
              <a:buNone/>
            </a:pPr>
            <a:r>
              <a:rPr lang="en-US" sz="1100" dirty="0">
                <a:solidFill>
                  <a:srgbClr val="334155"/>
                </a:solidFill>
                <a:latin typeface="Segoe UI" pitchFamily="34" charset="0"/>
                <a:ea typeface="Segoe UI" pitchFamily="34" charset="-122"/>
                <a:cs typeface="Segoe UI" pitchFamily="34" charset="-120"/>
              </a:rPr>
              <a:t>Provide 24/7 web-based record access for patients to verify prescriptions and upcoming appointments.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365760"/>
            <a:ext cx="2560320" cy="320040"/>
          </a:xfrm>
          <a:prstGeom prst="roundRect">
            <a:avLst>
              <a:gd name="adj" fmla="val 22857"/>
            </a:avLst>
          </a:prstGeom>
          <a:solidFill>
            <a:srgbClr val="F0FDFA"/>
          </a:solidFill>
          <a:ln w="12700">
            <a:solidFill>
              <a:srgbClr val="CCFBF1"/>
            </a:solidFill>
            <a:prstDash val="solid"/>
          </a:ln>
        </p:spPr>
      </p:sp>
      <p:sp>
        <p:nvSpPr>
          <p:cNvPr id="3" name="Text 1"/>
          <p:cNvSpPr/>
          <p:nvPr/>
        </p:nvSpPr>
        <p:spPr>
          <a:xfrm>
            <a:off x="731520" y="365760"/>
            <a:ext cx="2560320" cy="320040"/>
          </a:xfrm>
          <a:prstGeom prst="rect">
            <a:avLst/>
          </a:prstGeom>
          <a:noFill/>
          <a:ln/>
        </p:spPr>
        <p:txBody>
          <a:bodyPr wrap="square" rtlCol="0" anchor="ctr"/>
          <a:lstStyle/>
          <a:p>
            <a:pPr algn="ctr" indent="0" marL="0">
              <a:buNone/>
            </a:pPr>
            <a:r>
              <a:rPr lang="en-US" sz="950" b="1" dirty="0">
                <a:solidFill>
                  <a:srgbClr val="0F766E"/>
                </a:solidFill>
                <a:latin typeface="Segoe UI" pitchFamily="34" charset="0"/>
                <a:ea typeface="Segoe UI" pitchFamily="34" charset="-122"/>
                <a:cs typeface="Segoe UI" pitchFamily="34" charset="-120"/>
              </a:rPr>
              <a:t>PROBLEM STATEMENT</a:t>
            </a:r>
            <a:endParaRPr lang="en-US" sz="950" dirty="0"/>
          </a:p>
        </p:txBody>
      </p:sp>
      <p:sp>
        <p:nvSpPr>
          <p:cNvPr id="4" name="Text 2"/>
          <p:cNvSpPr/>
          <p:nvPr/>
        </p:nvSpPr>
        <p:spPr>
          <a:xfrm>
            <a:off x="731520" y="749808"/>
            <a:ext cx="10698480" cy="41148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Primary Operational Problem Statement</a:t>
            </a:r>
            <a:endParaRPr lang="en-US" sz="2200" dirty="0"/>
          </a:p>
        </p:txBody>
      </p:sp>
      <p:sp>
        <p:nvSpPr>
          <p:cNvPr id="5" name="Text 3"/>
          <p:cNvSpPr/>
          <p:nvPr/>
        </p:nvSpPr>
        <p:spPr>
          <a:xfrm>
            <a:off x="731520" y="1188720"/>
            <a:ext cx="10698480" cy="274320"/>
          </a:xfrm>
          <a:prstGeom prst="rect">
            <a:avLst/>
          </a:prstGeom>
          <a:noFill/>
          <a:ln/>
        </p:spPr>
        <p:txBody>
          <a:bodyPr wrap="square" rtlCol="0" anchor="t"/>
          <a:lstStyle/>
          <a:p>
            <a:pPr indent="0" marL="0">
              <a:buNone/>
            </a:pPr>
            <a:r>
              <a:rPr lang="en-US" sz="1100" dirty="0">
                <a:solidFill>
                  <a:srgbClr val="64748B"/>
                </a:solidFill>
                <a:latin typeface="Segoe UI" pitchFamily="34" charset="0"/>
                <a:ea typeface="Segoe UI" pitchFamily="34" charset="-122"/>
                <a:cs typeface="Segoe UI" pitchFamily="34" charset="-120"/>
              </a:rPr>
              <a:t>The clinical, administrative, and patient communication risks of manual paper workflows</a:t>
            </a:r>
            <a:endParaRPr lang="en-US" sz="1100" dirty="0"/>
          </a:p>
        </p:txBody>
      </p:sp>
      <p:sp>
        <p:nvSpPr>
          <p:cNvPr id="6" name="Shape 4"/>
          <p:cNvSpPr/>
          <p:nvPr/>
        </p:nvSpPr>
        <p:spPr>
          <a:xfrm>
            <a:off x="731520" y="1554480"/>
            <a:ext cx="3383280" cy="3474720"/>
          </a:xfrm>
          <a:prstGeom prst="roundRect">
            <a:avLst>
              <a:gd name="adj" fmla="val 2703"/>
            </a:avLst>
          </a:prstGeom>
          <a:solidFill>
            <a:srgbClr val="FFFFFF"/>
          </a:solidFill>
          <a:ln w="12700">
            <a:solidFill>
              <a:srgbClr val="E2E8F0"/>
            </a:solidFill>
            <a:prstDash val="solid"/>
          </a:ln>
        </p:spPr>
      </p:sp>
      <p:sp>
        <p:nvSpPr>
          <p:cNvPr id="7" name="Shape 5"/>
          <p:cNvSpPr/>
          <p:nvPr/>
        </p:nvSpPr>
        <p:spPr>
          <a:xfrm>
            <a:off x="1005840" y="1828800"/>
            <a:ext cx="2834640" cy="274320"/>
          </a:xfrm>
          <a:prstGeom prst="roundRect">
            <a:avLst>
              <a:gd name="adj" fmla="val 20000"/>
            </a:avLst>
          </a:prstGeom>
          <a:solidFill>
            <a:srgbClr val="FEE2E2"/>
          </a:solidFill>
          <a:ln w="12700">
            <a:solidFill>
              <a:srgbClr val="FCA5A5"/>
            </a:solidFill>
            <a:prstDash val="solid"/>
          </a:ln>
        </p:spPr>
      </p:sp>
      <p:sp>
        <p:nvSpPr>
          <p:cNvPr id="8" name="Text 6"/>
          <p:cNvSpPr/>
          <p:nvPr/>
        </p:nvSpPr>
        <p:spPr>
          <a:xfrm>
            <a:off x="1005840" y="1828800"/>
            <a:ext cx="2834640" cy="274320"/>
          </a:xfrm>
          <a:prstGeom prst="rect">
            <a:avLst/>
          </a:prstGeom>
          <a:noFill/>
          <a:ln/>
        </p:spPr>
        <p:txBody>
          <a:bodyPr wrap="square" rtlCol="0" anchor="ctr"/>
          <a:lstStyle/>
          <a:p>
            <a:pPr algn="ctr" indent="0" marL="0">
              <a:buNone/>
            </a:pPr>
            <a:r>
              <a:rPr lang="en-US" sz="850" b="1" dirty="0">
                <a:solidFill>
                  <a:srgbClr val="EF4444"/>
                </a:solidFill>
                <a:latin typeface="Segoe UI" pitchFamily="34" charset="0"/>
                <a:ea typeface="Segoe UI" pitchFamily="34" charset="-122"/>
                <a:cs typeface="Segoe UI" pitchFamily="34" charset="-120"/>
              </a:rPr>
              <a:t>5-10 MIN DELAY PER PATIENT</a:t>
            </a:r>
            <a:endParaRPr lang="en-US" sz="850" dirty="0"/>
          </a:p>
        </p:txBody>
      </p:sp>
      <p:sp>
        <p:nvSpPr>
          <p:cNvPr id="9" name="Text 7"/>
          <p:cNvSpPr/>
          <p:nvPr/>
        </p:nvSpPr>
        <p:spPr>
          <a:xfrm>
            <a:off x="1005840" y="2240280"/>
            <a:ext cx="2834640" cy="365760"/>
          </a:xfrm>
          <a:prstGeom prst="rect">
            <a:avLst/>
          </a:prstGeom>
          <a:noFill/>
          <a:ln/>
        </p:spPr>
        <p:txBody>
          <a:bodyPr wrap="square" rtlCol="0" anchor="ctr"/>
          <a:lstStyle/>
          <a:p>
            <a:pPr indent="0" marL="0">
              <a:buNone/>
            </a:pPr>
            <a:r>
              <a:rPr lang="en-US" sz="1150" b="1" dirty="0">
                <a:solidFill>
                  <a:srgbClr val="0F172A"/>
                </a:solidFill>
                <a:latin typeface="Segoe UI" pitchFamily="34" charset="0"/>
                <a:ea typeface="Segoe UI" pitchFamily="34" charset="-122"/>
                <a:cs typeface="Segoe UI" pitchFamily="34" charset="-120"/>
              </a:rPr>
              <a:t>1. RECEPTION RETRIEVAL DELAYS</a:t>
            </a:r>
            <a:endParaRPr lang="en-US" sz="1150" dirty="0"/>
          </a:p>
        </p:txBody>
      </p:sp>
      <p:sp>
        <p:nvSpPr>
          <p:cNvPr id="10" name="Text 8"/>
          <p:cNvSpPr/>
          <p:nvPr/>
        </p:nvSpPr>
        <p:spPr>
          <a:xfrm>
            <a:off x="1005840" y="2651760"/>
            <a:ext cx="2834640" cy="2194560"/>
          </a:xfrm>
          <a:prstGeom prst="rect">
            <a:avLst/>
          </a:prstGeom>
          <a:noFill/>
          <a:ln/>
        </p:spPr>
        <p:txBody>
          <a:bodyPr wrap="square" rtlCol="0" anchor="ctr"/>
          <a:lstStyle/>
          <a:p>
            <a:pPr indent="0" marL="0">
              <a:lnSpc>
                <a:spcPts val="1600"/>
              </a:lnSpc>
              <a:buNone/>
            </a:pPr>
            <a:r>
              <a:rPr lang="en-US" sz="1050" dirty="0">
                <a:solidFill>
                  <a:srgbClr val="334155"/>
                </a:solidFill>
                <a:latin typeface="Segoe UI" pitchFamily="34" charset="0"/>
                <a:ea typeface="Segoe UI" pitchFamily="34" charset="-122"/>
                <a:cs typeface="Segoe UI" pitchFamily="34" charset="-120"/>
              </a:rPr>
              <a:t>Receptionists search physical registers and storage shelves to locate folders. Misfiled or torn paper records create waiting room congestion, patient frustration, and administrative chaos during peak morning and evening clinic hours.</a:t>
            </a:r>
            <a:endParaRPr lang="en-US" sz="1050" dirty="0"/>
          </a:p>
        </p:txBody>
      </p:sp>
      <p:sp>
        <p:nvSpPr>
          <p:cNvPr id="11" name="Shape 9"/>
          <p:cNvSpPr/>
          <p:nvPr/>
        </p:nvSpPr>
        <p:spPr>
          <a:xfrm>
            <a:off x="4389120" y="1554480"/>
            <a:ext cx="3383280" cy="3474720"/>
          </a:xfrm>
          <a:prstGeom prst="roundRect">
            <a:avLst>
              <a:gd name="adj" fmla="val 2703"/>
            </a:avLst>
          </a:prstGeom>
          <a:solidFill>
            <a:srgbClr val="FFFFFF"/>
          </a:solidFill>
          <a:ln w="12700">
            <a:solidFill>
              <a:srgbClr val="E2E8F0"/>
            </a:solidFill>
            <a:prstDash val="solid"/>
          </a:ln>
        </p:spPr>
      </p:sp>
      <p:sp>
        <p:nvSpPr>
          <p:cNvPr id="12" name="Shape 10"/>
          <p:cNvSpPr/>
          <p:nvPr/>
        </p:nvSpPr>
        <p:spPr>
          <a:xfrm>
            <a:off x="4663440" y="1828800"/>
            <a:ext cx="2834640" cy="274320"/>
          </a:xfrm>
          <a:prstGeom prst="roundRect">
            <a:avLst>
              <a:gd name="adj" fmla="val 20000"/>
            </a:avLst>
          </a:prstGeom>
          <a:solidFill>
            <a:srgbClr val="FEE2E2"/>
          </a:solidFill>
          <a:ln w="12700">
            <a:solidFill>
              <a:srgbClr val="FCA5A5"/>
            </a:solidFill>
            <a:prstDash val="solid"/>
          </a:ln>
        </p:spPr>
      </p:sp>
      <p:sp>
        <p:nvSpPr>
          <p:cNvPr id="13" name="Text 11"/>
          <p:cNvSpPr/>
          <p:nvPr/>
        </p:nvSpPr>
        <p:spPr>
          <a:xfrm>
            <a:off x="4663440" y="1828800"/>
            <a:ext cx="2834640" cy="274320"/>
          </a:xfrm>
          <a:prstGeom prst="rect">
            <a:avLst/>
          </a:prstGeom>
          <a:noFill/>
          <a:ln/>
        </p:spPr>
        <p:txBody>
          <a:bodyPr wrap="square" rtlCol="0" anchor="ctr"/>
          <a:lstStyle/>
          <a:p>
            <a:pPr algn="ctr" indent="0" marL="0">
              <a:buNone/>
            </a:pPr>
            <a:r>
              <a:rPr lang="en-US" sz="850" b="1" dirty="0">
                <a:solidFill>
                  <a:srgbClr val="EF4444"/>
                </a:solidFill>
                <a:latin typeface="Segoe UI" pitchFamily="34" charset="0"/>
                <a:ea typeface="Segoe UI" pitchFamily="34" charset="-122"/>
                <a:cs typeface="Segoe UI" pitchFamily="34" charset="-120"/>
              </a:rPr>
              <a:t>REPETITIVE PATIENT QUESTIONING</a:t>
            </a:r>
            <a:endParaRPr lang="en-US" sz="850" dirty="0"/>
          </a:p>
        </p:txBody>
      </p:sp>
      <p:sp>
        <p:nvSpPr>
          <p:cNvPr id="14" name="Text 12"/>
          <p:cNvSpPr/>
          <p:nvPr/>
        </p:nvSpPr>
        <p:spPr>
          <a:xfrm>
            <a:off x="4663440" y="2240280"/>
            <a:ext cx="2834640" cy="365760"/>
          </a:xfrm>
          <a:prstGeom prst="rect">
            <a:avLst/>
          </a:prstGeom>
          <a:noFill/>
          <a:ln/>
        </p:spPr>
        <p:txBody>
          <a:bodyPr wrap="square" rtlCol="0" anchor="ctr"/>
          <a:lstStyle/>
          <a:p>
            <a:pPr indent="0" marL="0">
              <a:buNone/>
            </a:pPr>
            <a:r>
              <a:rPr lang="en-US" sz="1150" b="1" dirty="0">
                <a:solidFill>
                  <a:srgbClr val="0F172A"/>
                </a:solidFill>
                <a:latin typeface="Segoe UI" pitchFamily="34" charset="0"/>
                <a:ea typeface="Segoe UI" pitchFamily="34" charset="-122"/>
                <a:cs typeface="Segoe UI" pitchFamily="34" charset="-120"/>
              </a:rPr>
              <a:t>2. CHAIRSIDE INFORMATION VOID</a:t>
            </a:r>
            <a:endParaRPr lang="en-US" sz="1150" dirty="0"/>
          </a:p>
        </p:txBody>
      </p:sp>
      <p:sp>
        <p:nvSpPr>
          <p:cNvPr id="15" name="Text 13"/>
          <p:cNvSpPr/>
          <p:nvPr/>
        </p:nvSpPr>
        <p:spPr>
          <a:xfrm>
            <a:off x="4663440" y="2651760"/>
            <a:ext cx="2834640" cy="2194560"/>
          </a:xfrm>
          <a:prstGeom prst="rect">
            <a:avLst/>
          </a:prstGeom>
          <a:noFill/>
          <a:ln/>
        </p:spPr>
        <p:txBody>
          <a:bodyPr wrap="square" rtlCol="0" anchor="ctr"/>
          <a:lstStyle/>
          <a:p>
            <a:pPr indent="0" marL="0">
              <a:lnSpc>
                <a:spcPts val="1600"/>
              </a:lnSpc>
              <a:buNone/>
            </a:pPr>
            <a:r>
              <a:rPr lang="en-US" sz="1050" dirty="0">
                <a:solidFill>
                  <a:srgbClr val="334155"/>
                </a:solidFill>
                <a:latin typeface="Segoe UI" pitchFamily="34" charset="0"/>
                <a:ea typeface="Segoe UI" pitchFamily="34" charset="-122"/>
                <a:cs typeface="Segoe UI" pitchFamily="34" charset="-120"/>
              </a:rPr>
              <a:t>Dr. Hemanth Kumar has no instant digital access to past bracket adjustments, archwire gauges, or restorative history. The doctor is forced to rely on verbal patient recall, risking oversights in longitudinal orthodontic care.</a:t>
            </a:r>
            <a:endParaRPr lang="en-US" sz="1050" dirty="0"/>
          </a:p>
        </p:txBody>
      </p:sp>
      <p:sp>
        <p:nvSpPr>
          <p:cNvPr id="16" name="Shape 14"/>
          <p:cNvSpPr/>
          <p:nvPr/>
        </p:nvSpPr>
        <p:spPr>
          <a:xfrm>
            <a:off x="8046720" y="1554480"/>
            <a:ext cx="3383280" cy="3474720"/>
          </a:xfrm>
          <a:prstGeom prst="roundRect">
            <a:avLst>
              <a:gd name="adj" fmla="val 2703"/>
            </a:avLst>
          </a:prstGeom>
          <a:solidFill>
            <a:srgbClr val="FFFFFF"/>
          </a:solidFill>
          <a:ln w="12700">
            <a:solidFill>
              <a:srgbClr val="E2E8F0"/>
            </a:solidFill>
            <a:prstDash val="solid"/>
          </a:ln>
        </p:spPr>
      </p:sp>
      <p:sp>
        <p:nvSpPr>
          <p:cNvPr id="17" name="Shape 15"/>
          <p:cNvSpPr/>
          <p:nvPr/>
        </p:nvSpPr>
        <p:spPr>
          <a:xfrm>
            <a:off x="8321040" y="1828800"/>
            <a:ext cx="2834640" cy="274320"/>
          </a:xfrm>
          <a:prstGeom prst="roundRect">
            <a:avLst>
              <a:gd name="adj" fmla="val 20000"/>
            </a:avLst>
          </a:prstGeom>
          <a:solidFill>
            <a:srgbClr val="FEE2E2"/>
          </a:solidFill>
          <a:ln w="12700">
            <a:solidFill>
              <a:srgbClr val="FCA5A5"/>
            </a:solidFill>
            <a:prstDash val="solid"/>
          </a:ln>
        </p:spPr>
      </p:sp>
      <p:sp>
        <p:nvSpPr>
          <p:cNvPr id="18" name="Text 16"/>
          <p:cNvSpPr/>
          <p:nvPr/>
        </p:nvSpPr>
        <p:spPr>
          <a:xfrm>
            <a:off x="8321040" y="1828800"/>
            <a:ext cx="2834640" cy="274320"/>
          </a:xfrm>
          <a:prstGeom prst="rect">
            <a:avLst/>
          </a:prstGeom>
          <a:noFill/>
          <a:ln/>
        </p:spPr>
        <p:txBody>
          <a:bodyPr wrap="square" rtlCol="0" anchor="ctr"/>
          <a:lstStyle/>
          <a:p>
            <a:pPr algn="ctr" indent="0" marL="0">
              <a:buNone/>
            </a:pPr>
            <a:r>
              <a:rPr lang="en-US" sz="850" b="1" dirty="0">
                <a:solidFill>
                  <a:srgbClr val="EF4444"/>
                </a:solidFill>
                <a:latin typeface="Segoe UI" pitchFamily="34" charset="0"/>
                <a:ea typeface="Segoe UI" pitchFamily="34" charset="-122"/>
                <a:cs typeface="Segoe UI" pitchFamily="34" charset="-120"/>
              </a:rPr>
              <a:t>MEDICATION DISPENSING RISK</a:t>
            </a:r>
            <a:endParaRPr lang="en-US" sz="850" dirty="0"/>
          </a:p>
        </p:txBody>
      </p:sp>
      <p:sp>
        <p:nvSpPr>
          <p:cNvPr id="19" name="Text 17"/>
          <p:cNvSpPr/>
          <p:nvPr/>
        </p:nvSpPr>
        <p:spPr>
          <a:xfrm>
            <a:off x="8321040" y="2240280"/>
            <a:ext cx="2834640" cy="365760"/>
          </a:xfrm>
          <a:prstGeom prst="rect">
            <a:avLst/>
          </a:prstGeom>
          <a:noFill/>
          <a:ln/>
        </p:spPr>
        <p:txBody>
          <a:bodyPr wrap="square" rtlCol="0" anchor="ctr"/>
          <a:lstStyle/>
          <a:p>
            <a:pPr indent="0" marL="0">
              <a:buNone/>
            </a:pPr>
            <a:r>
              <a:rPr lang="en-US" sz="1150" b="1" dirty="0">
                <a:solidFill>
                  <a:srgbClr val="0F172A"/>
                </a:solidFill>
                <a:latin typeface="Segoe UI" pitchFamily="34" charset="0"/>
                <a:ea typeface="Segoe UI" pitchFamily="34" charset="-122"/>
                <a:cs typeface="Segoe UI" pitchFamily="34" charset="-120"/>
              </a:rPr>
              <a:t>3. HANDWRITTEN RX &amp; RECORD LOSS</a:t>
            </a:r>
            <a:endParaRPr lang="en-US" sz="1150" dirty="0"/>
          </a:p>
        </p:txBody>
      </p:sp>
      <p:sp>
        <p:nvSpPr>
          <p:cNvPr id="20" name="Text 18"/>
          <p:cNvSpPr/>
          <p:nvPr/>
        </p:nvSpPr>
        <p:spPr>
          <a:xfrm>
            <a:off x="8321040" y="2651760"/>
            <a:ext cx="2834640" cy="2194560"/>
          </a:xfrm>
          <a:prstGeom prst="rect">
            <a:avLst/>
          </a:prstGeom>
          <a:noFill/>
          <a:ln/>
        </p:spPr>
        <p:txBody>
          <a:bodyPr wrap="square" rtlCol="0" anchor="ctr"/>
          <a:lstStyle/>
          <a:p>
            <a:pPr indent="0" marL="0">
              <a:lnSpc>
                <a:spcPts val="1600"/>
              </a:lnSpc>
              <a:buNone/>
            </a:pPr>
            <a:r>
              <a:rPr lang="en-US" sz="1050" dirty="0">
                <a:solidFill>
                  <a:srgbClr val="334155"/>
                </a:solidFill>
                <a:latin typeface="Segoe UI" pitchFamily="34" charset="0"/>
                <a:ea typeface="Segoe UI" pitchFamily="34" charset="-122"/>
                <a:cs typeface="Segoe UI" pitchFamily="34" charset="-120"/>
              </a:rPr>
              <a:t>Handwritten paper prescriptions present illegibility hazards for retail pharmacists. Patients frequently misplace paper slips after departure, leaving them with zero visibility into medication schedules or follow-up dates.</a:t>
            </a:r>
            <a:endParaRPr lang="en-US" sz="1050" dirty="0"/>
          </a:p>
        </p:txBody>
      </p:sp>
      <p:sp>
        <p:nvSpPr>
          <p:cNvPr id="21" name="Shape 19"/>
          <p:cNvSpPr/>
          <p:nvPr/>
        </p:nvSpPr>
        <p:spPr>
          <a:xfrm>
            <a:off x="731520" y="5303520"/>
            <a:ext cx="10698480" cy="1005840"/>
          </a:xfrm>
          <a:prstGeom prst="roundRect">
            <a:avLst>
              <a:gd name="adj" fmla="val 9091"/>
            </a:avLst>
          </a:prstGeom>
          <a:solidFill>
            <a:srgbClr val="F0FDFA"/>
          </a:solidFill>
          <a:ln w="12700">
            <a:solidFill>
              <a:srgbClr val="CCFBF1"/>
            </a:solidFill>
            <a:prstDash val="solid"/>
          </a:ln>
        </p:spPr>
      </p:sp>
      <p:sp>
        <p:nvSpPr>
          <p:cNvPr id="22" name="Text 20"/>
          <p:cNvSpPr/>
          <p:nvPr/>
        </p:nvSpPr>
        <p:spPr>
          <a:xfrm>
            <a:off x="1005840" y="5440680"/>
            <a:ext cx="10149840" cy="228600"/>
          </a:xfrm>
          <a:prstGeom prst="rect">
            <a:avLst/>
          </a:prstGeom>
          <a:noFill/>
          <a:ln/>
        </p:spPr>
        <p:txBody>
          <a:bodyPr wrap="square" rtlCol="0" anchor="ctr"/>
          <a:lstStyle/>
          <a:p>
            <a:pPr indent="0" marL="0">
              <a:buNone/>
            </a:pPr>
            <a:r>
              <a:rPr lang="en-US" sz="1050" b="1" dirty="0">
                <a:solidFill>
                  <a:srgbClr val="0F766E"/>
                </a:solidFill>
                <a:latin typeface="Segoe UI" pitchFamily="34" charset="0"/>
                <a:ea typeface="Segoe UI" pitchFamily="34" charset="-122"/>
                <a:cs typeface="Segoe UI" pitchFamily="34" charset="-120"/>
              </a:rPr>
              <a:t>CORE HMIS INTERVENTION HYPOTHESIS:</a:t>
            </a:r>
            <a:endParaRPr lang="en-US" sz="1050" dirty="0"/>
          </a:p>
        </p:txBody>
      </p:sp>
      <p:sp>
        <p:nvSpPr>
          <p:cNvPr id="23" name="Text 21"/>
          <p:cNvSpPr/>
          <p:nvPr/>
        </p:nvSpPr>
        <p:spPr>
          <a:xfrm>
            <a:off x="1005840" y="5715000"/>
            <a:ext cx="10149840" cy="45720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By deploying a streamlined, role-separated digital HMIS, Prasad Dental Care can eliminate paper retrieval delays (&lt;1s digital search), prevent appointment collisions, provide chairside FDI dental charting, and deliver tamper-proof digital prescriptions directly to the patient.</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365760"/>
            <a:ext cx="2560320" cy="320040"/>
          </a:xfrm>
          <a:prstGeom prst="roundRect">
            <a:avLst>
              <a:gd name="adj" fmla="val 22857"/>
            </a:avLst>
          </a:prstGeom>
          <a:solidFill>
            <a:srgbClr val="F0FDFA"/>
          </a:solidFill>
          <a:ln w="12700">
            <a:solidFill>
              <a:srgbClr val="CCFBF1"/>
            </a:solidFill>
            <a:prstDash val="solid"/>
          </a:ln>
        </p:spPr>
      </p:sp>
      <p:sp>
        <p:nvSpPr>
          <p:cNvPr id="3" name="Text 1"/>
          <p:cNvSpPr/>
          <p:nvPr/>
        </p:nvSpPr>
        <p:spPr>
          <a:xfrm>
            <a:off x="731520" y="365760"/>
            <a:ext cx="2560320" cy="320040"/>
          </a:xfrm>
          <a:prstGeom prst="rect">
            <a:avLst/>
          </a:prstGeom>
          <a:noFill/>
          <a:ln/>
        </p:spPr>
        <p:txBody>
          <a:bodyPr wrap="square" rtlCol="0" anchor="ctr"/>
          <a:lstStyle/>
          <a:p>
            <a:pPr algn="ctr" indent="0" marL="0">
              <a:buNone/>
            </a:pPr>
            <a:r>
              <a:rPr lang="en-US" sz="950" b="1" dirty="0">
                <a:solidFill>
                  <a:srgbClr val="0F766E"/>
                </a:solidFill>
                <a:latin typeface="Segoe UI" pitchFamily="34" charset="0"/>
                <a:ea typeface="Segoe UI" pitchFamily="34" charset="-122"/>
                <a:cs typeface="Segoe UI" pitchFamily="34" charset="-120"/>
              </a:rPr>
              <a:t>BPMN 2.0 WORKFLOW</a:t>
            </a:r>
            <a:endParaRPr lang="en-US" sz="950" dirty="0"/>
          </a:p>
        </p:txBody>
      </p:sp>
      <p:sp>
        <p:nvSpPr>
          <p:cNvPr id="4" name="Text 2"/>
          <p:cNvSpPr/>
          <p:nvPr/>
        </p:nvSpPr>
        <p:spPr>
          <a:xfrm>
            <a:off x="731520" y="749808"/>
            <a:ext cx="10698480" cy="41148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Current State Workflow (AS-IS): Manual Paper Process</a:t>
            </a:r>
            <a:endParaRPr lang="en-US" sz="2200" dirty="0"/>
          </a:p>
        </p:txBody>
      </p:sp>
      <p:sp>
        <p:nvSpPr>
          <p:cNvPr id="5" name="Text 3"/>
          <p:cNvSpPr/>
          <p:nvPr/>
        </p:nvSpPr>
        <p:spPr>
          <a:xfrm>
            <a:off x="731520" y="1188720"/>
            <a:ext cx="10698480" cy="274320"/>
          </a:xfrm>
          <a:prstGeom prst="rect">
            <a:avLst/>
          </a:prstGeom>
          <a:noFill/>
          <a:ln/>
        </p:spPr>
        <p:txBody>
          <a:bodyPr wrap="square" rtlCol="0" anchor="t"/>
          <a:lstStyle/>
          <a:p>
            <a:pPr indent="0" marL="0">
              <a:buNone/>
            </a:pPr>
            <a:r>
              <a:rPr lang="en-US" sz="1100" dirty="0">
                <a:solidFill>
                  <a:srgbClr val="64748B"/>
                </a:solidFill>
                <a:latin typeface="Segoe UI" pitchFamily="34" charset="0"/>
                <a:ea typeface="Segoe UI" pitchFamily="34" charset="-122"/>
                <a:cs typeface="Segoe UI" pitchFamily="34" charset="-120"/>
              </a:rPr>
              <a:t>Manual paper handoffs across Patient, Reception, Doctor, and Pharmacy</a:t>
            </a:r>
            <a:endParaRPr lang="en-US" sz="1100" dirty="0"/>
          </a:p>
        </p:txBody>
      </p:sp>
      <p:pic>
        <p:nvPicPr>
          <p:cNvPr id="6" name="Image 0" descr="c:\Users\likhi\OneDrive\Desktop\HMIS\AS_IS_WORKFLOW.png">    </p:cNvPr>
          <p:cNvPicPr>
            <a:picLocks noChangeAspect="1"/>
          </p:cNvPicPr>
          <p:nvPr/>
        </p:nvPicPr>
        <p:blipFill>
          <a:blip r:embed="rId1"/>
          <a:stretch>
            <a:fillRect/>
          </a:stretch>
        </p:blipFill>
        <p:spPr>
          <a:xfrm>
            <a:off x="731520" y="1463040"/>
            <a:ext cx="10698480" cy="48463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365760"/>
            <a:ext cx="2560320" cy="320040"/>
          </a:xfrm>
          <a:prstGeom prst="roundRect">
            <a:avLst>
              <a:gd name="adj" fmla="val 22857"/>
            </a:avLst>
          </a:prstGeom>
          <a:solidFill>
            <a:srgbClr val="F0FDFA"/>
          </a:solidFill>
          <a:ln w="12700">
            <a:solidFill>
              <a:srgbClr val="CCFBF1"/>
            </a:solidFill>
            <a:prstDash val="solid"/>
          </a:ln>
        </p:spPr>
      </p:sp>
      <p:sp>
        <p:nvSpPr>
          <p:cNvPr id="3" name="Text 1"/>
          <p:cNvSpPr/>
          <p:nvPr/>
        </p:nvSpPr>
        <p:spPr>
          <a:xfrm>
            <a:off x="731520" y="365760"/>
            <a:ext cx="2560320" cy="320040"/>
          </a:xfrm>
          <a:prstGeom prst="rect">
            <a:avLst/>
          </a:prstGeom>
          <a:noFill/>
          <a:ln/>
        </p:spPr>
        <p:txBody>
          <a:bodyPr wrap="square" rtlCol="0" anchor="ctr"/>
          <a:lstStyle/>
          <a:p>
            <a:pPr algn="ctr" indent="0" marL="0">
              <a:buNone/>
            </a:pPr>
            <a:r>
              <a:rPr lang="en-US" sz="950" b="1" dirty="0">
                <a:solidFill>
                  <a:srgbClr val="0F766E"/>
                </a:solidFill>
                <a:latin typeface="Segoe UI" pitchFamily="34" charset="0"/>
                <a:ea typeface="Segoe UI" pitchFamily="34" charset="-122"/>
                <a:cs typeface="Segoe UI" pitchFamily="34" charset="-120"/>
              </a:rPr>
              <a:t>GAP ANALYSIS</a:t>
            </a:r>
            <a:endParaRPr lang="en-US" sz="950" dirty="0"/>
          </a:p>
        </p:txBody>
      </p:sp>
      <p:sp>
        <p:nvSpPr>
          <p:cNvPr id="4" name="Text 2"/>
          <p:cNvSpPr/>
          <p:nvPr/>
        </p:nvSpPr>
        <p:spPr>
          <a:xfrm>
            <a:off x="731520" y="749808"/>
            <a:ext cx="10698480" cy="41148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Documented Pain Points &amp; Clinical Safety Risks</a:t>
            </a:r>
            <a:endParaRPr lang="en-US" sz="2200" dirty="0"/>
          </a:p>
        </p:txBody>
      </p:sp>
      <p:sp>
        <p:nvSpPr>
          <p:cNvPr id="5" name="Text 3"/>
          <p:cNvSpPr/>
          <p:nvPr/>
        </p:nvSpPr>
        <p:spPr>
          <a:xfrm>
            <a:off x="731520" y="1188720"/>
            <a:ext cx="10698480" cy="274320"/>
          </a:xfrm>
          <a:prstGeom prst="rect">
            <a:avLst/>
          </a:prstGeom>
          <a:noFill/>
          <a:ln/>
        </p:spPr>
        <p:txBody>
          <a:bodyPr wrap="square" rtlCol="0" anchor="t"/>
          <a:lstStyle/>
          <a:p>
            <a:pPr indent="0" marL="0">
              <a:buNone/>
            </a:pPr>
            <a:r>
              <a:rPr lang="en-US" sz="1100" dirty="0">
                <a:solidFill>
                  <a:srgbClr val="64748B"/>
                </a:solidFill>
                <a:latin typeface="Segoe UI" pitchFamily="34" charset="0"/>
                <a:ea typeface="Segoe UI" pitchFamily="34" charset="-122"/>
                <a:cs typeface="Segoe UI" pitchFamily="34" charset="-120"/>
              </a:rPr>
              <a:t>Evidence-based operational friction versus clinical safety hazards</a:t>
            </a:r>
            <a:endParaRPr lang="en-US" sz="1100" dirty="0"/>
          </a:p>
        </p:txBody>
      </p:sp>
      <p:sp>
        <p:nvSpPr>
          <p:cNvPr id="6" name="Shape 4"/>
          <p:cNvSpPr/>
          <p:nvPr/>
        </p:nvSpPr>
        <p:spPr>
          <a:xfrm>
            <a:off x="731520" y="1554480"/>
            <a:ext cx="5212080" cy="4754880"/>
          </a:xfrm>
          <a:prstGeom prst="roundRect">
            <a:avLst>
              <a:gd name="adj" fmla="val 1923"/>
            </a:avLst>
          </a:prstGeom>
          <a:solidFill>
            <a:srgbClr val="FFFFFF"/>
          </a:solidFill>
          <a:ln w="12700">
            <a:solidFill>
              <a:srgbClr val="E2E8F0"/>
            </a:solidFill>
            <a:prstDash val="solid"/>
          </a:ln>
        </p:spPr>
      </p:sp>
      <p:sp>
        <p:nvSpPr>
          <p:cNvPr id="7" name="Shape 5"/>
          <p:cNvSpPr/>
          <p:nvPr/>
        </p:nvSpPr>
        <p:spPr>
          <a:xfrm>
            <a:off x="1005840" y="1783080"/>
            <a:ext cx="4663440" cy="320040"/>
          </a:xfrm>
          <a:prstGeom prst="roundRect">
            <a:avLst>
              <a:gd name="adj" fmla="val 22857"/>
            </a:avLst>
          </a:prstGeom>
          <a:solidFill>
            <a:srgbClr val="FEF3C7"/>
          </a:solidFill>
          <a:ln w="12700">
            <a:solidFill>
              <a:srgbClr val="D97706"/>
            </a:solidFill>
            <a:prstDash val="solid"/>
          </a:ln>
        </p:spPr>
      </p:sp>
      <p:sp>
        <p:nvSpPr>
          <p:cNvPr id="8" name="Text 6"/>
          <p:cNvSpPr/>
          <p:nvPr/>
        </p:nvSpPr>
        <p:spPr>
          <a:xfrm>
            <a:off x="1005840" y="1783080"/>
            <a:ext cx="4663440" cy="320040"/>
          </a:xfrm>
          <a:prstGeom prst="rect">
            <a:avLst/>
          </a:prstGeom>
          <a:noFill/>
          <a:ln/>
        </p:spPr>
        <p:txBody>
          <a:bodyPr wrap="square" rtlCol="0" anchor="ctr"/>
          <a:lstStyle/>
          <a:p>
            <a:pPr algn="ctr" indent="0" marL="0">
              <a:buNone/>
            </a:pPr>
            <a:r>
              <a:rPr lang="en-US" sz="1000" b="1" dirty="0">
                <a:solidFill>
                  <a:srgbClr val="D97706"/>
                </a:solidFill>
                <a:latin typeface="Segoe UI" pitchFamily="34" charset="0"/>
                <a:ea typeface="Segoe UI" pitchFamily="34" charset="-122"/>
                <a:cs typeface="Segoe UI" pitchFamily="34" charset="-120"/>
              </a:rPr>
              <a:t>OPERATIONAL BOTTLENECKS</a:t>
            </a:r>
            <a:endParaRPr lang="en-US" sz="1000" dirty="0"/>
          </a:p>
        </p:txBody>
      </p:sp>
      <p:sp>
        <p:nvSpPr>
          <p:cNvPr id="9" name="Text 7"/>
          <p:cNvSpPr/>
          <p:nvPr/>
        </p:nvSpPr>
        <p:spPr>
          <a:xfrm>
            <a:off x="1005840" y="2286000"/>
            <a:ext cx="4663440" cy="274320"/>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Physical File Search Delays (PP-01)</a:t>
            </a:r>
            <a:endParaRPr lang="en-US" sz="1100" dirty="0"/>
          </a:p>
        </p:txBody>
      </p:sp>
      <p:sp>
        <p:nvSpPr>
          <p:cNvPr id="10" name="Text 8"/>
          <p:cNvSpPr/>
          <p:nvPr/>
        </p:nvSpPr>
        <p:spPr>
          <a:xfrm>
            <a:off x="1005840" y="2560320"/>
            <a:ext cx="4663440" cy="731520"/>
          </a:xfrm>
          <a:prstGeom prst="rect">
            <a:avLst/>
          </a:prstGeom>
          <a:noFill/>
          <a:ln/>
        </p:spPr>
        <p:txBody>
          <a:bodyPr wrap="square" rtlCol="0" anchor="ctr"/>
          <a:lstStyle/>
          <a:p>
            <a:pPr indent="0" marL="0">
              <a:lnSpc>
                <a:spcPts val="1500"/>
              </a:lnSpc>
              <a:buNone/>
            </a:pPr>
            <a:r>
              <a:rPr lang="en-US" sz="1000" dirty="0">
                <a:solidFill>
                  <a:srgbClr val="334155"/>
                </a:solidFill>
                <a:latin typeface="Segoe UI" pitchFamily="34" charset="0"/>
                <a:ea typeface="Segoe UI" pitchFamily="34" charset="-122"/>
                <a:cs typeface="Segoe UI" pitchFamily="34" charset="-120"/>
              </a:rPr>
              <a:t>5–10 minutes spent per patient searching shelves and manual daybooks.</a:t>
            </a:r>
            <a:endParaRPr lang="en-US" sz="1000" dirty="0"/>
          </a:p>
        </p:txBody>
      </p:sp>
      <p:sp>
        <p:nvSpPr>
          <p:cNvPr id="11" name="Text 9"/>
          <p:cNvSpPr/>
          <p:nvPr/>
        </p:nvSpPr>
        <p:spPr>
          <a:xfrm>
            <a:off x="1005840" y="3520440"/>
            <a:ext cx="4663440" cy="274320"/>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Appointment Slot Collisions (PP-02)</a:t>
            </a:r>
            <a:endParaRPr lang="en-US" sz="1100" dirty="0"/>
          </a:p>
        </p:txBody>
      </p:sp>
      <p:sp>
        <p:nvSpPr>
          <p:cNvPr id="12" name="Text 10"/>
          <p:cNvSpPr/>
          <p:nvPr/>
        </p:nvSpPr>
        <p:spPr>
          <a:xfrm>
            <a:off x="1005840" y="3794760"/>
            <a:ext cx="4663440" cy="731520"/>
          </a:xfrm>
          <a:prstGeom prst="rect">
            <a:avLst/>
          </a:prstGeom>
          <a:noFill/>
          <a:ln/>
        </p:spPr>
        <p:txBody>
          <a:bodyPr wrap="square" rtlCol="0" anchor="ctr"/>
          <a:lstStyle/>
          <a:p>
            <a:pPr indent="0" marL="0">
              <a:lnSpc>
                <a:spcPts val="1500"/>
              </a:lnSpc>
              <a:buNone/>
            </a:pPr>
            <a:r>
              <a:rPr lang="en-US" sz="1000" dirty="0">
                <a:solidFill>
                  <a:srgbClr val="334155"/>
                </a:solidFill>
                <a:latin typeface="Segoe UI" pitchFamily="34" charset="0"/>
                <a:ea typeface="Segoe UI" pitchFamily="34" charset="-122"/>
                <a:cs typeface="Segoe UI" pitchFamily="34" charset="-120"/>
              </a:rPr>
              <a:t>Paper diaries lack automated conflict checking; double bookings occur.</a:t>
            </a:r>
            <a:endParaRPr lang="en-US" sz="1000" dirty="0"/>
          </a:p>
        </p:txBody>
      </p:sp>
      <p:sp>
        <p:nvSpPr>
          <p:cNvPr id="13" name="Text 11"/>
          <p:cNvSpPr/>
          <p:nvPr/>
        </p:nvSpPr>
        <p:spPr>
          <a:xfrm>
            <a:off x="1005840" y="4754880"/>
            <a:ext cx="4663440" cy="274320"/>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Unmanaged Waiting Congestion (PP-03)</a:t>
            </a:r>
            <a:endParaRPr lang="en-US" sz="1100" dirty="0"/>
          </a:p>
        </p:txBody>
      </p:sp>
      <p:sp>
        <p:nvSpPr>
          <p:cNvPr id="14" name="Text 12"/>
          <p:cNvSpPr/>
          <p:nvPr/>
        </p:nvSpPr>
        <p:spPr>
          <a:xfrm>
            <a:off x="1005840" y="5029200"/>
            <a:ext cx="4663440" cy="731520"/>
          </a:xfrm>
          <a:prstGeom prst="rect">
            <a:avLst/>
          </a:prstGeom>
          <a:noFill/>
          <a:ln/>
        </p:spPr>
        <p:txBody>
          <a:bodyPr wrap="square" rtlCol="0" anchor="ctr"/>
          <a:lstStyle/>
          <a:p>
            <a:pPr indent="0" marL="0">
              <a:lnSpc>
                <a:spcPts val="1500"/>
              </a:lnSpc>
              <a:buNone/>
            </a:pPr>
            <a:r>
              <a:rPr lang="en-US" sz="1000" dirty="0">
                <a:solidFill>
                  <a:srgbClr val="334155"/>
                </a:solidFill>
                <a:latin typeface="Segoe UI" pitchFamily="34" charset="0"/>
                <a:ea typeface="Segoe UI" pitchFamily="34" charset="-122"/>
                <a:cs typeface="Segoe UI" pitchFamily="34" charset="-120"/>
              </a:rPr>
              <a:t>No queue transparency; patients wait blindly; verbal callouts.</a:t>
            </a:r>
            <a:endParaRPr lang="en-US" sz="1000" dirty="0"/>
          </a:p>
        </p:txBody>
      </p:sp>
      <p:sp>
        <p:nvSpPr>
          <p:cNvPr id="15" name="Shape 13"/>
          <p:cNvSpPr/>
          <p:nvPr/>
        </p:nvSpPr>
        <p:spPr>
          <a:xfrm>
            <a:off x="6217920" y="1554480"/>
            <a:ext cx="5212080" cy="4754880"/>
          </a:xfrm>
          <a:prstGeom prst="roundRect">
            <a:avLst>
              <a:gd name="adj" fmla="val 1923"/>
            </a:avLst>
          </a:prstGeom>
          <a:solidFill>
            <a:srgbClr val="FFFFFF"/>
          </a:solidFill>
          <a:ln w="12700">
            <a:solidFill>
              <a:srgbClr val="E2E8F0"/>
            </a:solidFill>
            <a:prstDash val="solid"/>
          </a:ln>
        </p:spPr>
      </p:sp>
      <p:sp>
        <p:nvSpPr>
          <p:cNvPr id="16" name="Shape 14"/>
          <p:cNvSpPr/>
          <p:nvPr/>
        </p:nvSpPr>
        <p:spPr>
          <a:xfrm>
            <a:off x="6492240" y="1783080"/>
            <a:ext cx="4663440" cy="320040"/>
          </a:xfrm>
          <a:prstGeom prst="roundRect">
            <a:avLst>
              <a:gd name="adj" fmla="val 22857"/>
            </a:avLst>
          </a:prstGeom>
          <a:solidFill>
            <a:srgbClr val="FEE2E2"/>
          </a:solidFill>
          <a:ln w="12700">
            <a:solidFill>
              <a:srgbClr val="EF4444"/>
            </a:solidFill>
            <a:prstDash val="solid"/>
          </a:ln>
        </p:spPr>
      </p:sp>
      <p:sp>
        <p:nvSpPr>
          <p:cNvPr id="17" name="Text 15"/>
          <p:cNvSpPr/>
          <p:nvPr/>
        </p:nvSpPr>
        <p:spPr>
          <a:xfrm>
            <a:off x="6492240" y="1783080"/>
            <a:ext cx="4663440" cy="320040"/>
          </a:xfrm>
          <a:prstGeom prst="rect">
            <a:avLst/>
          </a:prstGeom>
          <a:noFill/>
          <a:ln/>
        </p:spPr>
        <p:txBody>
          <a:bodyPr wrap="square" rtlCol="0" anchor="ctr"/>
          <a:lstStyle/>
          <a:p>
            <a:pPr algn="ctr" indent="0" marL="0">
              <a:buNone/>
            </a:pPr>
            <a:r>
              <a:rPr lang="en-US" sz="1000" b="1" dirty="0">
                <a:solidFill>
                  <a:srgbClr val="EF4444"/>
                </a:solidFill>
                <a:latin typeface="Segoe UI" pitchFamily="34" charset="0"/>
                <a:ea typeface="Segoe UI" pitchFamily="34" charset="-122"/>
                <a:cs typeface="Segoe UI" pitchFamily="34" charset="-120"/>
              </a:rPr>
              <a:t>CLINICAL &amp; PATIENT RISKS</a:t>
            </a:r>
            <a:endParaRPr lang="en-US" sz="1000" dirty="0"/>
          </a:p>
        </p:txBody>
      </p:sp>
      <p:sp>
        <p:nvSpPr>
          <p:cNvPr id="18" name="Text 16"/>
          <p:cNvSpPr/>
          <p:nvPr/>
        </p:nvSpPr>
        <p:spPr>
          <a:xfrm>
            <a:off x="6492240" y="2286000"/>
            <a:ext cx="4663440" cy="274320"/>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Missing Orthodontic Timeline (PP-04)</a:t>
            </a:r>
            <a:endParaRPr lang="en-US" sz="1100" dirty="0"/>
          </a:p>
        </p:txBody>
      </p:sp>
      <p:sp>
        <p:nvSpPr>
          <p:cNvPr id="19" name="Text 17"/>
          <p:cNvSpPr/>
          <p:nvPr/>
        </p:nvSpPr>
        <p:spPr>
          <a:xfrm>
            <a:off x="6492240" y="2560320"/>
            <a:ext cx="4663440" cy="731520"/>
          </a:xfrm>
          <a:prstGeom prst="rect">
            <a:avLst/>
          </a:prstGeom>
          <a:noFill/>
          <a:ln/>
        </p:spPr>
        <p:txBody>
          <a:bodyPr wrap="square" rtlCol="0" anchor="ctr"/>
          <a:lstStyle/>
          <a:p>
            <a:pPr indent="0" marL="0">
              <a:lnSpc>
                <a:spcPts val="1500"/>
              </a:lnSpc>
              <a:buNone/>
            </a:pPr>
            <a:r>
              <a:rPr lang="en-US" sz="1000" dirty="0">
                <a:solidFill>
                  <a:srgbClr val="334155"/>
                </a:solidFill>
                <a:latin typeface="Segoe UI" pitchFamily="34" charset="0"/>
                <a:ea typeface="Segoe UI" pitchFamily="34" charset="-122"/>
                <a:cs typeface="Segoe UI" pitchFamily="34" charset="-120"/>
              </a:rPr>
              <a:t>Historical bracket adjustments and tooth findings fragmented across paper cards.</a:t>
            </a:r>
            <a:endParaRPr lang="en-US" sz="1000" dirty="0"/>
          </a:p>
        </p:txBody>
      </p:sp>
      <p:sp>
        <p:nvSpPr>
          <p:cNvPr id="20" name="Text 18"/>
          <p:cNvSpPr/>
          <p:nvPr/>
        </p:nvSpPr>
        <p:spPr>
          <a:xfrm>
            <a:off x="6492240" y="3520440"/>
            <a:ext cx="4663440" cy="274320"/>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Handwritten Prescription Hazards (PP-05)</a:t>
            </a:r>
            <a:endParaRPr lang="en-US" sz="1100" dirty="0"/>
          </a:p>
        </p:txBody>
      </p:sp>
      <p:sp>
        <p:nvSpPr>
          <p:cNvPr id="21" name="Text 19"/>
          <p:cNvSpPr/>
          <p:nvPr/>
        </p:nvSpPr>
        <p:spPr>
          <a:xfrm>
            <a:off x="6492240" y="3794760"/>
            <a:ext cx="4663440" cy="731520"/>
          </a:xfrm>
          <a:prstGeom prst="rect">
            <a:avLst/>
          </a:prstGeom>
          <a:noFill/>
          <a:ln/>
        </p:spPr>
        <p:txBody>
          <a:bodyPr wrap="square" rtlCol="0" anchor="ctr"/>
          <a:lstStyle/>
          <a:p>
            <a:pPr indent="0" marL="0">
              <a:lnSpc>
                <a:spcPts val="1500"/>
              </a:lnSpc>
              <a:buNone/>
            </a:pPr>
            <a:r>
              <a:rPr lang="en-US" sz="1000" dirty="0">
                <a:solidFill>
                  <a:srgbClr val="334155"/>
                </a:solidFill>
                <a:latin typeface="Segoe UI" pitchFamily="34" charset="0"/>
                <a:ea typeface="Segoe UI" pitchFamily="34" charset="-122"/>
                <a:cs typeface="Segoe UI" pitchFamily="34" charset="-120"/>
              </a:rPr>
              <a:t>Ambiguous handwriting increases medication dispensing risk at pharmacies.</a:t>
            </a:r>
            <a:endParaRPr lang="en-US" sz="1000" dirty="0"/>
          </a:p>
        </p:txBody>
      </p:sp>
      <p:sp>
        <p:nvSpPr>
          <p:cNvPr id="22" name="Text 20"/>
          <p:cNvSpPr/>
          <p:nvPr/>
        </p:nvSpPr>
        <p:spPr>
          <a:xfrm>
            <a:off x="6492240" y="4754880"/>
            <a:ext cx="4663440" cy="274320"/>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Post-Visit Communication Void (PP-06)</a:t>
            </a:r>
            <a:endParaRPr lang="en-US" sz="1100" dirty="0"/>
          </a:p>
        </p:txBody>
      </p:sp>
      <p:sp>
        <p:nvSpPr>
          <p:cNvPr id="23" name="Text 21"/>
          <p:cNvSpPr/>
          <p:nvPr/>
        </p:nvSpPr>
        <p:spPr>
          <a:xfrm>
            <a:off x="6492240" y="5029200"/>
            <a:ext cx="4663440" cy="731520"/>
          </a:xfrm>
          <a:prstGeom prst="rect">
            <a:avLst/>
          </a:prstGeom>
          <a:noFill/>
          <a:ln/>
        </p:spPr>
        <p:txBody>
          <a:bodyPr wrap="square" rtlCol="0" anchor="ctr"/>
          <a:lstStyle/>
          <a:p>
            <a:pPr indent="0" marL="0">
              <a:lnSpc>
                <a:spcPts val="1500"/>
              </a:lnSpc>
              <a:buNone/>
            </a:pPr>
            <a:r>
              <a:rPr lang="en-US" sz="1000" dirty="0">
                <a:solidFill>
                  <a:srgbClr val="334155"/>
                </a:solidFill>
                <a:latin typeface="Segoe UI" pitchFamily="34" charset="0"/>
                <a:ea typeface="Segoe UI" pitchFamily="34" charset="-122"/>
                <a:cs typeface="Segoe UI" pitchFamily="34" charset="-120"/>
              </a:rPr>
              <a:t>Patients lose paper slips; zero digital access to dosage or visit history.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365760"/>
            <a:ext cx="2560320" cy="320040"/>
          </a:xfrm>
          <a:prstGeom prst="roundRect">
            <a:avLst>
              <a:gd name="adj" fmla="val 22857"/>
            </a:avLst>
          </a:prstGeom>
          <a:solidFill>
            <a:srgbClr val="F0FDFA"/>
          </a:solidFill>
          <a:ln w="12700">
            <a:solidFill>
              <a:srgbClr val="CCFBF1"/>
            </a:solidFill>
            <a:prstDash val="solid"/>
          </a:ln>
        </p:spPr>
      </p:sp>
      <p:sp>
        <p:nvSpPr>
          <p:cNvPr id="3" name="Text 1"/>
          <p:cNvSpPr/>
          <p:nvPr/>
        </p:nvSpPr>
        <p:spPr>
          <a:xfrm>
            <a:off x="731520" y="365760"/>
            <a:ext cx="2560320" cy="320040"/>
          </a:xfrm>
          <a:prstGeom prst="rect">
            <a:avLst/>
          </a:prstGeom>
          <a:noFill/>
          <a:ln/>
        </p:spPr>
        <p:txBody>
          <a:bodyPr wrap="square" rtlCol="0" anchor="ctr"/>
          <a:lstStyle/>
          <a:p>
            <a:pPr algn="ctr" indent="0" marL="0">
              <a:buNone/>
            </a:pPr>
            <a:r>
              <a:rPr lang="en-US" sz="950" b="1" dirty="0">
                <a:solidFill>
                  <a:srgbClr val="0F766E"/>
                </a:solidFill>
                <a:latin typeface="Segoe UI" pitchFamily="34" charset="0"/>
                <a:ea typeface="Segoe UI" pitchFamily="34" charset="-122"/>
                <a:cs typeface="Segoe UI" pitchFamily="34" charset="-120"/>
              </a:rPr>
              <a:t>REQUIREMENTS</a:t>
            </a:r>
            <a:endParaRPr lang="en-US" sz="950" dirty="0"/>
          </a:p>
        </p:txBody>
      </p:sp>
      <p:sp>
        <p:nvSpPr>
          <p:cNvPr id="4" name="Text 2"/>
          <p:cNvSpPr/>
          <p:nvPr/>
        </p:nvSpPr>
        <p:spPr>
          <a:xfrm>
            <a:off x="731520" y="749808"/>
            <a:ext cx="10698480" cy="41148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Client Requirements (Functional &amp; Non-Functional)</a:t>
            </a:r>
            <a:endParaRPr lang="en-US" sz="2200" dirty="0"/>
          </a:p>
        </p:txBody>
      </p:sp>
      <p:sp>
        <p:nvSpPr>
          <p:cNvPr id="5" name="Text 3"/>
          <p:cNvSpPr/>
          <p:nvPr/>
        </p:nvSpPr>
        <p:spPr>
          <a:xfrm>
            <a:off x="731520" y="1188720"/>
            <a:ext cx="10698480" cy="274320"/>
          </a:xfrm>
          <a:prstGeom prst="rect">
            <a:avLst/>
          </a:prstGeom>
          <a:noFill/>
          <a:ln/>
        </p:spPr>
        <p:txBody>
          <a:bodyPr wrap="square" rtlCol="0" anchor="t"/>
          <a:lstStyle/>
          <a:p>
            <a:pPr indent="0" marL="0">
              <a:buNone/>
            </a:pPr>
            <a:r>
              <a:rPr lang="en-US" sz="1100" dirty="0">
                <a:solidFill>
                  <a:srgbClr val="64748B"/>
                </a:solidFill>
                <a:latin typeface="Segoe UI" pitchFamily="34" charset="0"/>
                <a:ea typeface="Segoe UI" pitchFamily="34" charset="-122"/>
                <a:cs typeface="Segoe UI" pitchFamily="34" charset="-120"/>
              </a:rPr>
              <a:t>Verified against system implementation and healthcare operational standards</a:t>
            </a:r>
            <a:endParaRPr lang="en-US" sz="1100" dirty="0"/>
          </a:p>
        </p:txBody>
      </p:sp>
      <p:sp>
        <p:nvSpPr>
          <p:cNvPr id="6" name="Shape 4"/>
          <p:cNvSpPr/>
          <p:nvPr/>
        </p:nvSpPr>
        <p:spPr>
          <a:xfrm>
            <a:off x="731520" y="1554480"/>
            <a:ext cx="5212080" cy="4754880"/>
          </a:xfrm>
          <a:prstGeom prst="roundRect">
            <a:avLst>
              <a:gd name="adj" fmla="val 1923"/>
            </a:avLst>
          </a:prstGeom>
          <a:solidFill>
            <a:srgbClr val="FFFFFF"/>
          </a:solidFill>
          <a:ln w="12700">
            <a:solidFill>
              <a:srgbClr val="E2E8F0"/>
            </a:solidFill>
            <a:prstDash val="solid"/>
          </a:ln>
        </p:spPr>
      </p:sp>
      <p:sp>
        <p:nvSpPr>
          <p:cNvPr id="7" name="Text 5"/>
          <p:cNvSpPr/>
          <p:nvPr/>
        </p:nvSpPr>
        <p:spPr>
          <a:xfrm>
            <a:off x="1005840" y="1783080"/>
            <a:ext cx="4663440" cy="274320"/>
          </a:xfrm>
          <a:prstGeom prst="rect">
            <a:avLst/>
          </a:prstGeom>
          <a:noFill/>
          <a:ln/>
        </p:spPr>
        <p:txBody>
          <a:bodyPr wrap="square" rtlCol="0" anchor="ctr"/>
          <a:lstStyle/>
          <a:p>
            <a:pPr indent="0" marL="0">
              <a:buNone/>
            </a:pPr>
            <a:r>
              <a:rPr lang="en-US" sz="1150" b="1" dirty="0">
                <a:solidFill>
                  <a:srgbClr val="0F766E"/>
                </a:solidFill>
                <a:latin typeface="Segoe UI" pitchFamily="34" charset="0"/>
                <a:ea typeface="Segoe UI" pitchFamily="34" charset="-122"/>
                <a:cs typeface="Segoe UI" pitchFamily="34" charset="-120"/>
              </a:rPr>
              <a:t>FUNCTIONAL REQUIREMENTS (FR-01 TO FR-15)</a:t>
            </a:r>
            <a:endParaRPr lang="en-US" sz="1150" dirty="0"/>
          </a:p>
        </p:txBody>
      </p:sp>
      <p:sp>
        <p:nvSpPr>
          <p:cNvPr id="8" name="Text 6"/>
          <p:cNvSpPr/>
          <p:nvPr/>
        </p:nvSpPr>
        <p:spPr>
          <a:xfrm>
            <a:off x="1005840" y="2148840"/>
            <a:ext cx="4663440" cy="4023360"/>
          </a:xfrm>
          <a:prstGeom prst="rect">
            <a:avLst/>
          </a:prstGeom>
          <a:noFill/>
          <a:ln/>
        </p:spPr>
        <p:txBody>
          <a:bodyPr wrap="square" rtlCol="0" anchor="ctr"/>
          <a:lstStyle/>
          <a:p>
            <a:pPr indent="0" marL="0">
              <a:lnSpc>
                <a:spcPts val="1600"/>
              </a:lnSpc>
              <a:buNone/>
            </a:pPr>
            <a:r>
              <a:rPr lang="en-US" sz="1000" b="1" dirty="0">
                <a:solidFill>
                  <a:srgbClr val="0F172A"/>
                </a:solidFill>
                <a:latin typeface="Segoe UI" pitchFamily="34" charset="0"/>
                <a:ea typeface="Segoe UI" pitchFamily="34" charset="-122"/>
                <a:cs typeface="Segoe UI" pitchFamily="34" charset="-120"/>
              </a:rPr>
              <a:t>• Dual Portal Gateway: </a:t>
            </a:r>
            <a:pPr indent="0" marL="0">
              <a:lnSpc>
                <a:spcPts val="1600"/>
              </a:lnSpc>
              <a:buNone/>
            </a:pPr>
            <a:r>
              <a:rPr lang="en-US" sz="1000" dirty="0">
                <a:solidFill>
                  <a:srgbClr val="334155"/>
                </a:solidFill>
                <a:latin typeface="Segoe UI" pitchFamily="34" charset="0"/>
                <a:ea typeface="Segoe UI" pitchFamily="34" charset="-122"/>
                <a:cs typeface="Segoe UI" pitchFamily="34" charset="-120"/>
              </a:rPr>
              <a:t>Segregated Staff &amp; Patient portals.
</a:t>
            </a:r>
            <a:pPr indent="0" marL="0">
              <a:lnSpc>
                <a:spcPts val="1600"/>
              </a:lnSpc>
              <a:buNone/>
            </a:pPr>
            <a:r>
              <a:rPr lang="en-US" sz="1000" b="1" dirty="0">
                <a:solidFill>
                  <a:srgbClr val="0F172A"/>
                </a:solidFill>
                <a:latin typeface="Segoe UI" pitchFamily="34" charset="0"/>
                <a:ea typeface="Segoe UI" pitchFamily="34" charset="-122"/>
                <a:cs typeface="Segoe UI" pitchFamily="34" charset="-120"/>
              </a:rPr>
              <a:t>• Atomic Provisioning: </a:t>
            </a:r>
            <a:pPr indent="0" marL="0">
              <a:lnSpc>
                <a:spcPts val="1600"/>
              </a:lnSpc>
              <a:buNone/>
            </a:pPr>
            <a:r>
              <a:rPr lang="en-US" sz="1000" dirty="0">
                <a:solidFill>
                  <a:srgbClr val="334155"/>
                </a:solidFill>
                <a:latin typeface="Segoe UI" pitchFamily="34" charset="0"/>
                <a:ea typeface="Segoe UI" pitchFamily="34" charset="-122"/>
                <a:cs typeface="Segoe UI" pitchFamily="34" charset="-120"/>
              </a:rPr>
              <a:t>Sequential PDC-XXXXXX ID generation.
</a:t>
            </a:r>
            <a:pPr indent="0" marL="0">
              <a:lnSpc>
                <a:spcPts val="1600"/>
              </a:lnSpc>
              <a:buNone/>
            </a:pPr>
            <a:r>
              <a:rPr lang="en-US" sz="1000" b="1" dirty="0">
                <a:solidFill>
                  <a:srgbClr val="0F172A"/>
                </a:solidFill>
                <a:latin typeface="Segoe UI" pitchFamily="34" charset="0"/>
                <a:ea typeface="Segoe UI" pitchFamily="34" charset="-122"/>
                <a:cs typeface="Segoe UI" pitchFamily="34" charset="-120"/>
              </a:rPr>
              <a:t>• Multi-Param Search: </a:t>
            </a:r>
            <a:pPr indent="0" marL="0">
              <a:lnSpc>
                <a:spcPts val="1600"/>
              </a:lnSpc>
              <a:buNone/>
            </a:pPr>
            <a:r>
              <a:rPr lang="en-US" sz="1000" dirty="0">
                <a:solidFill>
                  <a:srgbClr val="334155"/>
                </a:solidFill>
                <a:latin typeface="Segoe UI" pitchFamily="34" charset="0"/>
                <a:ea typeface="Segoe UI" pitchFamily="34" charset="-122"/>
                <a:cs typeface="Segoe UI" pitchFamily="34" charset="-120"/>
              </a:rPr>
              <a:t>Lookup by Mobile, PDC ID, Name (&lt;1s).
</a:t>
            </a:r>
            <a:pPr indent="0" marL="0">
              <a:lnSpc>
                <a:spcPts val="1600"/>
              </a:lnSpc>
              <a:buNone/>
            </a:pPr>
            <a:r>
              <a:rPr lang="en-US" sz="1000" b="1" dirty="0">
                <a:solidFill>
                  <a:srgbClr val="0F172A"/>
                </a:solidFill>
                <a:latin typeface="Segoe UI" pitchFamily="34" charset="0"/>
                <a:ea typeface="Segoe UI" pitchFamily="34" charset="-122"/>
                <a:cs typeface="Segoe UI" pitchFamily="34" charset="-120"/>
              </a:rPr>
              <a:t>• Conflict-Free Booking: </a:t>
            </a:r>
            <a:pPr indent="0" marL="0">
              <a:lnSpc>
                <a:spcPts val="1600"/>
              </a:lnSpc>
              <a:buNone/>
            </a:pPr>
            <a:r>
              <a:rPr lang="en-US" sz="1000" dirty="0">
                <a:solidFill>
                  <a:srgbClr val="334155"/>
                </a:solidFill>
                <a:latin typeface="Segoe UI" pitchFamily="34" charset="0"/>
                <a:ea typeface="Segoe UI" pitchFamily="34" charset="-122"/>
                <a:cs typeface="Segoe UI" pitchFamily="34" charset="-120"/>
              </a:rPr>
              <a:t>Automated slot overlap prevention.
</a:t>
            </a:r>
            <a:pPr indent="0" marL="0">
              <a:lnSpc>
                <a:spcPts val="1600"/>
              </a:lnSpc>
              <a:buNone/>
            </a:pPr>
            <a:r>
              <a:rPr lang="en-US" sz="1000" b="1" dirty="0">
                <a:solidFill>
                  <a:srgbClr val="0F172A"/>
                </a:solidFill>
                <a:latin typeface="Segoe UI" pitchFamily="34" charset="0"/>
                <a:ea typeface="Segoe UI" pitchFamily="34" charset="-122"/>
                <a:cs typeface="Segoe UI" pitchFamily="34" charset="-120"/>
              </a:rPr>
              <a:t>• Live Queue Tracking: </a:t>
            </a:r>
            <a:pPr indent="0" marL="0">
              <a:lnSpc>
                <a:spcPts val="1600"/>
              </a:lnSpc>
              <a:buNone/>
            </a:pPr>
            <a:r>
              <a:rPr lang="en-US" sz="1000" dirty="0">
                <a:solidFill>
                  <a:srgbClr val="334155"/>
                </a:solidFill>
                <a:latin typeface="Segoe UI" pitchFamily="34" charset="0"/>
                <a:ea typeface="Segoe UI" pitchFamily="34" charset="-122"/>
                <a:cs typeface="Segoe UI" pitchFamily="34" charset="-120"/>
              </a:rPr>
              <a:t>Scheduled -&gt; Waiting -&gt; In-Consultation.
</a:t>
            </a:r>
            <a:pPr indent="0" marL="0">
              <a:lnSpc>
                <a:spcPts val="1600"/>
              </a:lnSpc>
              <a:buNone/>
            </a:pPr>
            <a:r>
              <a:rPr lang="en-US" sz="1000" b="1" dirty="0">
                <a:solidFill>
                  <a:srgbClr val="0F172A"/>
                </a:solidFill>
                <a:latin typeface="Segoe UI" pitchFamily="34" charset="0"/>
                <a:ea typeface="Segoe UI" pitchFamily="34" charset="-122"/>
                <a:cs typeface="Segoe UI" pitchFamily="34" charset="-120"/>
              </a:rPr>
              <a:t>• Chairside 1-Click Summary: </a:t>
            </a:r>
            <a:pPr indent="0" marL="0">
              <a:lnSpc>
                <a:spcPts val="1600"/>
              </a:lnSpc>
              <a:buNone/>
            </a:pPr>
            <a:r>
              <a:rPr lang="en-US" sz="1000" dirty="0">
                <a:solidFill>
                  <a:srgbClr val="334155"/>
                </a:solidFill>
                <a:latin typeface="Segoe UI" pitchFamily="34" charset="0"/>
                <a:ea typeface="Segoe UI" pitchFamily="34" charset="-122"/>
                <a:cs typeface="Segoe UI" pitchFamily="34" charset="-120"/>
              </a:rPr>
              <a:t>Medical alerts &amp; visit history.
</a:t>
            </a:r>
            <a:pPr indent="0" marL="0">
              <a:lnSpc>
                <a:spcPts val="1600"/>
              </a:lnSpc>
              <a:buNone/>
            </a:pPr>
            <a:r>
              <a:rPr lang="en-US" sz="1000" b="1" dirty="0">
                <a:solidFill>
                  <a:srgbClr val="0F172A"/>
                </a:solidFill>
                <a:latin typeface="Segoe UI" pitchFamily="34" charset="0"/>
                <a:ea typeface="Segoe UI" pitchFamily="34" charset="-122"/>
                <a:cs typeface="Segoe UI" pitchFamily="34" charset="-120"/>
              </a:rPr>
              <a:t>• FDI Tooth Charting: </a:t>
            </a:r>
            <a:pPr indent="0" marL="0">
              <a:lnSpc>
                <a:spcPts val="1600"/>
              </a:lnSpc>
              <a:buNone/>
            </a:pPr>
            <a:r>
              <a:rPr lang="en-US" sz="1000" dirty="0">
                <a:solidFill>
                  <a:srgbClr val="334155"/>
                </a:solidFill>
                <a:latin typeface="Segoe UI" pitchFamily="34" charset="0"/>
                <a:ea typeface="Segoe UI" pitchFamily="34" charset="-122"/>
                <a:cs typeface="Segoe UI" pitchFamily="34" charset="-120"/>
              </a:rPr>
              <a:t>Interactive 2-digit grid (teeth 11–48).
</a:t>
            </a:r>
            <a:pPr indent="0" marL="0">
              <a:lnSpc>
                <a:spcPts val="1600"/>
              </a:lnSpc>
              <a:buNone/>
            </a:pPr>
            <a:r>
              <a:rPr lang="en-US" sz="1000" b="1" dirty="0">
                <a:solidFill>
                  <a:srgbClr val="0F172A"/>
                </a:solidFill>
                <a:latin typeface="Segoe UI" pitchFamily="34" charset="0"/>
                <a:ea typeface="Segoe UI" pitchFamily="34" charset="-122"/>
                <a:cs typeface="Segoe UI" pitchFamily="34" charset="-120"/>
              </a:rPr>
              <a:t>• Standardized Rx Engine: </a:t>
            </a:r>
            <a:pPr indent="0" marL="0">
              <a:lnSpc>
                <a:spcPts val="1600"/>
              </a:lnSpc>
              <a:buNone/>
            </a:pPr>
            <a:r>
              <a:rPr lang="en-US" sz="1000" dirty="0">
                <a:solidFill>
                  <a:srgbClr val="334155"/>
                </a:solidFill>
                <a:latin typeface="Segoe UI" pitchFamily="34" charset="0"/>
                <a:ea typeface="Segoe UI" pitchFamily="34" charset="-122"/>
                <a:cs typeface="Segoe UI" pitchFamily="34" charset="-120"/>
              </a:rPr>
              <a:t>Dental formulary with auto-dosage.
</a:t>
            </a:r>
            <a:pPr indent="0" marL="0">
              <a:lnSpc>
                <a:spcPts val="1600"/>
              </a:lnSpc>
              <a:buNone/>
            </a:pPr>
            <a:r>
              <a:rPr lang="en-US" sz="1000" b="1" dirty="0">
                <a:solidFill>
                  <a:srgbClr val="0F172A"/>
                </a:solidFill>
                <a:latin typeface="Segoe UI" pitchFamily="34" charset="0"/>
                <a:ea typeface="Segoe UI" pitchFamily="34" charset="-122"/>
                <a:cs typeface="Segoe UI" pitchFamily="34" charset="-120"/>
              </a:rPr>
              <a:t>• Patient Self-Service: </a:t>
            </a:r>
            <a:pPr indent="0" marL="0">
              <a:lnSpc>
                <a:spcPts val="1600"/>
              </a:lnSpc>
              <a:buNone/>
            </a:pPr>
            <a:r>
              <a:rPr lang="en-US" sz="1000" dirty="0">
                <a:solidFill>
                  <a:srgbClr val="334155"/>
                </a:solidFill>
                <a:latin typeface="Segoe UI" pitchFamily="34" charset="0"/>
                <a:ea typeface="Segoe UI" pitchFamily="34" charset="-122"/>
                <a:cs typeface="Segoe UI" pitchFamily="34" charset="-120"/>
              </a:rPr>
              <a:t>24/7 web access to active prescriptions.</a:t>
            </a:r>
            <a:endParaRPr lang="en-US" sz="1000" dirty="0"/>
          </a:p>
        </p:txBody>
      </p:sp>
      <p:sp>
        <p:nvSpPr>
          <p:cNvPr id="9" name="Shape 7"/>
          <p:cNvSpPr/>
          <p:nvPr/>
        </p:nvSpPr>
        <p:spPr>
          <a:xfrm>
            <a:off x="6217920" y="1554480"/>
            <a:ext cx="5212080" cy="4754880"/>
          </a:xfrm>
          <a:prstGeom prst="roundRect">
            <a:avLst>
              <a:gd name="adj" fmla="val 1923"/>
            </a:avLst>
          </a:prstGeom>
          <a:solidFill>
            <a:srgbClr val="FFFFFF"/>
          </a:solidFill>
          <a:ln w="12700">
            <a:solidFill>
              <a:srgbClr val="E2E8F0"/>
            </a:solidFill>
            <a:prstDash val="solid"/>
          </a:ln>
        </p:spPr>
      </p:sp>
      <p:sp>
        <p:nvSpPr>
          <p:cNvPr id="10" name="Text 8"/>
          <p:cNvSpPr/>
          <p:nvPr/>
        </p:nvSpPr>
        <p:spPr>
          <a:xfrm>
            <a:off x="6492240" y="1783080"/>
            <a:ext cx="4663440" cy="274320"/>
          </a:xfrm>
          <a:prstGeom prst="rect">
            <a:avLst/>
          </a:prstGeom>
          <a:noFill/>
          <a:ln/>
        </p:spPr>
        <p:txBody>
          <a:bodyPr wrap="square" rtlCol="0" anchor="ctr"/>
          <a:lstStyle/>
          <a:p>
            <a:pPr indent="0" marL="0">
              <a:buNone/>
            </a:pPr>
            <a:r>
              <a:rPr lang="en-US" sz="1150" b="1" dirty="0">
                <a:solidFill>
                  <a:srgbClr val="0F766E"/>
                </a:solidFill>
                <a:latin typeface="Segoe UI" pitchFamily="34" charset="0"/>
                <a:ea typeface="Segoe UI" pitchFamily="34" charset="-122"/>
                <a:cs typeface="Segoe UI" pitchFamily="34" charset="-120"/>
              </a:rPr>
              <a:t>NON-FUNCTIONAL REQUIREMENTS (NFR-01 TO NFR-10)</a:t>
            </a:r>
            <a:endParaRPr lang="en-US" sz="1150" dirty="0"/>
          </a:p>
        </p:txBody>
      </p:sp>
      <p:sp>
        <p:nvSpPr>
          <p:cNvPr id="11" name="Text 9"/>
          <p:cNvSpPr/>
          <p:nvPr/>
        </p:nvSpPr>
        <p:spPr>
          <a:xfrm>
            <a:off x="6492240" y="2148840"/>
            <a:ext cx="4663440" cy="4023360"/>
          </a:xfrm>
          <a:prstGeom prst="rect">
            <a:avLst/>
          </a:prstGeom>
          <a:noFill/>
          <a:ln/>
        </p:spPr>
        <p:txBody>
          <a:bodyPr wrap="square" rtlCol="0" anchor="ctr"/>
          <a:lstStyle/>
          <a:p>
            <a:pPr indent="0" marL="0">
              <a:lnSpc>
                <a:spcPts val="1600"/>
              </a:lnSpc>
              <a:buNone/>
            </a:pPr>
            <a:r>
              <a:rPr lang="en-US" sz="1000" b="1" dirty="0">
                <a:solidFill>
                  <a:srgbClr val="0F172A"/>
                </a:solidFill>
                <a:latin typeface="Segoe UI" pitchFamily="34" charset="0"/>
                <a:ea typeface="Segoe UI" pitchFamily="34" charset="-122"/>
                <a:cs typeface="Segoe UI" pitchFamily="34" charset="-120"/>
              </a:rPr>
              <a:t>• Security &amp; RLS Isolation: </a:t>
            </a:r>
            <a:pPr indent="0" marL="0">
              <a:lnSpc>
                <a:spcPts val="1600"/>
              </a:lnSpc>
              <a:buNone/>
            </a:pPr>
            <a:r>
              <a:rPr lang="en-US" sz="1000" dirty="0">
                <a:solidFill>
                  <a:srgbClr val="334155"/>
                </a:solidFill>
                <a:latin typeface="Segoe UI" pitchFamily="34" charset="0"/>
                <a:ea typeface="Segoe UI" pitchFamily="34" charset="-122"/>
                <a:cs typeface="Segoe UI" pitchFamily="34" charset="-120"/>
              </a:rPr>
              <a:t>PostgreSQL RLS ensures zero cross-patient data leaks.
</a:t>
            </a:r>
            <a:pPr indent="0" marL="0">
              <a:lnSpc>
                <a:spcPts val="1600"/>
              </a:lnSpc>
              <a:buNone/>
            </a:pPr>
            <a:r>
              <a:rPr lang="en-US" sz="1000" b="1" dirty="0">
                <a:solidFill>
                  <a:srgbClr val="0F172A"/>
                </a:solidFill>
                <a:latin typeface="Segoe UI" pitchFamily="34" charset="0"/>
                <a:ea typeface="Segoe UI" pitchFamily="34" charset="-122"/>
                <a:cs typeface="Segoe UI" pitchFamily="34" charset="-120"/>
              </a:rPr>
              <a:t>• Prescription Immutability: </a:t>
            </a:r>
            <a:pPr indent="0" marL="0">
              <a:lnSpc>
                <a:spcPts val="1600"/>
              </a:lnSpc>
              <a:buNone/>
            </a:pPr>
            <a:r>
              <a:rPr lang="en-US" sz="1000" dirty="0">
                <a:solidFill>
                  <a:srgbClr val="334155"/>
                </a:solidFill>
                <a:latin typeface="Segoe UI" pitchFamily="34" charset="0"/>
                <a:ea typeface="Segoe UI" pitchFamily="34" charset="-122"/>
                <a:cs typeface="Segoe UI" pitchFamily="34" charset="-120"/>
              </a:rPr>
              <a:t>Database-enforced write-lock on finalized prescriptions.
</a:t>
            </a:r>
            <a:pPr indent="0" marL="0">
              <a:lnSpc>
                <a:spcPts val="1600"/>
              </a:lnSpc>
              <a:buNone/>
            </a:pPr>
            <a:r>
              <a:rPr lang="en-US" sz="1000" b="1" dirty="0">
                <a:solidFill>
                  <a:srgbClr val="0F172A"/>
                </a:solidFill>
                <a:latin typeface="Segoe UI" pitchFamily="34" charset="0"/>
                <a:ea typeface="Segoe UI" pitchFamily="34" charset="-122"/>
                <a:cs typeface="Segoe UI" pitchFamily="34" charset="-120"/>
              </a:rPr>
              <a:t>• Secret Isolation: </a:t>
            </a:r>
            <a:pPr indent="0" marL="0">
              <a:lnSpc>
                <a:spcPts val="1600"/>
              </a:lnSpc>
              <a:buNone/>
            </a:pPr>
            <a:r>
              <a:rPr lang="en-US" sz="1000" dirty="0">
                <a:solidFill>
                  <a:srgbClr val="334155"/>
                </a:solidFill>
                <a:latin typeface="Segoe UI" pitchFamily="34" charset="0"/>
                <a:ea typeface="Segoe UI" pitchFamily="34" charset="-122"/>
                <a:cs typeface="Segoe UI" pitchFamily="34" charset="-120"/>
              </a:rPr>
              <a:t>Service-role &amp; Resend keys isolated in serverless API routes.
</a:t>
            </a:r>
            <a:pPr indent="0" marL="0">
              <a:lnSpc>
                <a:spcPts val="1600"/>
              </a:lnSpc>
              <a:buNone/>
            </a:pPr>
            <a:r>
              <a:rPr lang="en-US" sz="1000" b="1" dirty="0">
                <a:solidFill>
                  <a:srgbClr val="0F172A"/>
                </a:solidFill>
                <a:latin typeface="Segoe UI" pitchFamily="34" charset="0"/>
                <a:ea typeface="Segoe UI" pitchFamily="34" charset="-122"/>
                <a:cs typeface="Segoe UI" pitchFamily="34" charset="-120"/>
              </a:rPr>
              <a:t>• Sub-Second Performance: </a:t>
            </a:r>
            <a:pPr indent="0" marL="0">
              <a:lnSpc>
                <a:spcPts val="1600"/>
              </a:lnSpc>
              <a:buNone/>
            </a:pPr>
            <a:r>
              <a:rPr lang="en-US" sz="1000" dirty="0">
                <a:solidFill>
                  <a:srgbClr val="334155"/>
                </a:solidFill>
                <a:latin typeface="Segoe UI" pitchFamily="34" charset="0"/>
                <a:ea typeface="Segoe UI" pitchFamily="34" charset="-122"/>
                <a:cs typeface="Segoe UI" pitchFamily="34" charset="-120"/>
              </a:rPr>
              <a:t>PostgreSQL indexed queries execute in &lt;1000ms.
</a:t>
            </a:r>
            <a:pPr indent="0" marL="0">
              <a:lnSpc>
                <a:spcPts val="1600"/>
              </a:lnSpc>
              <a:buNone/>
            </a:pPr>
            <a:r>
              <a:rPr lang="en-US" sz="1000" b="1" dirty="0">
                <a:solidFill>
                  <a:srgbClr val="0F172A"/>
                </a:solidFill>
                <a:latin typeface="Segoe UI" pitchFamily="34" charset="0"/>
                <a:ea typeface="Segoe UI" pitchFamily="34" charset="-122"/>
                <a:cs typeface="Segoe UI" pitchFamily="34" charset="-120"/>
              </a:rPr>
              <a:t>• High-Fidelity Printing: </a:t>
            </a:r>
            <a:pPr indent="0" marL="0">
              <a:lnSpc>
                <a:spcPts val="1600"/>
              </a:lnSpc>
              <a:buNone/>
            </a:pPr>
            <a:r>
              <a:rPr lang="en-US" sz="1000" dirty="0">
                <a:solidFill>
                  <a:srgbClr val="334155"/>
                </a:solidFill>
                <a:latin typeface="Segoe UI" pitchFamily="34" charset="0"/>
                <a:ea typeface="Segoe UI" pitchFamily="34" charset="-122"/>
                <a:cs typeface="Segoe UI" pitchFamily="34" charset="-120"/>
              </a:rPr>
              <a:t>Standardized A4 sheet with official clinic letterhead.
</a:t>
            </a:r>
            <a:pPr indent="0" marL="0">
              <a:lnSpc>
                <a:spcPts val="1600"/>
              </a:lnSpc>
              <a:buNone/>
            </a:pPr>
            <a:r>
              <a:rPr lang="en-US" sz="1000" b="1" dirty="0">
                <a:solidFill>
                  <a:srgbClr val="0F172A"/>
                </a:solidFill>
                <a:latin typeface="Segoe UI" pitchFamily="34" charset="0"/>
                <a:ea typeface="Segoe UI" pitchFamily="34" charset="-122"/>
                <a:cs typeface="Segoe UI" pitchFamily="34" charset="-120"/>
              </a:rPr>
              <a:t>• Responsive Design: </a:t>
            </a:r>
            <a:pPr indent="0" marL="0">
              <a:lnSpc>
                <a:spcPts val="1600"/>
              </a:lnSpc>
              <a:buNone/>
            </a:pPr>
            <a:r>
              <a:rPr lang="en-US" sz="1000" dirty="0">
                <a:solidFill>
                  <a:srgbClr val="334155"/>
                </a:solidFill>
                <a:latin typeface="Segoe UI" pitchFamily="34" charset="0"/>
                <a:ea typeface="Segoe UI" pitchFamily="34" charset="-122"/>
                <a:cs typeface="Segoe UI" pitchFamily="34" charset="-120"/>
              </a:rPr>
              <a:t>Full usability across clinic smartphones, tablets, and desktops.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365760"/>
            <a:ext cx="2560320" cy="320040"/>
          </a:xfrm>
          <a:prstGeom prst="roundRect">
            <a:avLst>
              <a:gd name="adj" fmla="val 22857"/>
            </a:avLst>
          </a:prstGeom>
          <a:solidFill>
            <a:srgbClr val="F0FDFA"/>
          </a:solidFill>
          <a:ln w="12700">
            <a:solidFill>
              <a:srgbClr val="CCFBF1"/>
            </a:solidFill>
            <a:prstDash val="solid"/>
          </a:ln>
        </p:spPr>
      </p:sp>
      <p:sp>
        <p:nvSpPr>
          <p:cNvPr id="3" name="Text 1"/>
          <p:cNvSpPr/>
          <p:nvPr/>
        </p:nvSpPr>
        <p:spPr>
          <a:xfrm>
            <a:off x="731520" y="365760"/>
            <a:ext cx="2560320" cy="320040"/>
          </a:xfrm>
          <a:prstGeom prst="rect">
            <a:avLst/>
          </a:prstGeom>
          <a:noFill/>
          <a:ln/>
        </p:spPr>
        <p:txBody>
          <a:bodyPr wrap="square" rtlCol="0" anchor="ctr"/>
          <a:lstStyle/>
          <a:p>
            <a:pPr algn="ctr" indent="0" marL="0">
              <a:buNone/>
            </a:pPr>
            <a:r>
              <a:rPr lang="en-US" sz="950" b="1" dirty="0">
                <a:solidFill>
                  <a:srgbClr val="0F766E"/>
                </a:solidFill>
                <a:latin typeface="Segoe UI" pitchFamily="34" charset="0"/>
                <a:ea typeface="Segoe UI" pitchFamily="34" charset="-122"/>
                <a:cs typeface="Segoe UI" pitchFamily="34" charset="-120"/>
              </a:rPr>
              <a:t>BPMN 2.0 WORKFLOW</a:t>
            </a:r>
            <a:endParaRPr lang="en-US" sz="950" dirty="0"/>
          </a:p>
        </p:txBody>
      </p:sp>
      <p:sp>
        <p:nvSpPr>
          <p:cNvPr id="4" name="Text 2"/>
          <p:cNvSpPr/>
          <p:nvPr/>
        </p:nvSpPr>
        <p:spPr>
          <a:xfrm>
            <a:off x="731520" y="749808"/>
            <a:ext cx="10698480" cy="41148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Proposed State Workflow (TO-BE): Prasad Dental Care HMIS</a:t>
            </a:r>
            <a:endParaRPr lang="en-US" sz="2200" dirty="0"/>
          </a:p>
        </p:txBody>
      </p:sp>
      <p:sp>
        <p:nvSpPr>
          <p:cNvPr id="5" name="Text 3"/>
          <p:cNvSpPr/>
          <p:nvPr/>
        </p:nvSpPr>
        <p:spPr>
          <a:xfrm>
            <a:off x="731520" y="1188720"/>
            <a:ext cx="10698480" cy="274320"/>
          </a:xfrm>
          <a:prstGeom prst="rect">
            <a:avLst/>
          </a:prstGeom>
          <a:noFill/>
          <a:ln/>
        </p:spPr>
        <p:txBody>
          <a:bodyPr wrap="square" rtlCol="0" anchor="t"/>
          <a:lstStyle/>
          <a:p>
            <a:pPr indent="0" marL="0">
              <a:buNone/>
            </a:pPr>
            <a:r>
              <a:rPr lang="en-US" sz="1100" dirty="0">
                <a:solidFill>
                  <a:srgbClr val="64748B"/>
                </a:solidFill>
                <a:latin typeface="Segoe UI" pitchFamily="34" charset="0"/>
                <a:ea typeface="Segoe UI" pitchFamily="34" charset="-122"/>
                <a:cs typeface="Segoe UI" pitchFamily="34" charset="-120"/>
              </a:rPr>
              <a:t>End-to-end digital integration connecting Reception, Doctor, and Patient Portal</a:t>
            </a:r>
            <a:endParaRPr lang="en-US" sz="1100" dirty="0"/>
          </a:p>
        </p:txBody>
      </p:sp>
      <p:pic>
        <p:nvPicPr>
          <p:cNvPr id="6" name="Image 0" descr="c:\Users\likhi\OneDrive\Desktop\HMIS\TO_BE_WORKFLOW.png">    </p:cNvPr>
          <p:cNvPicPr>
            <a:picLocks noChangeAspect="1"/>
          </p:cNvPicPr>
          <p:nvPr/>
        </p:nvPicPr>
        <p:blipFill>
          <a:blip r:embed="rId1"/>
          <a:stretch>
            <a:fillRect/>
          </a:stretch>
        </p:blipFill>
        <p:spPr>
          <a:xfrm>
            <a:off x="731520" y="1463040"/>
            <a:ext cx="10698480" cy="48463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365760"/>
            <a:ext cx="2560320" cy="320040"/>
          </a:xfrm>
          <a:prstGeom prst="roundRect">
            <a:avLst>
              <a:gd name="adj" fmla="val 22857"/>
            </a:avLst>
          </a:prstGeom>
          <a:solidFill>
            <a:srgbClr val="F0FDFA"/>
          </a:solidFill>
          <a:ln w="12700">
            <a:solidFill>
              <a:srgbClr val="CCFBF1"/>
            </a:solidFill>
            <a:prstDash val="solid"/>
          </a:ln>
        </p:spPr>
      </p:sp>
      <p:sp>
        <p:nvSpPr>
          <p:cNvPr id="3" name="Text 1"/>
          <p:cNvSpPr/>
          <p:nvPr/>
        </p:nvSpPr>
        <p:spPr>
          <a:xfrm>
            <a:off x="731520" y="365760"/>
            <a:ext cx="2560320" cy="320040"/>
          </a:xfrm>
          <a:prstGeom prst="rect">
            <a:avLst/>
          </a:prstGeom>
          <a:noFill/>
          <a:ln/>
        </p:spPr>
        <p:txBody>
          <a:bodyPr wrap="square" rtlCol="0" anchor="ctr"/>
          <a:lstStyle/>
          <a:p>
            <a:pPr algn="ctr" indent="0" marL="0">
              <a:buNone/>
            </a:pPr>
            <a:r>
              <a:rPr lang="en-US" sz="950" b="1" dirty="0">
                <a:solidFill>
                  <a:srgbClr val="0F766E"/>
                </a:solidFill>
                <a:latin typeface="Segoe UI" pitchFamily="34" charset="0"/>
                <a:ea typeface="Segoe UI" pitchFamily="34" charset="-122"/>
                <a:cs typeface="Segoe UI" pitchFamily="34" charset="-120"/>
              </a:rPr>
              <a:t>PRODUCT PHILOSOPHY</a:t>
            </a:r>
            <a:endParaRPr lang="en-US" sz="950" dirty="0"/>
          </a:p>
        </p:txBody>
      </p:sp>
      <p:sp>
        <p:nvSpPr>
          <p:cNvPr id="4" name="Text 2"/>
          <p:cNvSpPr/>
          <p:nvPr/>
        </p:nvSpPr>
        <p:spPr>
          <a:xfrm>
            <a:off x="731520" y="749808"/>
            <a:ext cx="10698480" cy="41148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Product Philosophy &amp; Design Rationale</a:t>
            </a:r>
            <a:endParaRPr lang="en-US" sz="2200" dirty="0"/>
          </a:p>
        </p:txBody>
      </p:sp>
      <p:sp>
        <p:nvSpPr>
          <p:cNvPr id="5" name="Text 3"/>
          <p:cNvSpPr/>
          <p:nvPr/>
        </p:nvSpPr>
        <p:spPr>
          <a:xfrm>
            <a:off x="731520" y="1188720"/>
            <a:ext cx="10698480" cy="274320"/>
          </a:xfrm>
          <a:prstGeom prst="rect">
            <a:avLst/>
          </a:prstGeom>
          <a:noFill/>
          <a:ln/>
        </p:spPr>
        <p:txBody>
          <a:bodyPr wrap="square" rtlCol="0" anchor="t"/>
          <a:lstStyle/>
          <a:p>
            <a:pPr indent="0" marL="0">
              <a:buNone/>
            </a:pPr>
            <a:r>
              <a:rPr lang="en-US" sz="1100" dirty="0">
                <a:solidFill>
                  <a:srgbClr val="64748B"/>
                </a:solidFill>
                <a:latin typeface="Segoe UI" pitchFamily="34" charset="0"/>
                <a:ea typeface="Segoe UI" pitchFamily="34" charset="-122"/>
                <a:cs typeface="Segoe UI" pitchFamily="34" charset="-120"/>
              </a:rPr>
              <a:t>Purpose-built for a single-doctor practice: speed, simplicity, and clinical safety</a:t>
            </a:r>
            <a:endParaRPr lang="en-US" sz="1100" dirty="0"/>
          </a:p>
        </p:txBody>
      </p:sp>
      <p:sp>
        <p:nvSpPr>
          <p:cNvPr id="6" name="Shape 4"/>
          <p:cNvSpPr/>
          <p:nvPr/>
        </p:nvSpPr>
        <p:spPr>
          <a:xfrm>
            <a:off x="731520" y="1554480"/>
            <a:ext cx="3383280" cy="4663440"/>
          </a:xfrm>
          <a:prstGeom prst="roundRect">
            <a:avLst>
              <a:gd name="adj" fmla="val 2703"/>
            </a:avLst>
          </a:prstGeom>
          <a:solidFill>
            <a:srgbClr val="FFFFFF"/>
          </a:solidFill>
          <a:ln w="12700">
            <a:solidFill>
              <a:srgbClr val="E2E8F0"/>
            </a:solidFill>
            <a:prstDash val="solid"/>
          </a:ln>
        </p:spPr>
      </p:sp>
      <p:sp>
        <p:nvSpPr>
          <p:cNvPr id="7" name="Shape 5"/>
          <p:cNvSpPr/>
          <p:nvPr/>
        </p:nvSpPr>
        <p:spPr>
          <a:xfrm>
            <a:off x="1005840" y="1828800"/>
            <a:ext cx="1280160" cy="274320"/>
          </a:xfrm>
          <a:prstGeom prst="roundRect">
            <a:avLst>
              <a:gd name="adj" fmla="val 20000"/>
            </a:avLst>
          </a:prstGeom>
          <a:solidFill>
            <a:srgbClr val="F0FDFA"/>
          </a:solidFill>
          <a:ln w="12700">
            <a:solidFill>
              <a:srgbClr val="CCFBF1"/>
            </a:solidFill>
            <a:prstDash val="solid"/>
          </a:ln>
        </p:spPr>
      </p:sp>
      <p:sp>
        <p:nvSpPr>
          <p:cNvPr id="8" name="Text 6"/>
          <p:cNvSpPr/>
          <p:nvPr/>
        </p:nvSpPr>
        <p:spPr>
          <a:xfrm>
            <a:off x="1005840" y="1828800"/>
            <a:ext cx="1280160" cy="274320"/>
          </a:xfrm>
          <a:prstGeom prst="rect">
            <a:avLst/>
          </a:prstGeom>
          <a:noFill/>
          <a:ln/>
        </p:spPr>
        <p:txBody>
          <a:bodyPr wrap="square" rtlCol="0" anchor="ctr"/>
          <a:lstStyle/>
          <a:p>
            <a:pPr algn="ctr" indent="0" marL="0">
              <a:buNone/>
            </a:pPr>
            <a:r>
              <a:rPr lang="en-US" sz="900" b="1" dirty="0">
                <a:solidFill>
                  <a:srgbClr val="0F766E"/>
                </a:solidFill>
                <a:latin typeface="Segoe UI" pitchFamily="34" charset="0"/>
                <a:ea typeface="Segoe UI" pitchFamily="34" charset="-122"/>
                <a:cs typeface="Segoe UI" pitchFamily="34" charset="-120"/>
              </a:rPr>
              <a:t>PILLAR 1</a:t>
            </a:r>
            <a:endParaRPr lang="en-US" sz="900" dirty="0"/>
          </a:p>
        </p:txBody>
      </p:sp>
      <p:sp>
        <p:nvSpPr>
          <p:cNvPr id="9" name="Text 7"/>
          <p:cNvSpPr/>
          <p:nvPr/>
        </p:nvSpPr>
        <p:spPr>
          <a:xfrm>
            <a:off x="1005840" y="2286000"/>
            <a:ext cx="2834640" cy="411480"/>
          </a:xfrm>
          <a:prstGeom prst="rect">
            <a:avLst/>
          </a:prstGeom>
          <a:noFill/>
          <a:ln/>
        </p:spPr>
        <p:txBody>
          <a:bodyPr wrap="square" rtlCol="0" anchor="ctr"/>
          <a:lstStyle/>
          <a:p>
            <a:pPr indent="0" marL="0">
              <a:buNone/>
            </a:pPr>
            <a:r>
              <a:rPr lang="en-US" sz="1200" b="1" dirty="0">
                <a:solidFill>
                  <a:srgbClr val="0F172A"/>
                </a:solidFill>
                <a:latin typeface="Segoe UI" pitchFamily="34" charset="0"/>
                <a:ea typeface="Segoe UI" pitchFamily="34" charset="-122"/>
                <a:cs typeface="Segoe UI" pitchFamily="34" charset="-120"/>
              </a:rPr>
              <a:t>REJECTING ENTERPRISE BLOAT</a:t>
            </a:r>
            <a:endParaRPr lang="en-US" sz="1200" dirty="0"/>
          </a:p>
        </p:txBody>
      </p:sp>
      <p:sp>
        <p:nvSpPr>
          <p:cNvPr id="10" name="Text 8"/>
          <p:cNvSpPr/>
          <p:nvPr/>
        </p:nvSpPr>
        <p:spPr>
          <a:xfrm>
            <a:off x="1005840" y="2834640"/>
            <a:ext cx="2834640" cy="3108960"/>
          </a:xfrm>
          <a:prstGeom prst="rect">
            <a:avLst/>
          </a:prstGeom>
          <a:noFill/>
          <a:ln/>
        </p:spPr>
        <p:txBody>
          <a:bodyPr wrap="square" rtlCol="0" anchor="ctr"/>
          <a:lstStyle/>
          <a:p>
            <a:pPr indent="0" marL="0">
              <a:lnSpc>
                <a:spcPts val="1800"/>
              </a:lnSpc>
              <a:buNone/>
            </a:pPr>
            <a:r>
              <a:rPr lang="en-US" sz="1050" dirty="0">
                <a:solidFill>
                  <a:srgbClr val="334155"/>
                </a:solidFill>
                <a:latin typeface="Segoe UI" pitchFamily="34" charset="0"/>
                <a:ea typeface="Segoe UI" pitchFamily="34" charset="-122"/>
                <a:cs typeface="Segoe UI" pitchFamily="34" charset="-120"/>
              </a:rPr>
              <a:t>Monolithic hospital software imposes dozens of mandatory administrative fields. Prasad Dental Care HMIS collects strictly vital demographic and medical alert data, ensuring registration takes seconds, not minutes.</a:t>
            </a:r>
            <a:endParaRPr lang="en-US" sz="1050" dirty="0"/>
          </a:p>
        </p:txBody>
      </p:sp>
      <p:sp>
        <p:nvSpPr>
          <p:cNvPr id="11" name="Shape 9"/>
          <p:cNvSpPr/>
          <p:nvPr/>
        </p:nvSpPr>
        <p:spPr>
          <a:xfrm>
            <a:off x="4389120" y="1554480"/>
            <a:ext cx="3383280" cy="4663440"/>
          </a:xfrm>
          <a:prstGeom prst="roundRect">
            <a:avLst>
              <a:gd name="adj" fmla="val 2703"/>
            </a:avLst>
          </a:prstGeom>
          <a:solidFill>
            <a:srgbClr val="FFFFFF"/>
          </a:solidFill>
          <a:ln w="12700">
            <a:solidFill>
              <a:srgbClr val="E2E8F0"/>
            </a:solidFill>
            <a:prstDash val="solid"/>
          </a:ln>
        </p:spPr>
      </p:sp>
      <p:sp>
        <p:nvSpPr>
          <p:cNvPr id="12" name="Shape 10"/>
          <p:cNvSpPr/>
          <p:nvPr/>
        </p:nvSpPr>
        <p:spPr>
          <a:xfrm>
            <a:off x="4663440" y="1828800"/>
            <a:ext cx="1280160" cy="274320"/>
          </a:xfrm>
          <a:prstGeom prst="roundRect">
            <a:avLst>
              <a:gd name="adj" fmla="val 20000"/>
            </a:avLst>
          </a:prstGeom>
          <a:solidFill>
            <a:srgbClr val="F0FDFA"/>
          </a:solidFill>
          <a:ln w="12700">
            <a:solidFill>
              <a:srgbClr val="CCFBF1"/>
            </a:solidFill>
            <a:prstDash val="solid"/>
          </a:ln>
        </p:spPr>
      </p:sp>
      <p:sp>
        <p:nvSpPr>
          <p:cNvPr id="13" name="Text 11"/>
          <p:cNvSpPr/>
          <p:nvPr/>
        </p:nvSpPr>
        <p:spPr>
          <a:xfrm>
            <a:off x="4663440" y="1828800"/>
            <a:ext cx="1280160" cy="274320"/>
          </a:xfrm>
          <a:prstGeom prst="rect">
            <a:avLst/>
          </a:prstGeom>
          <a:noFill/>
          <a:ln/>
        </p:spPr>
        <p:txBody>
          <a:bodyPr wrap="square" rtlCol="0" anchor="ctr"/>
          <a:lstStyle/>
          <a:p>
            <a:pPr algn="ctr" indent="0" marL="0">
              <a:buNone/>
            </a:pPr>
            <a:r>
              <a:rPr lang="en-US" sz="900" b="1" dirty="0">
                <a:solidFill>
                  <a:srgbClr val="0F766E"/>
                </a:solidFill>
                <a:latin typeface="Segoe UI" pitchFamily="34" charset="0"/>
                <a:ea typeface="Segoe UI" pitchFamily="34" charset="-122"/>
                <a:cs typeface="Segoe UI" pitchFamily="34" charset="-120"/>
              </a:rPr>
              <a:t>PILLAR 2</a:t>
            </a:r>
            <a:endParaRPr lang="en-US" sz="900" dirty="0"/>
          </a:p>
        </p:txBody>
      </p:sp>
      <p:sp>
        <p:nvSpPr>
          <p:cNvPr id="14" name="Text 12"/>
          <p:cNvSpPr/>
          <p:nvPr/>
        </p:nvSpPr>
        <p:spPr>
          <a:xfrm>
            <a:off x="4663440" y="2286000"/>
            <a:ext cx="2834640" cy="411480"/>
          </a:xfrm>
          <a:prstGeom prst="rect">
            <a:avLst/>
          </a:prstGeom>
          <a:noFill/>
          <a:ln/>
        </p:spPr>
        <p:txBody>
          <a:bodyPr wrap="square" rtlCol="0" anchor="ctr"/>
          <a:lstStyle/>
          <a:p>
            <a:pPr indent="0" marL="0">
              <a:buNone/>
            </a:pPr>
            <a:r>
              <a:rPr lang="en-US" sz="1200" b="1" dirty="0">
                <a:solidFill>
                  <a:srgbClr val="0F172A"/>
                </a:solidFill>
                <a:latin typeface="Segoe UI" pitchFamily="34" charset="0"/>
                <a:ea typeface="Segoe UI" pitchFamily="34" charset="-122"/>
                <a:cs typeface="Segoe UI" pitchFamily="34" charset="-120"/>
              </a:rPr>
              <a:t>CHAIRSIDE OPERATORY SPEED</a:t>
            </a:r>
            <a:endParaRPr lang="en-US" sz="1200" dirty="0"/>
          </a:p>
        </p:txBody>
      </p:sp>
      <p:sp>
        <p:nvSpPr>
          <p:cNvPr id="15" name="Text 13"/>
          <p:cNvSpPr/>
          <p:nvPr/>
        </p:nvSpPr>
        <p:spPr>
          <a:xfrm>
            <a:off x="4663440" y="2834640"/>
            <a:ext cx="2834640" cy="3108960"/>
          </a:xfrm>
          <a:prstGeom prst="rect">
            <a:avLst/>
          </a:prstGeom>
          <a:noFill/>
          <a:ln/>
        </p:spPr>
        <p:txBody>
          <a:bodyPr wrap="square" rtlCol="0" anchor="ctr"/>
          <a:lstStyle/>
          <a:p>
            <a:pPr indent="0" marL="0">
              <a:lnSpc>
                <a:spcPts val="1800"/>
              </a:lnSpc>
              <a:buNone/>
            </a:pPr>
            <a:r>
              <a:rPr lang="en-US" sz="1050" dirty="0">
                <a:solidFill>
                  <a:srgbClr val="334155"/>
                </a:solidFill>
                <a:latin typeface="Segoe UI" pitchFamily="34" charset="0"/>
                <a:ea typeface="Segoe UI" pitchFamily="34" charset="-122"/>
                <a:cs typeface="Segoe UI" pitchFamily="34" charset="-120"/>
              </a:rPr>
              <a:t>Dr. Hemanth Kumar cannot type paragraphs while wearing sterile gloves. The interactive FDI tooth chart and standardized dental formulary allow findings and prescriptions to be documented in a few clicks.</a:t>
            </a:r>
            <a:endParaRPr lang="en-US" sz="1050" dirty="0"/>
          </a:p>
        </p:txBody>
      </p:sp>
      <p:sp>
        <p:nvSpPr>
          <p:cNvPr id="16" name="Shape 14"/>
          <p:cNvSpPr/>
          <p:nvPr/>
        </p:nvSpPr>
        <p:spPr>
          <a:xfrm>
            <a:off x="8046720" y="1554480"/>
            <a:ext cx="3383280" cy="4663440"/>
          </a:xfrm>
          <a:prstGeom prst="roundRect">
            <a:avLst>
              <a:gd name="adj" fmla="val 2703"/>
            </a:avLst>
          </a:prstGeom>
          <a:solidFill>
            <a:srgbClr val="FFFFFF"/>
          </a:solidFill>
          <a:ln w="12700">
            <a:solidFill>
              <a:srgbClr val="E2E8F0"/>
            </a:solidFill>
            <a:prstDash val="solid"/>
          </a:ln>
        </p:spPr>
      </p:sp>
      <p:sp>
        <p:nvSpPr>
          <p:cNvPr id="17" name="Shape 15"/>
          <p:cNvSpPr/>
          <p:nvPr/>
        </p:nvSpPr>
        <p:spPr>
          <a:xfrm>
            <a:off x="8321040" y="1828800"/>
            <a:ext cx="1280160" cy="274320"/>
          </a:xfrm>
          <a:prstGeom prst="roundRect">
            <a:avLst>
              <a:gd name="adj" fmla="val 20000"/>
            </a:avLst>
          </a:prstGeom>
          <a:solidFill>
            <a:srgbClr val="F0FDFA"/>
          </a:solidFill>
          <a:ln w="12700">
            <a:solidFill>
              <a:srgbClr val="CCFBF1"/>
            </a:solidFill>
            <a:prstDash val="solid"/>
          </a:ln>
        </p:spPr>
      </p:sp>
      <p:sp>
        <p:nvSpPr>
          <p:cNvPr id="18" name="Text 16"/>
          <p:cNvSpPr/>
          <p:nvPr/>
        </p:nvSpPr>
        <p:spPr>
          <a:xfrm>
            <a:off x="8321040" y="1828800"/>
            <a:ext cx="1280160" cy="274320"/>
          </a:xfrm>
          <a:prstGeom prst="rect">
            <a:avLst/>
          </a:prstGeom>
          <a:noFill/>
          <a:ln/>
        </p:spPr>
        <p:txBody>
          <a:bodyPr wrap="square" rtlCol="0" anchor="ctr"/>
          <a:lstStyle/>
          <a:p>
            <a:pPr algn="ctr" indent="0" marL="0">
              <a:buNone/>
            </a:pPr>
            <a:r>
              <a:rPr lang="en-US" sz="900" b="1" dirty="0">
                <a:solidFill>
                  <a:srgbClr val="0F766E"/>
                </a:solidFill>
                <a:latin typeface="Segoe UI" pitchFamily="34" charset="0"/>
                <a:ea typeface="Segoe UI" pitchFamily="34" charset="-122"/>
                <a:cs typeface="Segoe UI" pitchFamily="34" charset="-120"/>
              </a:rPr>
              <a:t>PILLAR 3</a:t>
            </a:r>
            <a:endParaRPr lang="en-US" sz="900" dirty="0"/>
          </a:p>
        </p:txBody>
      </p:sp>
      <p:sp>
        <p:nvSpPr>
          <p:cNvPr id="19" name="Text 17"/>
          <p:cNvSpPr/>
          <p:nvPr/>
        </p:nvSpPr>
        <p:spPr>
          <a:xfrm>
            <a:off x="8321040" y="2286000"/>
            <a:ext cx="2834640" cy="411480"/>
          </a:xfrm>
          <a:prstGeom prst="rect">
            <a:avLst/>
          </a:prstGeom>
          <a:noFill/>
          <a:ln/>
        </p:spPr>
        <p:txBody>
          <a:bodyPr wrap="square" rtlCol="0" anchor="ctr"/>
          <a:lstStyle/>
          <a:p>
            <a:pPr indent="0" marL="0">
              <a:buNone/>
            </a:pPr>
            <a:r>
              <a:rPr lang="en-US" sz="1200" b="1" dirty="0">
                <a:solidFill>
                  <a:srgbClr val="0F172A"/>
                </a:solidFill>
                <a:latin typeface="Segoe UI" pitchFamily="34" charset="0"/>
                <a:ea typeface="Segoe UI" pitchFamily="34" charset="-122"/>
                <a:cs typeface="Segoe UI" pitchFamily="34" charset="-120"/>
              </a:rPr>
              <a:t>DATA IMMUTABILITY &amp; ISOLATION</a:t>
            </a:r>
            <a:endParaRPr lang="en-US" sz="1200" dirty="0"/>
          </a:p>
        </p:txBody>
      </p:sp>
      <p:sp>
        <p:nvSpPr>
          <p:cNvPr id="20" name="Text 18"/>
          <p:cNvSpPr/>
          <p:nvPr/>
        </p:nvSpPr>
        <p:spPr>
          <a:xfrm>
            <a:off x="8321040" y="2834640"/>
            <a:ext cx="2834640" cy="3108960"/>
          </a:xfrm>
          <a:prstGeom prst="rect">
            <a:avLst/>
          </a:prstGeom>
          <a:noFill/>
          <a:ln/>
        </p:spPr>
        <p:txBody>
          <a:bodyPr wrap="square" rtlCol="0" anchor="ctr"/>
          <a:lstStyle/>
          <a:p>
            <a:pPr indent="0" marL="0">
              <a:lnSpc>
                <a:spcPts val="1800"/>
              </a:lnSpc>
              <a:buNone/>
            </a:pPr>
            <a:r>
              <a:rPr lang="en-US" sz="1050" dirty="0">
                <a:solidFill>
                  <a:srgbClr val="334155"/>
                </a:solidFill>
                <a:latin typeface="Segoe UI" pitchFamily="34" charset="0"/>
                <a:ea typeface="Segoe UI" pitchFamily="34" charset="-122"/>
                <a:cs typeface="Segoe UI" pitchFamily="34" charset="-120"/>
              </a:rPr>
              <a:t>Prescriptions are legal medical documents. PostgreSQL Row Level Security enforces database-level immutability upon finalization, preventing tampering and guaranteeing strict cross-patient privacy.</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365760"/>
            <a:ext cx="2560320" cy="320040"/>
          </a:xfrm>
          <a:prstGeom prst="roundRect">
            <a:avLst>
              <a:gd name="adj" fmla="val 22857"/>
            </a:avLst>
          </a:prstGeom>
          <a:solidFill>
            <a:srgbClr val="F0FDFA"/>
          </a:solidFill>
          <a:ln w="12700">
            <a:solidFill>
              <a:srgbClr val="CCFBF1"/>
            </a:solidFill>
            <a:prstDash val="solid"/>
          </a:ln>
        </p:spPr>
      </p:sp>
      <p:sp>
        <p:nvSpPr>
          <p:cNvPr id="3" name="Text 1"/>
          <p:cNvSpPr/>
          <p:nvPr/>
        </p:nvSpPr>
        <p:spPr>
          <a:xfrm>
            <a:off x="731520" y="365760"/>
            <a:ext cx="2560320" cy="320040"/>
          </a:xfrm>
          <a:prstGeom prst="rect">
            <a:avLst/>
          </a:prstGeom>
          <a:noFill/>
          <a:ln/>
        </p:spPr>
        <p:txBody>
          <a:bodyPr wrap="square" rtlCol="0" anchor="ctr"/>
          <a:lstStyle/>
          <a:p>
            <a:pPr algn="ctr" indent="0" marL="0">
              <a:buNone/>
            </a:pPr>
            <a:r>
              <a:rPr lang="en-US" sz="950" b="1" dirty="0">
                <a:solidFill>
                  <a:srgbClr val="0F766E"/>
                </a:solidFill>
                <a:latin typeface="Segoe UI" pitchFamily="34" charset="0"/>
                <a:ea typeface="Segoe UI" pitchFamily="34" charset="-122"/>
                <a:cs typeface="Segoe UI" pitchFamily="34" charset="-120"/>
              </a:rPr>
              <a:t>ARCHITECTURE</a:t>
            </a:r>
            <a:endParaRPr lang="en-US" sz="950" dirty="0"/>
          </a:p>
        </p:txBody>
      </p:sp>
      <p:sp>
        <p:nvSpPr>
          <p:cNvPr id="4" name="Text 2"/>
          <p:cNvSpPr/>
          <p:nvPr/>
        </p:nvSpPr>
        <p:spPr>
          <a:xfrm>
            <a:off x="731520" y="749808"/>
            <a:ext cx="10698480" cy="41148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System Architecture &amp; Cloud-Native Technology Stack</a:t>
            </a:r>
            <a:endParaRPr lang="en-US" sz="2200" dirty="0"/>
          </a:p>
        </p:txBody>
      </p:sp>
      <p:sp>
        <p:nvSpPr>
          <p:cNvPr id="5" name="Text 3"/>
          <p:cNvSpPr/>
          <p:nvPr/>
        </p:nvSpPr>
        <p:spPr>
          <a:xfrm>
            <a:off x="731520" y="1188720"/>
            <a:ext cx="10698480" cy="274320"/>
          </a:xfrm>
          <a:prstGeom prst="rect">
            <a:avLst/>
          </a:prstGeom>
          <a:noFill/>
          <a:ln/>
        </p:spPr>
        <p:txBody>
          <a:bodyPr wrap="square" rtlCol="0" anchor="t"/>
          <a:lstStyle/>
          <a:p>
            <a:pPr indent="0" marL="0">
              <a:buNone/>
            </a:pPr>
            <a:r>
              <a:rPr lang="en-US" sz="1100" dirty="0">
                <a:solidFill>
                  <a:srgbClr val="64748B"/>
                </a:solidFill>
                <a:latin typeface="Segoe UI" pitchFamily="34" charset="0"/>
                <a:ea typeface="Segoe UI" pitchFamily="34" charset="-122"/>
                <a:cs typeface="Segoe UI" pitchFamily="34" charset="-120"/>
              </a:rPr>
              <a:t>High-performance, secure, and zero-maintenance architecture</a:t>
            </a:r>
            <a:endParaRPr lang="en-US" sz="1100" dirty="0"/>
          </a:p>
        </p:txBody>
      </p:sp>
      <p:sp>
        <p:nvSpPr>
          <p:cNvPr id="6" name="Shape 4"/>
          <p:cNvSpPr/>
          <p:nvPr/>
        </p:nvSpPr>
        <p:spPr>
          <a:xfrm>
            <a:off x="731520" y="1554480"/>
            <a:ext cx="3383280" cy="4663440"/>
          </a:xfrm>
          <a:prstGeom prst="roundRect">
            <a:avLst>
              <a:gd name="adj" fmla="val 2703"/>
            </a:avLst>
          </a:prstGeom>
          <a:solidFill>
            <a:srgbClr val="FFFFFF"/>
          </a:solidFill>
          <a:ln w="12700">
            <a:solidFill>
              <a:srgbClr val="E2E8F0"/>
            </a:solidFill>
            <a:prstDash val="solid"/>
          </a:ln>
        </p:spPr>
      </p:sp>
      <p:sp>
        <p:nvSpPr>
          <p:cNvPr id="7" name="Shape 5"/>
          <p:cNvSpPr/>
          <p:nvPr/>
        </p:nvSpPr>
        <p:spPr>
          <a:xfrm>
            <a:off x="1005840" y="1828800"/>
            <a:ext cx="2834640" cy="274320"/>
          </a:xfrm>
          <a:prstGeom prst="roundRect">
            <a:avLst>
              <a:gd name="adj" fmla="val 20000"/>
            </a:avLst>
          </a:prstGeom>
          <a:solidFill>
            <a:srgbClr val="F0FDFA"/>
          </a:solidFill>
          <a:ln w="12700">
            <a:solidFill>
              <a:srgbClr val="CCFBF1"/>
            </a:solidFill>
            <a:prstDash val="solid"/>
          </a:ln>
        </p:spPr>
      </p:sp>
      <p:sp>
        <p:nvSpPr>
          <p:cNvPr id="8" name="Text 6"/>
          <p:cNvSpPr/>
          <p:nvPr/>
        </p:nvSpPr>
        <p:spPr>
          <a:xfrm>
            <a:off x="1005840" y="1828800"/>
            <a:ext cx="2834640" cy="274320"/>
          </a:xfrm>
          <a:prstGeom prst="rect">
            <a:avLst/>
          </a:prstGeom>
          <a:noFill/>
          <a:ln/>
        </p:spPr>
        <p:txBody>
          <a:bodyPr wrap="square" rtlCol="0" anchor="ctr"/>
          <a:lstStyle/>
          <a:p>
            <a:pPr algn="ctr" indent="0" marL="0">
              <a:buNone/>
            </a:pPr>
            <a:r>
              <a:rPr lang="en-US" sz="900" b="1" dirty="0">
                <a:solidFill>
                  <a:srgbClr val="0F766E"/>
                </a:solidFill>
                <a:latin typeface="Segoe UI" pitchFamily="34" charset="0"/>
                <a:ea typeface="Segoe UI" pitchFamily="34" charset="-122"/>
                <a:cs typeface="Segoe UI" pitchFamily="34" charset="-120"/>
              </a:rPr>
              <a:t>REACT 18 + VITE</a:t>
            </a:r>
            <a:endParaRPr lang="en-US" sz="900" dirty="0"/>
          </a:p>
        </p:txBody>
      </p:sp>
      <p:sp>
        <p:nvSpPr>
          <p:cNvPr id="9" name="Text 7"/>
          <p:cNvSpPr/>
          <p:nvPr/>
        </p:nvSpPr>
        <p:spPr>
          <a:xfrm>
            <a:off x="1005840" y="2240280"/>
            <a:ext cx="2834640" cy="365760"/>
          </a:xfrm>
          <a:prstGeom prst="rect">
            <a:avLst/>
          </a:prstGeom>
          <a:noFill/>
          <a:ln/>
        </p:spPr>
        <p:txBody>
          <a:bodyPr wrap="square" rtlCol="0" anchor="ctr"/>
          <a:lstStyle/>
          <a:p>
            <a:pPr indent="0" marL="0">
              <a:buNone/>
            </a:pPr>
            <a:r>
              <a:rPr lang="en-US" sz="1200" b="1" dirty="0">
                <a:solidFill>
                  <a:srgbClr val="0F172A"/>
                </a:solidFill>
                <a:latin typeface="Segoe UI" pitchFamily="34" charset="0"/>
                <a:ea typeface="Segoe UI" pitchFamily="34" charset="-122"/>
                <a:cs typeface="Segoe UI" pitchFamily="34" charset="-120"/>
              </a:rPr>
              <a:t>FRONTEND SPA LAYER</a:t>
            </a:r>
            <a:endParaRPr lang="en-US" sz="1200" dirty="0"/>
          </a:p>
        </p:txBody>
      </p:sp>
      <p:sp>
        <p:nvSpPr>
          <p:cNvPr id="10" name="Text 8"/>
          <p:cNvSpPr/>
          <p:nvPr/>
        </p:nvSpPr>
        <p:spPr>
          <a:xfrm>
            <a:off x="1005840" y="2743200"/>
            <a:ext cx="2834640" cy="3200400"/>
          </a:xfrm>
          <a:prstGeom prst="rect">
            <a:avLst/>
          </a:prstGeom>
          <a:noFill/>
          <a:ln/>
        </p:spPr>
        <p:txBody>
          <a:bodyPr wrap="square" rtlCol="0" anchor="ctr"/>
          <a:lstStyle/>
          <a:p>
            <a:pPr indent="0" marL="0">
              <a:lnSpc>
                <a:spcPts val="1600"/>
              </a:lnSpc>
              <a:buNone/>
            </a:pPr>
            <a:r>
              <a:rPr lang="en-US" sz="1000" dirty="0">
                <a:solidFill>
                  <a:srgbClr val="334155"/>
                </a:solidFill>
                <a:latin typeface="Segoe UI" pitchFamily="34" charset="0"/>
                <a:ea typeface="Segoe UI" pitchFamily="34" charset="-122"/>
                <a:cs typeface="Segoe UI" pitchFamily="34" charset="-120"/>
              </a:rPr>
              <a:t>• React 18 with TypeScript 5.5 for static type safety.
</a:t>
            </a:r>
            <a:pPr indent="0" marL="0">
              <a:lnSpc>
                <a:spcPts val="1600"/>
              </a:lnSpc>
              <a:buNone/>
            </a:pPr>
            <a:r>
              <a:rPr lang="en-US" sz="1000" dirty="0">
                <a:solidFill>
                  <a:srgbClr val="334155"/>
                </a:solidFill>
                <a:latin typeface="Segoe UI" pitchFamily="34" charset="0"/>
                <a:ea typeface="Segoe UI" pitchFamily="34" charset="-122"/>
                <a:cs typeface="Segoe UI" pitchFamily="34" charset="-120"/>
              </a:rPr>
              <a:t>• Vite 5.4 build engine producing a lightweight bundle (&lt;600kB gzip).
</a:t>
            </a:r>
            <a:pPr indent="0" marL="0">
              <a:lnSpc>
                <a:spcPts val="1600"/>
              </a:lnSpc>
              <a:buNone/>
            </a:pPr>
            <a:r>
              <a:rPr lang="en-US" sz="1000" dirty="0">
                <a:solidFill>
                  <a:srgbClr val="334155"/>
                </a:solidFill>
                <a:latin typeface="Segoe UI" pitchFamily="34" charset="0"/>
                <a:ea typeface="Segoe UI" pitchFamily="34" charset="-122"/>
                <a:cs typeface="Segoe UI" pitchFamily="34" charset="-120"/>
              </a:rPr>
              <a:t>• Tailwind CSS design system providing accessible healthcare contrast.
</a:t>
            </a:r>
            <a:pPr indent="0" marL="0">
              <a:lnSpc>
                <a:spcPts val="1600"/>
              </a:lnSpc>
              <a:buNone/>
            </a:pPr>
            <a:r>
              <a:rPr lang="en-US" sz="1000" dirty="0">
                <a:solidFill>
                  <a:srgbClr val="334155"/>
                </a:solidFill>
                <a:latin typeface="Segoe UI" pitchFamily="34" charset="0"/>
                <a:ea typeface="Segoe UI" pitchFamily="34" charset="-122"/>
                <a:cs typeface="Segoe UI" pitchFamily="34" charset="-120"/>
              </a:rPr>
              <a:t>• React Router DOM v6 with role-protected route guards.
</a:t>
            </a:r>
            <a:endParaRPr lang="en-US" sz="1000" dirty="0"/>
          </a:p>
        </p:txBody>
      </p:sp>
      <p:sp>
        <p:nvSpPr>
          <p:cNvPr id="11" name="Shape 9"/>
          <p:cNvSpPr/>
          <p:nvPr/>
        </p:nvSpPr>
        <p:spPr>
          <a:xfrm>
            <a:off x="4389120" y="1554480"/>
            <a:ext cx="3383280" cy="4663440"/>
          </a:xfrm>
          <a:prstGeom prst="roundRect">
            <a:avLst>
              <a:gd name="adj" fmla="val 2703"/>
            </a:avLst>
          </a:prstGeom>
          <a:solidFill>
            <a:srgbClr val="FFFFFF"/>
          </a:solidFill>
          <a:ln w="12700">
            <a:solidFill>
              <a:srgbClr val="E2E8F0"/>
            </a:solidFill>
            <a:prstDash val="solid"/>
          </a:ln>
        </p:spPr>
      </p:sp>
      <p:sp>
        <p:nvSpPr>
          <p:cNvPr id="12" name="Shape 10"/>
          <p:cNvSpPr/>
          <p:nvPr/>
        </p:nvSpPr>
        <p:spPr>
          <a:xfrm>
            <a:off x="4663440" y="1828800"/>
            <a:ext cx="2834640" cy="274320"/>
          </a:xfrm>
          <a:prstGeom prst="roundRect">
            <a:avLst>
              <a:gd name="adj" fmla="val 20000"/>
            </a:avLst>
          </a:prstGeom>
          <a:solidFill>
            <a:srgbClr val="F0FDFA"/>
          </a:solidFill>
          <a:ln w="12700">
            <a:solidFill>
              <a:srgbClr val="CCFBF1"/>
            </a:solidFill>
            <a:prstDash val="solid"/>
          </a:ln>
        </p:spPr>
      </p:sp>
      <p:sp>
        <p:nvSpPr>
          <p:cNvPr id="13" name="Text 11"/>
          <p:cNvSpPr/>
          <p:nvPr/>
        </p:nvSpPr>
        <p:spPr>
          <a:xfrm>
            <a:off x="4663440" y="1828800"/>
            <a:ext cx="2834640" cy="274320"/>
          </a:xfrm>
          <a:prstGeom prst="rect">
            <a:avLst/>
          </a:prstGeom>
          <a:noFill/>
          <a:ln/>
        </p:spPr>
        <p:txBody>
          <a:bodyPr wrap="square" rtlCol="0" anchor="ctr"/>
          <a:lstStyle/>
          <a:p>
            <a:pPr algn="ctr" indent="0" marL="0">
              <a:buNone/>
            </a:pPr>
            <a:r>
              <a:rPr lang="en-US" sz="900" b="1" dirty="0">
                <a:solidFill>
                  <a:srgbClr val="0F766E"/>
                </a:solidFill>
                <a:latin typeface="Segoe UI" pitchFamily="34" charset="0"/>
                <a:ea typeface="Segoe UI" pitchFamily="34" charset="-122"/>
                <a:cs typeface="Segoe UI" pitchFamily="34" charset="-120"/>
              </a:rPr>
              <a:t>SUPABASE POSTGRESQL 15</a:t>
            </a:r>
            <a:endParaRPr lang="en-US" sz="900" dirty="0"/>
          </a:p>
        </p:txBody>
      </p:sp>
      <p:sp>
        <p:nvSpPr>
          <p:cNvPr id="14" name="Text 12"/>
          <p:cNvSpPr/>
          <p:nvPr/>
        </p:nvSpPr>
        <p:spPr>
          <a:xfrm>
            <a:off x="4663440" y="2240280"/>
            <a:ext cx="2834640" cy="365760"/>
          </a:xfrm>
          <a:prstGeom prst="rect">
            <a:avLst/>
          </a:prstGeom>
          <a:noFill/>
          <a:ln/>
        </p:spPr>
        <p:txBody>
          <a:bodyPr wrap="square" rtlCol="0" anchor="ctr"/>
          <a:lstStyle/>
          <a:p>
            <a:pPr indent="0" marL="0">
              <a:buNone/>
            </a:pPr>
            <a:r>
              <a:rPr lang="en-US" sz="1200" b="1" dirty="0">
                <a:solidFill>
                  <a:srgbClr val="0F172A"/>
                </a:solidFill>
                <a:latin typeface="Segoe UI" pitchFamily="34" charset="0"/>
                <a:ea typeface="Segoe UI" pitchFamily="34" charset="-122"/>
                <a:cs typeface="Segoe UI" pitchFamily="34" charset="-120"/>
              </a:rPr>
              <a:t>DATABASE &amp; BACKEND</a:t>
            </a:r>
            <a:endParaRPr lang="en-US" sz="1200" dirty="0"/>
          </a:p>
        </p:txBody>
      </p:sp>
      <p:sp>
        <p:nvSpPr>
          <p:cNvPr id="15" name="Text 13"/>
          <p:cNvSpPr/>
          <p:nvPr/>
        </p:nvSpPr>
        <p:spPr>
          <a:xfrm>
            <a:off x="4663440" y="2743200"/>
            <a:ext cx="2834640" cy="3200400"/>
          </a:xfrm>
          <a:prstGeom prst="rect">
            <a:avLst/>
          </a:prstGeom>
          <a:noFill/>
          <a:ln/>
        </p:spPr>
        <p:txBody>
          <a:bodyPr wrap="square" rtlCol="0" anchor="ctr"/>
          <a:lstStyle/>
          <a:p>
            <a:pPr indent="0" marL="0">
              <a:lnSpc>
                <a:spcPts val="1600"/>
              </a:lnSpc>
              <a:buNone/>
            </a:pPr>
            <a:r>
              <a:rPr lang="en-US" sz="1000" dirty="0">
                <a:solidFill>
                  <a:srgbClr val="334155"/>
                </a:solidFill>
                <a:latin typeface="Segoe UI" pitchFamily="34" charset="0"/>
                <a:ea typeface="Segoe UI" pitchFamily="34" charset="-122"/>
                <a:cs typeface="Segoe UI" pitchFamily="34" charset="-120"/>
              </a:rPr>
              <a:t>• Relational schema across 10 tables with strict foreign key constraints.
</a:t>
            </a:r>
            <a:pPr indent="0" marL="0">
              <a:lnSpc>
                <a:spcPts val="1600"/>
              </a:lnSpc>
              <a:buNone/>
            </a:pPr>
            <a:r>
              <a:rPr lang="en-US" sz="1000" dirty="0">
                <a:solidFill>
                  <a:srgbClr val="334155"/>
                </a:solidFill>
                <a:latin typeface="Segoe UI" pitchFamily="34" charset="0"/>
                <a:ea typeface="Segoe UI" pitchFamily="34" charset="-122"/>
                <a:cs typeface="Segoe UI" pitchFamily="34" charset="-120"/>
              </a:rPr>
              <a:t>• Row Level Security (RLS) policies enforcing multi-tenant isolation.
</a:t>
            </a:r>
            <a:pPr indent="0" marL="0">
              <a:lnSpc>
                <a:spcPts val="1600"/>
              </a:lnSpc>
              <a:buNone/>
            </a:pPr>
            <a:r>
              <a:rPr lang="en-US" sz="1000" dirty="0">
                <a:solidFill>
                  <a:srgbClr val="334155"/>
                </a:solidFill>
                <a:latin typeface="Segoe UI" pitchFamily="34" charset="0"/>
                <a:ea typeface="Segoe UI" pitchFamily="34" charset="-122"/>
                <a:cs typeface="Segoe UI" pitchFamily="34" charset="-120"/>
              </a:rPr>
              <a:t>• Atomic PL/pgSQL RPCs for transactional patient provisioning.
</a:t>
            </a:r>
            <a:pPr indent="0" marL="0">
              <a:lnSpc>
                <a:spcPts val="1600"/>
              </a:lnSpc>
              <a:buNone/>
            </a:pPr>
            <a:r>
              <a:rPr lang="en-US" sz="1000" dirty="0">
                <a:solidFill>
                  <a:srgbClr val="334155"/>
                </a:solidFill>
                <a:latin typeface="Segoe UI" pitchFamily="34" charset="0"/>
                <a:ea typeface="Segoe UI" pitchFamily="34" charset="-122"/>
                <a:cs typeface="Segoe UI" pitchFamily="34" charset="-120"/>
              </a:rPr>
              <a:t>• Append-only immutable audit logging in public.audit_logs.
</a:t>
            </a:r>
            <a:endParaRPr lang="en-US" sz="1000" dirty="0"/>
          </a:p>
        </p:txBody>
      </p:sp>
      <p:sp>
        <p:nvSpPr>
          <p:cNvPr id="16" name="Shape 14"/>
          <p:cNvSpPr/>
          <p:nvPr/>
        </p:nvSpPr>
        <p:spPr>
          <a:xfrm>
            <a:off x="8046720" y="1554480"/>
            <a:ext cx="3383280" cy="4663440"/>
          </a:xfrm>
          <a:prstGeom prst="roundRect">
            <a:avLst>
              <a:gd name="adj" fmla="val 2703"/>
            </a:avLst>
          </a:prstGeom>
          <a:solidFill>
            <a:srgbClr val="FFFFFF"/>
          </a:solidFill>
          <a:ln w="12700">
            <a:solidFill>
              <a:srgbClr val="E2E8F0"/>
            </a:solidFill>
            <a:prstDash val="solid"/>
          </a:ln>
        </p:spPr>
      </p:sp>
      <p:sp>
        <p:nvSpPr>
          <p:cNvPr id="17" name="Shape 15"/>
          <p:cNvSpPr/>
          <p:nvPr/>
        </p:nvSpPr>
        <p:spPr>
          <a:xfrm>
            <a:off x="8321040" y="1828800"/>
            <a:ext cx="2834640" cy="274320"/>
          </a:xfrm>
          <a:prstGeom prst="roundRect">
            <a:avLst>
              <a:gd name="adj" fmla="val 20000"/>
            </a:avLst>
          </a:prstGeom>
          <a:solidFill>
            <a:srgbClr val="F0FDFA"/>
          </a:solidFill>
          <a:ln w="12700">
            <a:solidFill>
              <a:srgbClr val="CCFBF1"/>
            </a:solidFill>
            <a:prstDash val="solid"/>
          </a:ln>
        </p:spPr>
      </p:sp>
      <p:sp>
        <p:nvSpPr>
          <p:cNvPr id="18" name="Text 16"/>
          <p:cNvSpPr/>
          <p:nvPr/>
        </p:nvSpPr>
        <p:spPr>
          <a:xfrm>
            <a:off x="8321040" y="1828800"/>
            <a:ext cx="2834640" cy="274320"/>
          </a:xfrm>
          <a:prstGeom prst="rect">
            <a:avLst/>
          </a:prstGeom>
          <a:noFill/>
          <a:ln/>
        </p:spPr>
        <p:txBody>
          <a:bodyPr wrap="square" rtlCol="0" anchor="ctr"/>
          <a:lstStyle/>
          <a:p>
            <a:pPr algn="ctr" indent="0" marL="0">
              <a:buNone/>
            </a:pPr>
            <a:r>
              <a:rPr lang="en-US" sz="900" b="1" dirty="0">
                <a:solidFill>
                  <a:srgbClr val="0F766E"/>
                </a:solidFill>
                <a:latin typeface="Segoe UI" pitchFamily="34" charset="0"/>
                <a:ea typeface="Segoe UI" pitchFamily="34" charset="-122"/>
                <a:cs typeface="Segoe UI" pitchFamily="34" charset="-120"/>
              </a:rPr>
              <a:t>VERCEL + GOTRUE</a:t>
            </a:r>
            <a:endParaRPr lang="en-US" sz="900" dirty="0"/>
          </a:p>
        </p:txBody>
      </p:sp>
      <p:sp>
        <p:nvSpPr>
          <p:cNvPr id="19" name="Text 17"/>
          <p:cNvSpPr/>
          <p:nvPr/>
        </p:nvSpPr>
        <p:spPr>
          <a:xfrm>
            <a:off x="8321040" y="2240280"/>
            <a:ext cx="2834640" cy="365760"/>
          </a:xfrm>
          <a:prstGeom prst="rect">
            <a:avLst/>
          </a:prstGeom>
          <a:noFill/>
          <a:ln/>
        </p:spPr>
        <p:txBody>
          <a:bodyPr wrap="square" rtlCol="0" anchor="ctr"/>
          <a:lstStyle/>
          <a:p>
            <a:pPr indent="0" marL="0">
              <a:buNone/>
            </a:pPr>
            <a:r>
              <a:rPr lang="en-US" sz="1200" b="1" dirty="0">
                <a:solidFill>
                  <a:srgbClr val="0F172A"/>
                </a:solidFill>
                <a:latin typeface="Segoe UI" pitchFamily="34" charset="0"/>
                <a:ea typeface="Segoe UI" pitchFamily="34" charset="-122"/>
                <a:cs typeface="Segoe UI" pitchFamily="34" charset="-120"/>
              </a:rPr>
              <a:t>IDENTITY &amp; DEPLOYMENT</a:t>
            </a:r>
            <a:endParaRPr lang="en-US" sz="1200" dirty="0"/>
          </a:p>
        </p:txBody>
      </p:sp>
      <p:sp>
        <p:nvSpPr>
          <p:cNvPr id="20" name="Text 18"/>
          <p:cNvSpPr/>
          <p:nvPr/>
        </p:nvSpPr>
        <p:spPr>
          <a:xfrm>
            <a:off x="8321040" y="2743200"/>
            <a:ext cx="2834640" cy="3200400"/>
          </a:xfrm>
          <a:prstGeom prst="rect">
            <a:avLst/>
          </a:prstGeom>
          <a:noFill/>
          <a:ln/>
        </p:spPr>
        <p:txBody>
          <a:bodyPr wrap="square" rtlCol="0" anchor="ctr"/>
          <a:lstStyle/>
          <a:p>
            <a:pPr indent="0" marL="0">
              <a:lnSpc>
                <a:spcPts val="1600"/>
              </a:lnSpc>
              <a:buNone/>
            </a:pPr>
            <a:r>
              <a:rPr lang="en-US" sz="1000" dirty="0">
                <a:solidFill>
                  <a:srgbClr val="334155"/>
                </a:solidFill>
                <a:latin typeface="Segoe UI" pitchFamily="34" charset="0"/>
                <a:ea typeface="Segoe UI" pitchFamily="34" charset="-122"/>
                <a:cs typeface="Segoe UI" pitchFamily="34" charset="-120"/>
              </a:rPr>
              <a:t>• Supabase GoTrue JWT authentication with secure session restoration.
</a:t>
            </a:r>
            <a:pPr indent="0" marL="0">
              <a:lnSpc>
                <a:spcPts val="1600"/>
              </a:lnSpc>
              <a:buNone/>
            </a:pPr>
            <a:r>
              <a:rPr lang="en-US" sz="1000" dirty="0">
                <a:solidFill>
                  <a:srgbClr val="334155"/>
                </a:solidFill>
                <a:latin typeface="Segoe UI" pitchFamily="34" charset="0"/>
                <a:ea typeface="Segoe UI" pitchFamily="34" charset="-122"/>
                <a:cs typeface="Segoe UI" pitchFamily="34" charset="-120"/>
              </a:rPr>
              <a:t>• Vercel Global Edge Network deployment with custom SPA URL rewrites.
</a:t>
            </a:r>
            <a:pPr indent="0" marL="0">
              <a:lnSpc>
                <a:spcPts val="1600"/>
              </a:lnSpc>
              <a:buNone/>
            </a:pPr>
            <a:r>
              <a:rPr lang="en-US" sz="1000" dirty="0">
                <a:solidFill>
                  <a:srgbClr val="334155"/>
                </a:solidFill>
                <a:latin typeface="Segoe UI" pitchFamily="34" charset="0"/>
                <a:ea typeface="Segoe UI" pitchFamily="34" charset="-122"/>
                <a:cs typeface="Segoe UI" pitchFamily="34" charset="-120"/>
              </a:rPr>
              <a:t>• Serverless API endpoint (api/send-patient-email.ts) isolating secrets.
</a:t>
            </a:r>
            <a:pPr indent="0" marL="0">
              <a:lnSpc>
                <a:spcPts val="1600"/>
              </a:lnSpc>
              <a:buNone/>
            </a:pPr>
            <a:r>
              <a:rPr lang="en-US" sz="1000" dirty="0">
                <a:solidFill>
                  <a:srgbClr val="334155"/>
                </a:solidFill>
                <a:latin typeface="Segoe UI" pitchFamily="34" charset="0"/>
                <a:ea typeface="Segoe UI" pitchFamily="34" charset="-122"/>
                <a:cs typeface="Segoe UI" pitchFamily="34" charset="-120"/>
              </a:rPr>
              <a:t>• Cross-platform responsive support for mobile, tablet, and desktop.
</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365760"/>
            <a:ext cx="2560320" cy="320040"/>
          </a:xfrm>
          <a:prstGeom prst="roundRect">
            <a:avLst>
              <a:gd name="adj" fmla="val 22857"/>
            </a:avLst>
          </a:prstGeom>
          <a:solidFill>
            <a:srgbClr val="F0FDFA"/>
          </a:solidFill>
          <a:ln w="12700">
            <a:solidFill>
              <a:srgbClr val="CCFBF1"/>
            </a:solidFill>
            <a:prstDash val="solid"/>
          </a:ln>
        </p:spPr>
      </p:sp>
      <p:sp>
        <p:nvSpPr>
          <p:cNvPr id="3" name="Text 1"/>
          <p:cNvSpPr/>
          <p:nvPr/>
        </p:nvSpPr>
        <p:spPr>
          <a:xfrm>
            <a:off x="731520" y="365760"/>
            <a:ext cx="2560320" cy="320040"/>
          </a:xfrm>
          <a:prstGeom prst="rect">
            <a:avLst/>
          </a:prstGeom>
          <a:noFill/>
          <a:ln/>
        </p:spPr>
        <p:txBody>
          <a:bodyPr wrap="square" rtlCol="0" anchor="ctr"/>
          <a:lstStyle/>
          <a:p>
            <a:pPr algn="ctr" indent="0" marL="0">
              <a:buNone/>
            </a:pPr>
            <a:r>
              <a:rPr lang="en-US" sz="950" b="1" dirty="0">
                <a:solidFill>
                  <a:srgbClr val="0F766E"/>
                </a:solidFill>
                <a:latin typeface="Segoe UI" pitchFamily="34" charset="0"/>
                <a:ea typeface="Segoe UI" pitchFamily="34" charset="-122"/>
                <a:cs typeface="Segoe UI" pitchFamily="34" charset="-120"/>
              </a:rPr>
              <a:t>APPLICATION FEATURES</a:t>
            </a:r>
            <a:endParaRPr lang="en-US" sz="950" dirty="0"/>
          </a:p>
        </p:txBody>
      </p:sp>
      <p:sp>
        <p:nvSpPr>
          <p:cNvPr id="4" name="Text 2"/>
          <p:cNvSpPr/>
          <p:nvPr/>
        </p:nvSpPr>
        <p:spPr>
          <a:xfrm>
            <a:off x="731520" y="749808"/>
            <a:ext cx="10698480" cy="41148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Core System Modules &amp; Operational Capabilities</a:t>
            </a:r>
            <a:endParaRPr lang="en-US" sz="2200" dirty="0"/>
          </a:p>
        </p:txBody>
      </p:sp>
      <p:sp>
        <p:nvSpPr>
          <p:cNvPr id="5" name="Text 3"/>
          <p:cNvSpPr/>
          <p:nvPr/>
        </p:nvSpPr>
        <p:spPr>
          <a:xfrm>
            <a:off x="731520" y="1188720"/>
            <a:ext cx="10698480" cy="274320"/>
          </a:xfrm>
          <a:prstGeom prst="rect">
            <a:avLst/>
          </a:prstGeom>
          <a:noFill/>
          <a:ln/>
        </p:spPr>
        <p:txBody>
          <a:bodyPr wrap="square" rtlCol="0" anchor="t"/>
          <a:lstStyle/>
          <a:p>
            <a:pPr indent="0" marL="0">
              <a:buNone/>
            </a:pPr>
            <a:r>
              <a:rPr lang="en-US" sz="1100" dirty="0">
                <a:solidFill>
                  <a:srgbClr val="64748B"/>
                </a:solidFill>
                <a:latin typeface="Segoe UI" pitchFamily="34" charset="0"/>
                <a:ea typeface="Segoe UI" pitchFamily="34" charset="-122"/>
                <a:cs typeface="Segoe UI" pitchFamily="34" charset="-120"/>
              </a:rPr>
              <a:t>Four interconnected modules serving administrative and clinical operations</a:t>
            </a:r>
            <a:endParaRPr lang="en-US" sz="1100" dirty="0"/>
          </a:p>
        </p:txBody>
      </p:sp>
      <p:sp>
        <p:nvSpPr>
          <p:cNvPr id="6" name="Shape 4"/>
          <p:cNvSpPr/>
          <p:nvPr/>
        </p:nvSpPr>
        <p:spPr>
          <a:xfrm>
            <a:off x="731520" y="1554480"/>
            <a:ext cx="5212080" cy="2286000"/>
          </a:xfrm>
          <a:prstGeom prst="roundRect">
            <a:avLst>
              <a:gd name="adj" fmla="val 4000"/>
            </a:avLst>
          </a:prstGeom>
          <a:solidFill>
            <a:srgbClr val="FFFFFF"/>
          </a:solidFill>
          <a:ln w="12700">
            <a:solidFill>
              <a:srgbClr val="E2E8F0"/>
            </a:solidFill>
            <a:prstDash val="solid"/>
          </a:ln>
        </p:spPr>
      </p:sp>
      <p:sp>
        <p:nvSpPr>
          <p:cNvPr id="7" name="Text 5"/>
          <p:cNvSpPr/>
          <p:nvPr/>
        </p:nvSpPr>
        <p:spPr>
          <a:xfrm>
            <a:off x="1005840" y="1783080"/>
            <a:ext cx="4663440" cy="228600"/>
          </a:xfrm>
          <a:prstGeom prst="rect">
            <a:avLst/>
          </a:prstGeom>
          <a:noFill/>
          <a:ln/>
        </p:spPr>
        <p:txBody>
          <a:bodyPr wrap="square" rtlCol="0" anchor="ctr"/>
          <a:lstStyle/>
          <a:p>
            <a:pPr indent="0" marL="0">
              <a:buNone/>
            </a:pPr>
            <a:r>
              <a:rPr lang="en-US" sz="950" b="1" dirty="0">
                <a:solidFill>
                  <a:srgbClr val="0F766E"/>
                </a:solidFill>
                <a:latin typeface="Segoe UI" pitchFamily="34" charset="0"/>
                <a:ea typeface="Segoe UI" pitchFamily="34" charset="-122"/>
                <a:cs typeface="Segoe UI" pitchFamily="34" charset="-120"/>
              </a:rPr>
              <a:t>RECEPTION MODULE</a:t>
            </a:r>
            <a:endParaRPr lang="en-US" sz="950" dirty="0"/>
          </a:p>
        </p:txBody>
      </p:sp>
      <p:sp>
        <p:nvSpPr>
          <p:cNvPr id="8" name="Text 6"/>
          <p:cNvSpPr/>
          <p:nvPr/>
        </p:nvSpPr>
        <p:spPr>
          <a:xfrm>
            <a:off x="1005840" y="2057400"/>
            <a:ext cx="4663440" cy="320040"/>
          </a:xfrm>
          <a:prstGeom prst="rect">
            <a:avLst/>
          </a:prstGeom>
          <a:noFill/>
          <a:ln/>
        </p:spPr>
        <p:txBody>
          <a:bodyPr wrap="square" rtlCol="0" anchor="ctr"/>
          <a:lstStyle/>
          <a:p>
            <a:pPr indent="0" marL="0">
              <a:buNone/>
            </a:pPr>
            <a:r>
              <a:rPr lang="en-US" sz="1300" b="1" dirty="0">
                <a:solidFill>
                  <a:srgbClr val="0F172A"/>
                </a:solidFill>
                <a:latin typeface="Segoe UI" pitchFamily="34" charset="0"/>
                <a:ea typeface="Segoe UI" pitchFamily="34" charset="-122"/>
                <a:cs typeface="Segoe UI" pitchFamily="34" charset="-120"/>
              </a:rPr>
              <a:t>Queue &amp; Registration</a:t>
            </a:r>
            <a:endParaRPr lang="en-US" sz="1300" dirty="0"/>
          </a:p>
        </p:txBody>
      </p:sp>
      <p:sp>
        <p:nvSpPr>
          <p:cNvPr id="9" name="Text 7"/>
          <p:cNvSpPr/>
          <p:nvPr/>
        </p:nvSpPr>
        <p:spPr>
          <a:xfrm>
            <a:off x="1005840" y="2423160"/>
            <a:ext cx="4663440" cy="1280160"/>
          </a:xfrm>
          <a:prstGeom prst="rect">
            <a:avLst/>
          </a:prstGeom>
          <a:noFill/>
          <a:ln/>
        </p:spPr>
        <p:txBody>
          <a:bodyPr wrap="square" rtlCol="0" anchor="ctr"/>
          <a:lstStyle/>
          <a:p>
            <a:pPr indent="0" marL="0">
              <a:lnSpc>
                <a:spcPts val="1600"/>
              </a:lnSpc>
              <a:buNone/>
            </a:pPr>
            <a:r>
              <a:rPr lang="en-US" sz="1000" dirty="0">
                <a:solidFill>
                  <a:srgbClr val="334155"/>
                </a:solidFill>
                <a:latin typeface="Segoe UI" pitchFamily="34" charset="0"/>
                <a:ea typeface="Segoe UI" pitchFamily="34" charset="-122"/>
                <a:cs typeface="Segoe UI" pitchFamily="34" charset="-120"/>
              </a:rPr>
              <a:t>• Live status tracker: Scheduled -&gt; Waiting -&gt; Completed.
</a:t>
            </a:r>
            <a:pPr indent="0" marL="0">
              <a:lnSpc>
                <a:spcPts val="1600"/>
              </a:lnSpc>
              <a:buNone/>
            </a:pPr>
            <a:r>
              <a:rPr lang="en-US" sz="1000" dirty="0">
                <a:solidFill>
                  <a:srgbClr val="334155"/>
                </a:solidFill>
                <a:latin typeface="Segoe UI" pitchFamily="34" charset="0"/>
                <a:ea typeface="Segoe UI" pitchFamily="34" charset="-122"/>
                <a:cs typeface="Segoe UI" pitchFamily="34" charset="-120"/>
              </a:rPr>
              <a:t>• Atomic patient registration generating sequential PDC IDs.
</a:t>
            </a:r>
            <a:pPr indent="0" marL="0">
              <a:lnSpc>
                <a:spcPts val="1600"/>
              </a:lnSpc>
              <a:buNone/>
            </a:pPr>
            <a:r>
              <a:rPr lang="en-US" sz="1000" dirty="0">
                <a:solidFill>
                  <a:srgbClr val="334155"/>
                </a:solidFill>
                <a:latin typeface="Segoe UI" pitchFamily="34" charset="0"/>
                <a:ea typeface="Segoe UI" pitchFamily="34" charset="-122"/>
                <a:cs typeface="Segoe UI" pitchFamily="34" charset="-120"/>
              </a:rPr>
              <a:t>• Multi-parameter search (&lt;1s) by Mobile, PDC ID, or Name.
</a:t>
            </a:r>
            <a:endParaRPr lang="en-US" sz="1000" dirty="0"/>
          </a:p>
        </p:txBody>
      </p:sp>
      <p:sp>
        <p:nvSpPr>
          <p:cNvPr id="10" name="Shape 8"/>
          <p:cNvSpPr/>
          <p:nvPr/>
        </p:nvSpPr>
        <p:spPr>
          <a:xfrm>
            <a:off x="6217920" y="1554480"/>
            <a:ext cx="5212080" cy="2286000"/>
          </a:xfrm>
          <a:prstGeom prst="roundRect">
            <a:avLst>
              <a:gd name="adj" fmla="val 4000"/>
            </a:avLst>
          </a:prstGeom>
          <a:solidFill>
            <a:srgbClr val="FFFFFF"/>
          </a:solidFill>
          <a:ln w="12700">
            <a:solidFill>
              <a:srgbClr val="E2E8F0"/>
            </a:solidFill>
            <a:prstDash val="solid"/>
          </a:ln>
        </p:spPr>
      </p:sp>
      <p:sp>
        <p:nvSpPr>
          <p:cNvPr id="11" name="Text 9"/>
          <p:cNvSpPr/>
          <p:nvPr/>
        </p:nvSpPr>
        <p:spPr>
          <a:xfrm>
            <a:off x="6492240" y="1783080"/>
            <a:ext cx="4663440" cy="228600"/>
          </a:xfrm>
          <a:prstGeom prst="rect">
            <a:avLst/>
          </a:prstGeom>
          <a:noFill/>
          <a:ln/>
        </p:spPr>
        <p:txBody>
          <a:bodyPr wrap="square" rtlCol="0" anchor="ctr"/>
          <a:lstStyle/>
          <a:p>
            <a:pPr indent="0" marL="0">
              <a:buNone/>
            </a:pPr>
            <a:r>
              <a:rPr lang="en-US" sz="950" b="1" dirty="0">
                <a:solidFill>
                  <a:srgbClr val="0F766E"/>
                </a:solidFill>
                <a:latin typeface="Segoe UI" pitchFamily="34" charset="0"/>
                <a:ea typeface="Segoe UI" pitchFamily="34" charset="-122"/>
                <a:cs typeface="Segoe UI" pitchFamily="34" charset="-120"/>
              </a:rPr>
              <a:t>SCHEDULING ENGINE</a:t>
            </a:r>
            <a:endParaRPr lang="en-US" sz="950" dirty="0"/>
          </a:p>
        </p:txBody>
      </p:sp>
      <p:sp>
        <p:nvSpPr>
          <p:cNvPr id="12" name="Text 10"/>
          <p:cNvSpPr/>
          <p:nvPr/>
        </p:nvSpPr>
        <p:spPr>
          <a:xfrm>
            <a:off x="6492240" y="2057400"/>
            <a:ext cx="4663440" cy="320040"/>
          </a:xfrm>
          <a:prstGeom prst="rect">
            <a:avLst/>
          </a:prstGeom>
          <a:noFill/>
          <a:ln/>
        </p:spPr>
        <p:txBody>
          <a:bodyPr wrap="square" rtlCol="0" anchor="ctr"/>
          <a:lstStyle/>
          <a:p>
            <a:pPr indent="0" marL="0">
              <a:buNone/>
            </a:pPr>
            <a:r>
              <a:rPr lang="en-US" sz="1300" b="1" dirty="0">
                <a:solidFill>
                  <a:srgbClr val="0F172A"/>
                </a:solidFill>
                <a:latin typeface="Segoe UI" pitchFamily="34" charset="0"/>
                <a:ea typeface="Segoe UI" pitchFamily="34" charset="-122"/>
                <a:cs typeface="Segoe UI" pitchFamily="34" charset="-120"/>
              </a:rPr>
              <a:t>Conflict-Free Appointments</a:t>
            </a:r>
            <a:endParaRPr lang="en-US" sz="1300" dirty="0"/>
          </a:p>
        </p:txBody>
      </p:sp>
      <p:sp>
        <p:nvSpPr>
          <p:cNvPr id="13" name="Text 11"/>
          <p:cNvSpPr/>
          <p:nvPr/>
        </p:nvSpPr>
        <p:spPr>
          <a:xfrm>
            <a:off x="6492240" y="2423160"/>
            <a:ext cx="4663440" cy="1280160"/>
          </a:xfrm>
          <a:prstGeom prst="rect">
            <a:avLst/>
          </a:prstGeom>
          <a:noFill/>
          <a:ln/>
        </p:spPr>
        <p:txBody>
          <a:bodyPr wrap="square" rtlCol="0" anchor="ctr"/>
          <a:lstStyle/>
          <a:p>
            <a:pPr indent="0" marL="0">
              <a:lnSpc>
                <a:spcPts val="1600"/>
              </a:lnSpc>
              <a:buNone/>
            </a:pPr>
            <a:r>
              <a:rPr lang="en-US" sz="1000" dirty="0">
                <a:solidFill>
                  <a:srgbClr val="334155"/>
                </a:solidFill>
                <a:latin typeface="Segoe UI" pitchFamily="34" charset="0"/>
                <a:ea typeface="Segoe UI" pitchFamily="34" charset="-122"/>
                <a:cs typeface="Segoe UI" pitchFamily="34" charset="-120"/>
              </a:rPr>
              <a:t>• Real-time inspection of Dr. Hemanth Kumar’s timetable.
</a:t>
            </a:r>
            <a:pPr indent="0" marL="0">
              <a:lnSpc>
                <a:spcPts val="1600"/>
              </a:lnSpc>
              <a:buNone/>
            </a:pPr>
            <a:r>
              <a:rPr lang="en-US" sz="1000" dirty="0">
                <a:solidFill>
                  <a:srgbClr val="334155"/>
                </a:solidFill>
                <a:latin typeface="Segoe UI" pitchFamily="34" charset="0"/>
                <a:ea typeface="Segoe UI" pitchFamily="34" charset="-122"/>
                <a:cs typeface="Segoe UI" pitchFamily="34" charset="-120"/>
              </a:rPr>
              <a:t>• Prevents double-booking overlapping time slots.
</a:t>
            </a:r>
            <a:pPr indent="0" marL="0">
              <a:lnSpc>
                <a:spcPts val="1600"/>
              </a:lnSpc>
              <a:buNone/>
            </a:pPr>
            <a:r>
              <a:rPr lang="en-US" sz="1000" dirty="0">
                <a:solidFill>
                  <a:srgbClr val="334155"/>
                </a:solidFill>
                <a:latin typeface="Segoe UI" pitchFamily="34" charset="0"/>
                <a:ea typeface="Segoe UI" pitchFamily="34" charset="-122"/>
                <a:cs typeface="Segoe UI" pitchFamily="34" charset="-120"/>
              </a:rPr>
              <a:t>• Online appointment request lifecycle management.
</a:t>
            </a:r>
            <a:endParaRPr lang="en-US" sz="1000" dirty="0"/>
          </a:p>
        </p:txBody>
      </p:sp>
      <p:sp>
        <p:nvSpPr>
          <p:cNvPr id="14" name="Shape 12"/>
          <p:cNvSpPr/>
          <p:nvPr/>
        </p:nvSpPr>
        <p:spPr>
          <a:xfrm>
            <a:off x="731520" y="4023360"/>
            <a:ext cx="5212080" cy="2286000"/>
          </a:xfrm>
          <a:prstGeom prst="roundRect">
            <a:avLst>
              <a:gd name="adj" fmla="val 4000"/>
            </a:avLst>
          </a:prstGeom>
          <a:solidFill>
            <a:srgbClr val="FFFFFF"/>
          </a:solidFill>
          <a:ln w="12700">
            <a:solidFill>
              <a:srgbClr val="E2E8F0"/>
            </a:solidFill>
            <a:prstDash val="solid"/>
          </a:ln>
        </p:spPr>
      </p:sp>
      <p:sp>
        <p:nvSpPr>
          <p:cNvPr id="15" name="Text 13"/>
          <p:cNvSpPr/>
          <p:nvPr/>
        </p:nvSpPr>
        <p:spPr>
          <a:xfrm>
            <a:off x="1005840" y="4251960"/>
            <a:ext cx="4663440" cy="228600"/>
          </a:xfrm>
          <a:prstGeom prst="rect">
            <a:avLst/>
          </a:prstGeom>
          <a:noFill/>
          <a:ln/>
        </p:spPr>
        <p:txBody>
          <a:bodyPr wrap="square" rtlCol="0" anchor="ctr"/>
          <a:lstStyle/>
          <a:p>
            <a:pPr indent="0" marL="0">
              <a:buNone/>
            </a:pPr>
            <a:r>
              <a:rPr lang="en-US" sz="950" b="1" dirty="0">
                <a:solidFill>
                  <a:srgbClr val="0F766E"/>
                </a:solidFill>
                <a:latin typeface="Segoe UI" pitchFamily="34" charset="0"/>
                <a:ea typeface="Segoe UI" pitchFamily="34" charset="-122"/>
                <a:cs typeface="Segoe UI" pitchFamily="34" charset="-120"/>
              </a:rPr>
              <a:t>DOCTOR OPERATORY</a:t>
            </a:r>
            <a:endParaRPr lang="en-US" sz="950" dirty="0"/>
          </a:p>
        </p:txBody>
      </p:sp>
      <p:sp>
        <p:nvSpPr>
          <p:cNvPr id="16" name="Text 14"/>
          <p:cNvSpPr/>
          <p:nvPr/>
        </p:nvSpPr>
        <p:spPr>
          <a:xfrm>
            <a:off x="1005840" y="4526280"/>
            <a:ext cx="4663440" cy="320040"/>
          </a:xfrm>
          <a:prstGeom prst="rect">
            <a:avLst/>
          </a:prstGeom>
          <a:noFill/>
          <a:ln/>
        </p:spPr>
        <p:txBody>
          <a:bodyPr wrap="square" rtlCol="0" anchor="ctr"/>
          <a:lstStyle/>
          <a:p>
            <a:pPr indent="0" marL="0">
              <a:buNone/>
            </a:pPr>
            <a:r>
              <a:rPr lang="en-US" sz="1300" b="1" dirty="0">
                <a:solidFill>
                  <a:srgbClr val="0F172A"/>
                </a:solidFill>
                <a:latin typeface="Segoe UI" pitchFamily="34" charset="0"/>
                <a:ea typeface="Segoe UI" pitchFamily="34" charset="-122"/>
                <a:cs typeface="Segoe UI" pitchFamily="34" charset="-120"/>
              </a:rPr>
              <a:t>Chairside Dental Suite</a:t>
            </a:r>
            <a:endParaRPr lang="en-US" sz="1300" dirty="0"/>
          </a:p>
        </p:txBody>
      </p:sp>
      <p:sp>
        <p:nvSpPr>
          <p:cNvPr id="17" name="Text 15"/>
          <p:cNvSpPr/>
          <p:nvPr/>
        </p:nvSpPr>
        <p:spPr>
          <a:xfrm>
            <a:off x="1005840" y="4892040"/>
            <a:ext cx="4663440" cy="1280160"/>
          </a:xfrm>
          <a:prstGeom prst="rect">
            <a:avLst/>
          </a:prstGeom>
          <a:noFill/>
          <a:ln/>
        </p:spPr>
        <p:txBody>
          <a:bodyPr wrap="square" rtlCol="0" anchor="ctr"/>
          <a:lstStyle/>
          <a:p>
            <a:pPr indent="0" marL="0">
              <a:lnSpc>
                <a:spcPts val="1600"/>
              </a:lnSpc>
              <a:buNone/>
            </a:pPr>
            <a:r>
              <a:rPr lang="en-US" sz="1000" dirty="0">
                <a:solidFill>
                  <a:srgbClr val="334155"/>
                </a:solidFill>
                <a:latin typeface="Segoe UI" pitchFamily="34" charset="0"/>
                <a:ea typeface="Segoe UI" pitchFamily="34" charset="-122"/>
                <a:cs typeface="Segoe UI" pitchFamily="34" charset="-120"/>
              </a:rPr>
              <a:t>• 1-Click clinical summary with systemic medical alerts.
</a:t>
            </a:r>
            <a:pPr indent="0" marL="0">
              <a:lnSpc>
                <a:spcPts val="1600"/>
              </a:lnSpc>
              <a:buNone/>
            </a:pPr>
            <a:r>
              <a:rPr lang="en-US" sz="1000" dirty="0">
                <a:solidFill>
                  <a:srgbClr val="334155"/>
                </a:solidFill>
                <a:latin typeface="Segoe UI" pitchFamily="34" charset="0"/>
                <a:ea typeface="Segoe UI" pitchFamily="34" charset="-122"/>
                <a:cs typeface="Segoe UI" pitchFamily="34" charset="-120"/>
              </a:rPr>
              <a:t>• Interactive FDI tooth chart (teeth 11–48) for findings.
</a:t>
            </a:r>
            <a:pPr indent="0" marL="0">
              <a:lnSpc>
                <a:spcPts val="1600"/>
              </a:lnSpc>
              <a:buNone/>
            </a:pPr>
            <a:r>
              <a:rPr lang="en-US" sz="1000" dirty="0">
                <a:solidFill>
                  <a:srgbClr val="334155"/>
                </a:solidFill>
                <a:latin typeface="Segoe UI" pitchFamily="34" charset="0"/>
                <a:ea typeface="Segoe UI" pitchFamily="34" charset="-122"/>
                <a:cs typeface="Segoe UI" pitchFamily="34" charset="-120"/>
              </a:rPr>
              <a:t>• Standardized dental formulary with auto-calculated dosages.
</a:t>
            </a:r>
            <a:endParaRPr lang="en-US" sz="1000" dirty="0"/>
          </a:p>
        </p:txBody>
      </p:sp>
      <p:sp>
        <p:nvSpPr>
          <p:cNvPr id="18" name="Shape 16"/>
          <p:cNvSpPr/>
          <p:nvPr/>
        </p:nvSpPr>
        <p:spPr>
          <a:xfrm>
            <a:off x="6217920" y="4023360"/>
            <a:ext cx="5212080" cy="2286000"/>
          </a:xfrm>
          <a:prstGeom prst="roundRect">
            <a:avLst>
              <a:gd name="adj" fmla="val 4000"/>
            </a:avLst>
          </a:prstGeom>
          <a:solidFill>
            <a:srgbClr val="FFFFFF"/>
          </a:solidFill>
          <a:ln w="12700">
            <a:solidFill>
              <a:srgbClr val="E2E8F0"/>
            </a:solidFill>
            <a:prstDash val="solid"/>
          </a:ln>
        </p:spPr>
      </p:sp>
      <p:sp>
        <p:nvSpPr>
          <p:cNvPr id="19" name="Text 17"/>
          <p:cNvSpPr/>
          <p:nvPr/>
        </p:nvSpPr>
        <p:spPr>
          <a:xfrm>
            <a:off x="6492240" y="4251960"/>
            <a:ext cx="4663440" cy="228600"/>
          </a:xfrm>
          <a:prstGeom prst="rect">
            <a:avLst/>
          </a:prstGeom>
          <a:noFill/>
          <a:ln/>
        </p:spPr>
        <p:txBody>
          <a:bodyPr wrap="square" rtlCol="0" anchor="ctr"/>
          <a:lstStyle/>
          <a:p>
            <a:pPr indent="0" marL="0">
              <a:buNone/>
            </a:pPr>
            <a:r>
              <a:rPr lang="en-US" sz="950" b="1" dirty="0">
                <a:solidFill>
                  <a:srgbClr val="0F766E"/>
                </a:solidFill>
                <a:latin typeface="Segoe UI" pitchFamily="34" charset="0"/>
                <a:ea typeface="Segoe UI" pitchFamily="34" charset="-122"/>
                <a:cs typeface="Segoe UI" pitchFamily="34" charset="-120"/>
              </a:rPr>
              <a:t>PATIENT PORTAL</a:t>
            </a:r>
            <a:endParaRPr lang="en-US" sz="950" dirty="0"/>
          </a:p>
        </p:txBody>
      </p:sp>
      <p:sp>
        <p:nvSpPr>
          <p:cNvPr id="20" name="Text 18"/>
          <p:cNvSpPr/>
          <p:nvPr/>
        </p:nvSpPr>
        <p:spPr>
          <a:xfrm>
            <a:off x="6492240" y="4526280"/>
            <a:ext cx="4663440" cy="320040"/>
          </a:xfrm>
          <a:prstGeom prst="rect">
            <a:avLst/>
          </a:prstGeom>
          <a:noFill/>
          <a:ln/>
        </p:spPr>
        <p:txBody>
          <a:bodyPr wrap="square" rtlCol="0" anchor="ctr"/>
          <a:lstStyle/>
          <a:p>
            <a:pPr indent="0" marL="0">
              <a:buNone/>
            </a:pPr>
            <a:r>
              <a:rPr lang="en-US" sz="1300" b="1" dirty="0">
                <a:solidFill>
                  <a:srgbClr val="0F172A"/>
                </a:solidFill>
                <a:latin typeface="Segoe UI" pitchFamily="34" charset="0"/>
                <a:ea typeface="Segoe UI" pitchFamily="34" charset="-122"/>
                <a:cs typeface="Segoe UI" pitchFamily="34" charset="-120"/>
              </a:rPr>
              <a:t>24/7 Mobile Self-Service</a:t>
            </a:r>
            <a:endParaRPr lang="en-US" sz="1300" dirty="0"/>
          </a:p>
        </p:txBody>
      </p:sp>
      <p:sp>
        <p:nvSpPr>
          <p:cNvPr id="21" name="Text 19"/>
          <p:cNvSpPr/>
          <p:nvPr/>
        </p:nvSpPr>
        <p:spPr>
          <a:xfrm>
            <a:off x="6492240" y="4892040"/>
            <a:ext cx="4663440" cy="1280160"/>
          </a:xfrm>
          <a:prstGeom prst="rect">
            <a:avLst/>
          </a:prstGeom>
          <a:noFill/>
          <a:ln/>
        </p:spPr>
        <p:txBody>
          <a:bodyPr wrap="square" rtlCol="0" anchor="ctr"/>
          <a:lstStyle/>
          <a:p>
            <a:pPr indent="0" marL="0">
              <a:lnSpc>
                <a:spcPts val="1600"/>
              </a:lnSpc>
              <a:buNone/>
            </a:pPr>
            <a:r>
              <a:rPr lang="en-US" sz="1000" dirty="0">
                <a:solidFill>
                  <a:srgbClr val="334155"/>
                </a:solidFill>
                <a:latin typeface="Segoe UI" pitchFamily="34" charset="0"/>
                <a:ea typeface="Segoe UI" pitchFamily="34" charset="-122"/>
                <a:cs typeface="Segoe UI" pitchFamily="34" charset="-120"/>
              </a:rPr>
              <a:t>• Instant web access to active prescriptions and visit history.
</a:t>
            </a:r>
            <a:pPr indent="0" marL="0">
              <a:lnSpc>
                <a:spcPts val="1600"/>
              </a:lnSpc>
              <a:buNone/>
            </a:pPr>
            <a:r>
              <a:rPr lang="en-US" sz="1000" dirty="0">
                <a:solidFill>
                  <a:srgbClr val="334155"/>
                </a:solidFill>
                <a:latin typeface="Segoe UI" pitchFamily="34" charset="0"/>
                <a:ea typeface="Segoe UI" pitchFamily="34" charset="-122"/>
                <a:cs typeface="Segoe UI" pitchFamily="34" charset="-120"/>
              </a:rPr>
              <a:t>• High-fidelity printable Prasad Dental Care letterhead.
</a:t>
            </a:r>
            <a:pPr indent="0" marL="0">
              <a:lnSpc>
                <a:spcPts val="1600"/>
              </a:lnSpc>
              <a:buNone/>
            </a:pPr>
            <a:r>
              <a:rPr lang="en-US" sz="1000" dirty="0">
                <a:solidFill>
                  <a:srgbClr val="334155"/>
                </a:solidFill>
                <a:latin typeface="Segoe UI" pitchFamily="34" charset="0"/>
                <a:ea typeface="Segoe UI" pitchFamily="34" charset="-122"/>
                <a:cs typeface="Segoe UI" pitchFamily="34" charset="-120"/>
              </a:rPr>
              <a:t>• Strict RLS isolation blocking cross-patient record access.
</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365760"/>
            <a:ext cx="2560320" cy="320040"/>
          </a:xfrm>
          <a:prstGeom prst="roundRect">
            <a:avLst>
              <a:gd name="adj" fmla="val 22857"/>
            </a:avLst>
          </a:prstGeom>
          <a:solidFill>
            <a:srgbClr val="F0FDFA"/>
          </a:solidFill>
          <a:ln w="12700">
            <a:solidFill>
              <a:srgbClr val="CCFBF1"/>
            </a:solidFill>
            <a:prstDash val="solid"/>
          </a:ln>
        </p:spPr>
      </p:sp>
      <p:sp>
        <p:nvSpPr>
          <p:cNvPr id="3" name="Text 1"/>
          <p:cNvSpPr/>
          <p:nvPr/>
        </p:nvSpPr>
        <p:spPr>
          <a:xfrm>
            <a:off x="731520" y="365760"/>
            <a:ext cx="2560320" cy="320040"/>
          </a:xfrm>
          <a:prstGeom prst="rect">
            <a:avLst/>
          </a:prstGeom>
          <a:noFill/>
          <a:ln/>
        </p:spPr>
        <p:txBody>
          <a:bodyPr wrap="square" rtlCol="0" anchor="ctr"/>
          <a:lstStyle/>
          <a:p>
            <a:pPr algn="ctr" indent="0" marL="0">
              <a:buNone/>
            </a:pPr>
            <a:r>
              <a:rPr lang="en-US" sz="950" b="1" dirty="0">
                <a:solidFill>
                  <a:srgbClr val="0F766E"/>
                </a:solidFill>
                <a:latin typeface="Segoe UI" pitchFamily="34" charset="0"/>
                <a:ea typeface="Segoe UI" pitchFamily="34" charset="-122"/>
                <a:cs typeface="Segoe UI" pitchFamily="34" charset="-120"/>
              </a:rPr>
              <a:t>CLINICAL WORKFLOW</a:t>
            </a:r>
            <a:endParaRPr lang="en-US" sz="950" dirty="0"/>
          </a:p>
        </p:txBody>
      </p:sp>
      <p:sp>
        <p:nvSpPr>
          <p:cNvPr id="4" name="Text 2"/>
          <p:cNvSpPr/>
          <p:nvPr/>
        </p:nvSpPr>
        <p:spPr>
          <a:xfrm>
            <a:off x="731520" y="749808"/>
            <a:ext cx="10698480" cy="41148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End-to-End Patient Journey Through Prasad Dental Care HMIS</a:t>
            </a:r>
            <a:endParaRPr lang="en-US" sz="2200" dirty="0"/>
          </a:p>
        </p:txBody>
      </p:sp>
      <p:sp>
        <p:nvSpPr>
          <p:cNvPr id="5" name="Text 3"/>
          <p:cNvSpPr/>
          <p:nvPr/>
        </p:nvSpPr>
        <p:spPr>
          <a:xfrm>
            <a:off x="731520" y="1188720"/>
            <a:ext cx="10698480" cy="274320"/>
          </a:xfrm>
          <a:prstGeom prst="rect">
            <a:avLst/>
          </a:prstGeom>
          <a:noFill/>
          <a:ln/>
        </p:spPr>
        <p:txBody>
          <a:bodyPr wrap="square" rtlCol="0" anchor="t"/>
          <a:lstStyle/>
          <a:p>
            <a:pPr indent="0" marL="0">
              <a:buNone/>
            </a:pPr>
            <a:r>
              <a:rPr lang="en-US" sz="1100" dirty="0">
                <a:solidFill>
                  <a:srgbClr val="64748B"/>
                </a:solidFill>
                <a:latin typeface="Segoe UI" pitchFamily="34" charset="0"/>
                <a:ea typeface="Segoe UI" pitchFamily="34" charset="-122"/>
                <a:cs typeface="Segoe UI" pitchFamily="34" charset="-120"/>
              </a:rPr>
              <a:t>Tracing an encounter from arrival to post-consultation patient portal access</a:t>
            </a:r>
            <a:endParaRPr lang="en-US" sz="1100" dirty="0"/>
          </a:p>
        </p:txBody>
      </p:sp>
      <p:sp>
        <p:nvSpPr>
          <p:cNvPr id="6" name="Shape 4"/>
          <p:cNvSpPr/>
          <p:nvPr/>
        </p:nvSpPr>
        <p:spPr>
          <a:xfrm>
            <a:off x="731520" y="1554480"/>
            <a:ext cx="3383280" cy="2286000"/>
          </a:xfrm>
          <a:prstGeom prst="roundRect">
            <a:avLst>
              <a:gd name="adj" fmla="val 4000"/>
            </a:avLst>
          </a:prstGeom>
          <a:solidFill>
            <a:srgbClr val="FFFFFF"/>
          </a:solidFill>
          <a:ln w="12700">
            <a:solidFill>
              <a:srgbClr val="E2E8F0"/>
            </a:solidFill>
            <a:prstDash val="solid"/>
          </a:ln>
        </p:spPr>
      </p:sp>
      <p:sp>
        <p:nvSpPr>
          <p:cNvPr id="7" name="Shape 5"/>
          <p:cNvSpPr/>
          <p:nvPr/>
        </p:nvSpPr>
        <p:spPr>
          <a:xfrm>
            <a:off x="1005840" y="1783080"/>
            <a:ext cx="1097280" cy="228600"/>
          </a:xfrm>
          <a:prstGeom prst="roundRect">
            <a:avLst>
              <a:gd name="adj" fmla="val 20000"/>
            </a:avLst>
          </a:prstGeom>
          <a:solidFill>
            <a:srgbClr val="F0FDFA"/>
          </a:solidFill>
          <a:ln w="12700">
            <a:solidFill>
              <a:srgbClr val="CCFBF1"/>
            </a:solidFill>
            <a:prstDash val="solid"/>
          </a:ln>
        </p:spPr>
      </p:sp>
      <p:sp>
        <p:nvSpPr>
          <p:cNvPr id="8" name="Text 6"/>
          <p:cNvSpPr/>
          <p:nvPr/>
        </p:nvSpPr>
        <p:spPr>
          <a:xfrm>
            <a:off x="1005840" y="1783080"/>
            <a:ext cx="1097280" cy="228600"/>
          </a:xfrm>
          <a:prstGeom prst="rect">
            <a:avLst/>
          </a:prstGeom>
          <a:noFill/>
          <a:ln/>
        </p:spPr>
        <p:txBody>
          <a:bodyPr wrap="square" rtlCol="0" anchor="ctr"/>
          <a:lstStyle/>
          <a:p>
            <a:pPr algn="ctr" indent="0" marL="0">
              <a:buNone/>
            </a:pPr>
            <a:r>
              <a:rPr lang="en-US" sz="850" b="1" dirty="0">
                <a:solidFill>
                  <a:srgbClr val="0F766E"/>
                </a:solidFill>
                <a:latin typeface="Segoe UI" pitchFamily="34" charset="0"/>
                <a:ea typeface="Segoe UI" pitchFamily="34" charset="-122"/>
                <a:cs typeface="Segoe UI" pitchFamily="34" charset="-120"/>
              </a:rPr>
              <a:t>STEP 1</a:t>
            </a:r>
            <a:endParaRPr lang="en-US" sz="850" dirty="0"/>
          </a:p>
        </p:txBody>
      </p:sp>
      <p:sp>
        <p:nvSpPr>
          <p:cNvPr id="9" name="Text 7"/>
          <p:cNvSpPr/>
          <p:nvPr/>
        </p:nvSpPr>
        <p:spPr>
          <a:xfrm>
            <a:off x="1005840" y="2103120"/>
            <a:ext cx="2834640" cy="320040"/>
          </a:xfrm>
          <a:prstGeom prst="rect">
            <a:avLst/>
          </a:prstGeom>
          <a:noFill/>
          <a:ln/>
        </p:spPr>
        <p:txBody>
          <a:bodyPr wrap="square" rtlCol="0" anchor="ctr"/>
          <a:lstStyle/>
          <a:p>
            <a:pPr indent="0" marL="0">
              <a:buNone/>
            </a:pPr>
            <a:r>
              <a:rPr lang="en-US" sz="1200" b="1" dirty="0">
                <a:solidFill>
                  <a:srgbClr val="0F172A"/>
                </a:solidFill>
                <a:latin typeface="Segoe UI" pitchFamily="34" charset="0"/>
                <a:ea typeface="Segoe UI" pitchFamily="34" charset="-122"/>
                <a:cs typeface="Segoe UI" pitchFamily="34" charset="-120"/>
              </a:rPr>
              <a:t>Arrival &amp; Lookup</a:t>
            </a:r>
            <a:endParaRPr lang="en-US" sz="1200" dirty="0"/>
          </a:p>
        </p:txBody>
      </p:sp>
      <p:sp>
        <p:nvSpPr>
          <p:cNvPr id="10" name="Text 8"/>
          <p:cNvSpPr/>
          <p:nvPr/>
        </p:nvSpPr>
        <p:spPr>
          <a:xfrm>
            <a:off x="1005840" y="2468880"/>
            <a:ext cx="2834640" cy="1188720"/>
          </a:xfrm>
          <a:prstGeom prst="rect">
            <a:avLst/>
          </a:prstGeom>
          <a:noFill/>
          <a:ln/>
        </p:spPr>
        <p:txBody>
          <a:bodyPr wrap="square" rtlCol="0" anchor="ctr"/>
          <a:lstStyle/>
          <a:p>
            <a:pPr indent="0" marL="0">
              <a:lnSpc>
                <a:spcPts val="1600"/>
              </a:lnSpc>
              <a:buNone/>
            </a:pPr>
            <a:r>
              <a:rPr lang="en-US" sz="1000" dirty="0">
                <a:solidFill>
                  <a:srgbClr val="334155"/>
                </a:solidFill>
                <a:latin typeface="Segoe UI" pitchFamily="34" charset="0"/>
                <a:ea typeface="Segoe UI" pitchFamily="34" charset="-122"/>
                <a:cs typeface="Segoe UI" pitchFamily="34" charset="-120"/>
              </a:rPr>
              <a:t>Patient arrives; receptionist performs sub-second search by Mobile or PDC ID.</a:t>
            </a:r>
            <a:endParaRPr lang="en-US" sz="1000" dirty="0"/>
          </a:p>
        </p:txBody>
      </p:sp>
      <p:sp>
        <p:nvSpPr>
          <p:cNvPr id="11" name="Shape 9"/>
          <p:cNvSpPr/>
          <p:nvPr/>
        </p:nvSpPr>
        <p:spPr>
          <a:xfrm>
            <a:off x="4389120" y="1554480"/>
            <a:ext cx="3383280" cy="2286000"/>
          </a:xfrm>
          <a:prstGeom prst="roundRect">
            <a:avLst>
              <a:gd name="adj" fmla="val 4000"/>
            </a:avLst>
          </a:prstGeom>
          <a:solidFill>
            <a:srgbClr val="FFFFFF"/>
          </a:solidFill>
          <a:ln w="12700">
            <a:solidFill>
              <a:srgbClr val="E2E8F0"/>
            </a:solidFill>
            <a:prstDash val="solid"/>
          </a:ln>
        </p:spPr>
      </p:sp>
      <p:sp>
        <p:nvSpPr>
          <p:cNvPr id="12" name="Shape 10"/>
          <p:cNvSpPr/>
          <p:nvPr/>
        </p:nvSpPr>
        <p:spPr>
          <a:xfrm>
            <a:off x="4663440" y="1783080"/>
            <a:ext cx="1097280" cy="228600"/>
          </a:xfrm>
          <a:prstGeom prst="roundRect">
            <a:avLst>
              <a:gd name="adj" fmla="val 20000"/>
            </a:avLst>
          </a:prstGeom>
          <a:solidFill>
            <a:srgbClr val="F0FDFA"/>
          </a:solidFill>
          <a:ln w="12700">
            <a:solidFill>
              <a:srgbClr val="CCFBF1"/>
            </a:solidFill>
            <a:prstDash val="solid"/>
          </a:ln>
        </p:spPr>
      </p:sp>
      <p:sp>
        <p:nvSpPr>
          <p:cNvPr id="13" name="Text 11"/>
          <p:cNvSpPr/>
          <p:nvPr/>
        </p:nvSpPr>
        <p:spPr>
          <a:xfrm>
            <a:off x="4663440" y="1783080"/>
            <a:ext cx="1097280" cy="228600"/>
          </a:xfrm>
          <a:prstGeom prst="rect">
            <a:avLst/>
          </a:prstGeom>
          <a:noFill/>
          <a:ln/>
        </p:spPr>
        <p:txBody>
          <a:bodyPr wrap="square" rtlCol="0" anchor="ctr"/>
          <a:lstStyle/>
          <a:p>
            <a:pPr algn="ctr" indent="0" marL="0">
              <a:buNone/>
            </a:pPr>
            <a:r>
              <a:rPr lang="en-US" sz="850" b="1" dirty="0">
                <a:solidFill>
                  <a:srgbClr val="0F766E"/>
                </a:solidFill>
                <a:latin typeface="Segoe UI" pitchFamily="34" charset="0"/>
                <a:ea typeface="Segoe UI" pitchFamily="34" charset="-122"/>
                <a:cs typeface="Segoe UI" pitchFamily="34" charset="-120"/>
              </a:rPr>
              <a:t>STEP 2</a:t>
            </a:r>
            <a:endParaRPr lang="en-US" sz="850" dirty="0"/>
          </a:p>
        </p:txBody>
      </p:sp>
      <p:sp>
        <p:nvSpPr>
          <p:cNvPr id="14" name="Text 12"/>
          <p:cNvSpPr/>
          <p:nvPr/>
        </p:nvSpPr>
        <p:spPr>
          <a:xfrm>
            <a:off x="4663440" y="2103120"/>
            <a:ext cx="2834640" cy="320040"/>
          </a:xfrm>
          <a:prstGeom prst="rect">
            <a:avLst/>
          </a:prstGeom>
          <a:noFill/>
          <a:ln/>
        </p:spPr>
        <p:txBody>
          <a:bodyPr wrap="square" rtlCol="0" anchor="ctr"/>
          <a:lstStyle/>
          <a:p>
            <a:pPr indent="0" marL="0">
              <a:buNone/>
            </a:pPr>
            <a:r>
              <a:rPr lang="en-US" sz="1200" b="1" dirty="0">
                <a:solidFill>
                  <a:srgbClr val="0F172A"/>
                </a:solidFill>
                <a:latin typeface="Segoe UI" pitchFamily="34" charset="0"/>
                <a:ea typeface="Segoe UI" pitchFamily="34" charset="-122"/>
                <a:cs typeface="Segoe UI" pitchFamily="34" charset="-120"/>
              </a:rPr>
              <a:t>Atomic Provisioning</a:t>
            </a:r>
            <a:endParaRPr lang="en-US" sz="1200" dirty="0"/>
          </a:p>
        </p:txBody>
      </p:sp>
      <p:sp>
        <p:nvSpPr>
          <p:cNvPr id="15" name="Text 13"/>
          <p:cNvSpPr/>
          <p:nvPr/>
        </p:nvSpPr>
        <p:spPr>
          <a:xfrm>
            <a:off x="4663440" y="2468880"/>
            <a:ext cx="2834640" cy="1188720"/>
          </a:xfrm>
          <a:prstGeom prst="rect">
            <a:avLst/>
          </a:prstGeom>
          <a:noFill/>
          <a:ln/>
        </p:spPr>
        <p:txBody>
          <a:bodyPr wrap="square" rtlCol="0" anchor="ctr"/>
          <a:lstStyle/>
          <a:p>
            <a:pPr indent="0" marL="0">
              <a:lnSpc>
                <a:spcPts val="1600"/>
              </a:lnSpc>
              <a:buNone/>
            </a:pPr>
            <a:r>
              <a:rPr lang="en-US" sz="1000" dirty="0">
                <a:solidFill>
                  <a:srgbClr val="334155"/>
                </a:solidFill>
                <a:latin typeface="Segoe UI" pitchFamily="34" charset="0"/>
                <a:ea typeface="Segoe UI" pitchFamily="34" charset="-122"/>
                <a:cs typeface="Segoe UI" pitchFamily="34" charset="-120"/>
              </a:rPr>
              <a:t>New patient registered; sequence allocates PDC-XXXXXX; portal credentials generated.</a:t>
            </a:r>
            <a:endParaRPr lang="en-US" sz="1000" dirty="0"/>
          </a:p>
        </p:txBody>
      </p:sp>
      <p:sp>
        <p:nvSpPr>
          <p:cNvPr id="16" name="Shape 14"/>
          <p:cNvSpPr/>
          <p:nvPr/>
        </p:nvSpPr>
        <p:spPr>
          <a:xfrm>
            <a:off x="8046720" y="1554480"/>
            <a:ext cx="3383280" cy="2286000"/>
          </a:xfrm>
          <a:prstGeom prst="roundRect">
            <a:avLst>
              <a:gd name="adj" fmla="val 4000"/>
            </a:avLst>
          </a:prstGeom>
          <a:solidFill>
            <a:srgbClr val="FFFFFF"/>
          </a:solidFill>
          <a:ln w="12700">
            <a:solidFill>
              <a:srgbClr val="E2E8F0"/>
            </a:solidFill>
            <a:prstDash val="solid"/>
          </a:ln>
        </p:spPr>
      </p:sp>
      <p:sp>
        <p:nvSpPr>
          <p:cNvPr id="17" name="Shape 15"/>
          <p:cNvSpPr/>
          <p:nvPr/>
        </p:nvSpPr>
        <p:spPr>
          <a:xfrm>
            <a:off x="8321040" y="1783080"/>
            <a:ext cx="1097280" cy="228600"/>
          </a:xfrm>
          <a:prstGeom prst="roundRect">
            <a:avLst>
              <a:gd name="adj" fmla="val 20000"/>
            </a:avLst>
          </a:prstGeom>
          <a:solidFill>
            <a:srgbClr val="F0FDFA"/>
          </a:solidFill>
          <a:ln w="12700">
            <a:solidFill>
              <a:srgbClr val="CCFBF1"/>
            </a:solidFill>
            <a:prstDash val="solid"/>
          </a:ln>
        </p:spPr>
      </p:sp>
      <p:sp>
        <p:nvSpPr>
          <p:cNvPr id="18" name="Text 16"/>
          <p:cNvSpPr/>
          <p:nvPr/>
        </p:nvSpPr>
        <p:spPr>
          <a:xfrm>
            <a:off x="8321040" y="1783080"/>
            <a:ext cx="1097280" cy="228600"/>
          </a:xfrm>
          <a:prstGeom prst="rect">
            <a:avLst/>
          </a:prstGeom>
          <a:noFill/>
          <a:ln/>
        </p:spPr>
        <p:txBody>
          <a:bodyPr wrap="square" rtlCol="0" anchor="ctr"/>
          <a:lstStyle/>
          <a:p>
            <a:pPr algn="ctr" indent="0" marL="0">
              <a:buNone/>
            </a:pPr>
            <a:r>
              <a:rPr lang="en-US" sz="850" b="1" dirty="0">
                <a:solidFill>
                  <a:srgbClr val="0F766E"/>
                </a:solidFill>
                <a:latin typeface="Segoe UI" pitchFamily="34" charset="0"/>
                <a:ea typeface="Segoe UI" pitchFamily="34" charset="-122"/>
                <a:cs typeface="Segoe UI" pitchFamily="34" charset="-120"/>
              </a:rPr>
              <a:t>STEP 3</a:t>
            </a:r>
            <a:endParaRPr lang="en-US" sz="850" dirty="0"/>
          </a:p>
        </p:txBody>
      </p:sp>
      <p:sp>
        <p:nvSpPr>
          <p:cNvPr id="19" name="Text 17"/>
          <p:cNvSpPr/>
          <p:nvPr/>
        </p:nvSpPr>
        <p:spPr>
          <a:xfrm>
            <a:off x="8321040" y="2103120"/>
            <a:ext cx="2834640" cy="320040"/>
          </a:xfrm>
          <a:prstGeom prst="rect">
            <a:avLst/>
          </a:prstGeom>
          <a:noFill/>
          <a:ln/>
        </p:spPr>
        <p:txBody>
          <a:bodyPr wrap="square" rtlCol="0" anchor="ctr"/>
          <a:lstStyle/>
          <a:p>
            <a:pPr indent="0" marL="0">
              <a:buNone/>
            </a:pPr>
            <a:r>
              <a:rPr lang="en-US" sz="1200" b="1" dirty="0">
                <a:solidFill>
                  <a:srgbClr val="0F172A"/>
                </a:solidFill>
                <a:latin typeface="Segoe UI" pitchFamily="34" charset="0"/>
                <a:ea typeface="Segoe UI" pitchFamily="34" charset="-122"/>
                <a:cs typeface="Segoe UI" pitchFamily="34" charset="-120"/>
              </a:rPr>
              <a:t>Conflict-Free Booking</a:t>
            </a:r>
            <a:endParaRPr lang="en-US" sz="1200" dirty="0"/>
          </a:p>
        </p:txBody>
      </p:sp>
      <p:sp>
        <p:nvSpPr>
          <p:cNvPr id="20" name="Text 18"/>
          <p:cNvSpPr/>
          <p:nvPr/>
        </p:nvSpPr>
        <p:spPr>
          <a:xfrm>
            <a:off x="8321040" y="2468880"/>
            <a:ext cx="2834640" cy="1188720"/>
          </a:xfrm>
          <a:prstGeom prst="rect">
            <a:avLst/>
          </a:prstGeom>
          <a:noFill/>
          <a:ln/>
        </p:spPr>
        <p:txBody>
          <a:bodyPr wrap="square" rtlCol="0" anchor="ctr"/>
          <a:lstStyle/>
          <a:p>
            <a:pPr indent="0" marL="0">
              <a:lnSpc>
                <a:spcPts val="1600"/>
              </a:lnSpc>
              <a:buNone/>
            </a:pPr>
            <a:r>
              <a:rPr lang="en-US" sz="1000" dirty="0">
                <a:solidFill>
                  <a:srgbClr val="334155"/>
                </a:solidFill>
                <a:latin typeface="Segoe UI" pitchFamily="34" charset="0"/>
                <a:ea typeface="Segoe UI" pitchFamily="34" charset="-122"/>
                <a:cs typeface="Segoe UI" pitchFamily="34" charset="-120"/>
              </a:rPr>
              <a:t>Slot verified against Dr. Hemanth’s schedule; status transitions to Waiting Queue.</a:t>
            </a:r>
            <a:endParaRPr lang="en-US" sz="1000" dirty="0"/>
          </a:p>
        </p:txBody>
      </p:sp>
      <p:sp>
        <p:nvSpPr>
          <p:cNvPr id="21" name="Shape 19"/>
          <p:cNvSpPr/>
          <p:nvPr/>
        </p:nvSpPr>
        <p:spPr>
          <a:xfrm>
            <a:off x="731520" y="4023360"/>
            <a:ext cx="3383280" cy="2286000"/>
          </a:xfrm>
          <a:prstGeom prst="roundRect">
            <a:avLst>
              <a:gd name="adj" fmla="val 4000"/>
            </a:avLst>
          </a:prstGeom>
          <a:solidFill>
            <a:srgbClr val="FFFFFF"/>
          </a:solidFill>
          <a:ln w="12700">
            <a:solidFill>
              <a:srgbClr val="E2E8F0"/>
            </a:solidFill>
            <a:prstDash val="solid"/>
          </a:ln>
        </p:spPr>
      </p:sp>
      <p:sp>
        <p:nvSpPr>
          <p:cNvPr id="22" name="Shape 20"/>
          <p:cNvSpPr/>
          <p:nvPr/>
        </p:nvSpPr>
        <p:spPr>
          <a:xfrm>
            <a:off x="1005840" y="4251960"/>
            <a:ext cx="1097280" cy="228600"/>
          </a:xfrm>
          <a:prstGeom prst="roundRect">
            <a:avLst>
              <a:gd name="adj" fmla="val 20000"/>
            </a:avLst>
          </a:prstGeom>
          <a:solidFill>
            <a:srgbClr val="F0FDFA"/>
          </a:solidFill>
          <a:ln w="12700">
            <a:solidFill>
              <a:srgbClr val="CCFBF1"/>
            </a:solidFill>
            <a:prstDash val="solid"/>
          </a:ln>
        </p:spPr>
      </p:sp>
      <p:sp>
        <p:nvSpPr>
          <p:cNvPr id="23" name="Text 21"/>
          <p:cNvSpPr/>
          <p:nvPr/>
        </p:nvSpPr>
        <p:spPr>
          <a:xfrm>
            <a:off x="1005840" y="4251960"/>
            <a:ext cx="1097280" cy="228600"/>
          </a:xfrm>
          <a:prstGeom prst="rect">
            <a:avLst/>
          </a:prstGeom>
          <a:noFill/>
          <a:ln/>
        </p:spPr>
        <p:txBody>
          <a:bodyPr wrap="square" rtlCol="0" anchor="ctr"/>
          <a:lstStyle/>
          <a:p>
            <a:pPr algn="ctr" indent="0" marL="0">
              <a:buNone/>
            </a:pPr>
            <a:r>
              <a:rPr lang="en-US" sz="850" b="1" dirty="0">
                <a:solidFill>
                  <a:srgbClr val="0F766E"/>
                </a:solidFill>
                <a:latin typeface="Segoe UI" pitchFamily="34" charset="0"/>
                <a:ea typeface="Segoe UI" pitchFamily="34" charset="-122"/>
                <a:cs typeface="Segoe UI" pitchFamily="34" charset="-120"/>
              </a:rPr>
              <a:t>STEP 4</a:t>
            </a:r>
            <a:endParaRPr lang="en-US" sz="850" dirty="0"/>
          </a:p>
        </p:txBody>
      </p:sp>
      <p:sp>
        <p:nvSpPr>
          <p:cNvPr id="24" name="Text 22"/>
          <p:cNvSpPr/>
          <p:nvPr/>
        </p:nvSpPr>
        <p:spPr>
          <a:xfrm>
            <a:off x="1005840" y="4572000"/>
            <a:ext cx="2834640" cy="320040"/>
          </a:xfrm>
          <a:prstGeom prst="rect">
            <a:avLst/>
          </a:prstGeom>
          <a:noFill/>
          <a:ln/>
        </p:spPr>
        <p:txBody>
          <a:bodyPr wrap="square" rtlCol="0" anchor="ctr"/>
          <a:lstStyle/>
          <a:p>
            <a:pPr indent="0" marL="0">
              <a:buNone/>
            </a:pPr>
            <a:r>
              <a:rPr lang="en-US" sz="1200" b="1" dirty="0">
                <a:solidFill>
                  <a:srgbClr val="0F172A"/>
                </a:solidFill>
                <a:latin typeface="Segoe UI" pitchFamily="34" charset="0"/>
                <a:ea typeface="Segoe UI" pitchFamily="34" charset="-122"/>
                <a:cs typeface="Segoe UI" pitchFamily="34" charset="-120"/>
              </a:rPr>
              <a:t>Chairside Operatory</a:t>
            </a:r>
            <a:endParaRPr lang="en-US" sz="1200" dirty="0"/>
          </a:p>
        </p:txBody>
      </p:sp>
      <p:sp>
        <p:nvSpPr>
          <p:cNvPr id="25" name="Text 23"/>
          <p:cNvSpPr/>
          <p:nvPr/>
        </p:nvSpPr>
        <p:spPr>
          <a:xfrm>
            <a:off x="1005840" y="4937760"/>
            <a:ext cx="2834640" cy="1188720"/>
          </a:xfrm>
          <a:prstGeom prst="rect">
            <a:avLst/>
          </a:prstGeom>
          <a:noFill/>
          <a:ln/>
        </p:spPr>
        <p:txBody>
          <a:bodyPr wrap="square" rtlCol="0" anchor="ctr"/>
          <a:lstStyle/>
          <a:p>
            <a:pPr indent="0" marL="0">
              <a:lnSpc>
                <a:spcPts val="1600"/>
              </a:lnSpc>
              <a:buNone/>
            </a:pPr>
            <a:r>
              <a:rPr lang="en-US" sz="1000" dirty="0">
                <a:solidFill>
                  <a:srgbClr val="334155"/>
                </a:solidFill>
                <a:latin typeface="Segoe UI" pitchFamily="34" charset="0"/>
                <a:ea typeface="Segoe UI" pitchFamily="34" charset="-122"/>
                <a:cs typeface="Segoe UI" pitchFamily="34" charset="-120"/>
              </a:rPr>
              <a:t>Doctor opens 1-click summary; charts teeth using FDI grid (teeth 11–48).</a:t>
            </a:r>
            <a:endParaRPr lang="en-US" sz="1000" dirty="0"/>
          </a:p>
        </p:txBody>
      </p:sp>
      <p:sp>
        <p:nvSpPr>
          <p:cNvPr id="26" name="Shape 24"/>
          <p:cNvSpPr/>
          <p:nvPr/>
        </p:nvSpPr>
        <p:spPr>
          <a:xfrm>
            <a:off x="4389120" y="4023360"/>
            <a:ext cx="3383280" cy="2286000"/>
          </a:xfrm>
          <a:prstGeom prst="roundRect">
            <a:avLst>
              <a:gd name="adj" fmla="val 4000"/>
            </a:avLst>
          </a:prstGeom>
          <a:solidFill>
            <a:srgbClr val="FFFFFF"/>
          </a:solidFill>
          <a:ln w="12700">
            <a:solidFill>
              <a:srgbClr val="E2E8F0"/>
            </a:solidFill>
            <a:prstDash val="solid"/>
          </a:ln>
        </p:spPr>
      </p:sp>
      <p:sp>
        <p:nvSpPr>
          <p:cNvPr id="27" name="Shape 25"/>
          <p:cNvSpPr/>
          <p:nvPr/>
        </p:nvSpPr>
        <p:spPr>
          <a:xfrm>
            <a:off x="4663440" y="4251960"/>
            <a:ext cx="1097280" cy="228600"/>
          </a:xfrm>
          <a:prstGeom prst="roundRect">
            <a:avLst>
              <a:gd name="adj" fmla="val 20000"/>
            </a:avLst>
          </a:prstGeom>
          <a:solidFill>
            <a:srgbClr val="F0FDFA"/>
          </a:solidFill>
          <a:ln w="12700">
            <a:solidFill>
              <a:srgbClr val="CCFBF1"/>
            </a:solidFill>
            <a:prstDash val="solid"/>
          </a:ln>
        </p:spPr>
      </p:sp>
      <p:sp>
        <p:nvSpPr>
          <p:cNvPr id="28" name="Text 26"/>
          <p:cNvSpPr/>
          <p:nvPr/>
        </p:nvSpPr>
        <p:spPr>
          <a:xfrm>
            <a:off x="4663440" y="4251960"/>
            <a:ext cx="1097280" cy="228600"/>
          </a:xfrm>
          <a:prstGeom prst="rect">
            <a:avLst/>
          </a:prstGeom>
          <a:noFill/>
          <a:ln/>
        </p:spPr>
        <p:txBody>
          <a:bodyPr wrap="square" rtlCol="0" anchor="ctr"/>
          <a:lstStyle/>
          <a:p>
            <a:pPr algn="ctr" indent="0" marL="0">
              <a:buNone/>
            </a:pPr>
            <a:r>
              <a:rPr lang="en-US" sz="850" b="1" dirty="0">
                <a:solidFill>
                  <a:srgbClr val="0F766E"/>
                </a:solidFill>
                <a:latin typeface="Segoe UI" pitchFamily="34" charset="0"/>
                <a:ea typeface="Segoe UI" pitchFamily="34" charset="-122"/>
                <a:cs typeface="Segoe UI" pitchFamily="34" charset="-120"/>
              </a:rPr>
              <a:t>STEP 5</a:t>
            </a:r>
            <a:endParaRPr lang="en-US" sz="850" dirty="0"/>
          </a:p>
        </p:txBody>
      </p:sp>
      <p:sp>
        <p:nvSpPr>
          <p:cNvPr id="29" name="Text 27"/>
          <p:cNvSpPr/>
          <p:nvPr/>
        </p:nvSpPr>
        <p:spPr>
          <a:xfrm>
            <a:off x="4663440" y="4572000"/>
            <a:ext cx="2834640" cy="320040"/>
          </a:xfrm>
          <a:prstGeom prst="rect">
            <a:avLst/>
          </a:prstGeom>
          <a:noFill/>
          <a:ln/>
        </p:spPr>
        <p:txBody>
          <a:bodyPr wrap="square" rtlCol="0" anchor="ctr"/>
          <a:lstStyle/>
          <a:p>
            <a:pPr indent="0" marL="0">
              <a:buNone/>
            </a:pPr>
            <a:r>
              <a:rPr lang="en-US" sz="1200" b="1" dirty="0">
                <a:solidFill>
                  <a:srgbClr val="0F172A"/>
                </a:solidFill>
                <a:latin typeface="Segoe UI" pitchFamily="34" charset="0"/>
                <a:ea typeface="Segoe UI" pitchFamily="34" charset="-122"/>
                <a:cs typeface="Segoe UI" pitchFamily="34" charset="-120"/>
              </a:rPr>
              <a:t>Immutable Digital Rx</a:t>
            </a:r>
            <a:endParaRPr lang="en-US" sz="1200" dirty="0"/>
          </a:p>
        </p:txBody>
      </p:sp>
      <p:sp>
        <p:nvSpPr>
          <p:cNvPr id="30" name="Text 28"/>
          <p:cNvSpPr/>
          <p:nvPr/>
        </p:nvSpPr>
        <p:spPr>
          <a:xfrm>
            <a:off x="4663440" y="4937760"/>
            <a:ext cx="2834640" cy="1188720"/>
          </a:xfrm>
          <a:prstGeom prst="rect">
            <a:avLst/>
          </a:prstGeom>
          <a:noFill/>
          <a:ln/>
        </p:spPr>
        <p:txBody>
          <a:bodyPr wrap="square" rtlCol="0" anchor="ctr"/>
          <a:lstStyle/>
          <a:p>
            <a:pPr indent="0" marL="0">
              <a:lnSpc>
                <a:spcPts val="1600"/>
              </a:lnSpc>
              <a:buNone/>
            </a:pPr>
            <a:r>
              <a:rPr lang="en-US" sz="1000" dirty="0">
                <a:solidFill>
                  <a:srgbClr val="334155"/>
                </a:solidFill>
                <a:latin typeface="Segoe UI" pitchFamily="34" charset="0"/>
                <a:ea typeface="Segoe UI" pitchFamily="34" charset="-122"/>
                <a:cs typeface="Segoe UI" pitchFamily="34" charset="-120"/>
              </a:rPr>
              <a:t>Standardized dental drugs selected; finalized Rx signed with official clinic letterhead.</a:t>
            </a:r>
            <a:endParaRPr lang="en-US" sz="1000" dirty="0"/>
          </a:p>
        </p:txBody>
      </p:sp>
      <p:sp>
        <p:nvSpPr>
          <p:cNvPr id="31" name="Shape 29"/>
          <p:cNvSpPr/>
          <p:nvPr/>
        </p:nvSpPr>
        <p:spPr>
          <a:xfrm>
            <a:off x="8046720" y="4023360"/>
            <a:ext cx="3383280" cy="2286000"/>
          </a:xfrm>
          <a:prstGeom prst="roundRect">
            <a:avLst>
              <a:gd name="adj" fmla="val 4000"/>
            </a:avLst>
          </a:prstGeom>
          <a:solidFill>
            <a:srgbClr val="FFFFFF"/>
          </a:solidFill>
          <a:ln w="12700">
            <a:solidFill>
              <a:srgbClr val="E2E8F0"/>
            </a:solidFill>
            <a:prstDash val="solid"/>
          </a:ln>
        </p:spPr>
      </p:sp>
      <p:sp>
        <p:nvSpPr>
          <p:cNvPr id="32" name="Shape 30"/>
          <p:cNvSpPr/>
          <p:nvPr/>
        </p:nvSpPr>
        <p:spPr>
          <a:xfrm>
            <a:off x="8321040" y="4251960"/>
            <a:ext cx="1097280" cy="228600"/>
          </a:xfrm>
          <a:prstGeom prst="roundRect">
            <a:avLst>
              <a:gd name="adj" fmla="val 20000"/>
            </a:avLst>
          </a:prstGeom>
          <a:solidFill>
            <a:srgbClr val="F0FDFA"/>
          </a:solidFill>
          <a:ln w="12700">
            <a:solidFill>
              <a:srgbClr val="CCFBF1"/>
            </a:solidFill>
            <a:prstDash val="solid"/>
          </a:ln>
        </p:spPr>
      </p:sp>
      <p:sp>
        <p:nvSpPr>
          <p:cNvPr id="33" name="Text 31"/>
          <p:cNvSpPr/>
          <p:nvPr/>
        </p:nvSpPr>
        <p:spPr>
          <a:xfrm>
            <a:off x="8321040" y="4251960"/>
            <a:ext cx="1097280" cy="228600"/>
          </a:xfrm>
          <a:prstGeom prst="rect">
            <a:avLst/>
          </a:prstGeom>
          <a:noFill/>
          <a:ln/>
        </p:spPr>
        <p:txBody>
          <a:bodyPr wrap="square" rtlCol="0" anchor="ctr"/>
          <a:lstStyle/>
          <a:p>
            <a:pPr algn="ctr" indent="0" marL="0">
              <a:buNone/>
            </a:pPr>
            <a:r>
              <a:rPr lang="en-US" sz="850" b="1" dirty="0">
                <a:solidFill>
                  <a:srgbClr val="0F766E"/>
                </a:solidFill>
                <a:latin typeface="Segoe UI" pitchFamily="34" charset="0"/>
                <a:ea typeface="Segoe UI" pitchFamily="34" charset="-122"/>
                <a:cs typeface="Segoe UI" pitchFamily="34" charset="-120"/>
              </a:rPr>
              <a:t>STEP 6</a:t>
            </a:r>
            <a:endParaRPr lang="en-US" sz="850" dirty="0"/>
          </a:p>
        </p:txBody>
      </p:sp>
      <p:sp>
        <p:nvSpPr>
          <p:cNvPr id="34" name="Text 32"/>
          <p:cNvSpPr/>
          <p:nvPr/>
        </p:nvSpPr>
        <p:spPr>
          <a:xfrm>
            <a:off x="8321040" y="4572000"/>
            <a:ext cx="2834640" cy="320040"/>
          </a:xfrm>
          <a:prstGeom prst="rect">
            <a:avLst/>
          </a:prstGeom>
          <a:noFill/>
          <a:ln/>
        </p:spPr>
        <p:txBody>
          <a:bodyPr wrap="square" rtlCol="0" anchor="ctr"/>
          <a:lstStyle/>
          <a:p>
            <a:pPr indent="0" marL="0">
              <a:buNone/>
            </a:pPr>
            <a:r>
              <a:rPr lang="en-US" sz="1200" b="1" dirty="0">
                <a:solidFill>
                  <a:srgbClr val="0F172A"/>
                </a:solidFill>
                <a:latin typeface="Segoe UI" pitchFamily="34" charset="0"/>
                <a:ea typeface="Segoe UI" pitchFamily="34" charset="-122"/>
                <a:cs typeface="Segoe UI" pitchFamily="34" charset="-120"/>
              </a:rPr>
              <a:t>Patient Self-Service</a:t>
            </a:r>
            <a:endParaRPr lang="en-US" sz="1200" dirty="0"/>
          </a:p>
        </p:txBody>
      </p:sp>
      <p:sp>
        <p:nvSpPr>
          <p:cNvPr id="35" name="Text 33"/>
          <p:cNvSpPr/>
          <p:nvPr/>
        </p:nvSpPr>
        <p:spPr>
          <a:xfrm>
            <a:off x="8321040" y="4937760"/>
            <a:ext cx="2834640" cy="1188720"/>
          </a:xfrm>
          <a:prstGeom prst="rect">
            <a:avLst/>
          </a:prstGeom>
          <a:noFill/>
          <a:ln/>
        </p:spPr>
        <p:txBody>
          <a:bodyPr wrap="square" rtlCol="0" anchor="ctr"/>
          <a:lstStyle/>
          <a:p>
            <a:pPr indent="0" marL="0">
              <a:lnSpc>
                <a:spcPts val="1600"/>
              </a:lnSpc>
              <a:buNone/>
            </a:pPr>
            <a:r>
              <a:rPr lang="en-US" sz="1000" dirty="0">
                <a:solidFill>
                  <a:srgbClr val="334155"/>
                </a:solidFill>
                <a:latin typeface="Segoe UI" pitchFamily="34" charset="0"/>
                <a:ea typeface="Segoe UI" pitchFamily="34" charset="-122"/>
                <a:cs typeface="Segoe UI" pitchFamily="34" charset="-120"/>
              </a:rPr>
              <a:t>Patient logs into Patient Portal from mobile device to review active Rx &amp; visits.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365760"/>
            <a:ext cx="2560320" cy="320040"/>
          </a:xfrm>
          <a:prstGeom prst="roundRect">
            <a:avLst>
              <a:gd name="adj" fmla="val 22857"/>
            </a:avLst>
          </a:prstGeom>
          <a:solidFill>
            <a:srgbClr val="F0FDFA"/>
          </a:solidFill>
          <a:ln w="12700">
            <a:solidFill>
              <a:srgbClr val="CCFBF1"/>
            </a:solidFill>
            <a:prstDash val="solid"/>
          </a:ln>
        </p:spPr>
      </p:sp>
      <p:sp>
        <p:nvSpPr>
          <p:cNvPr id="3" name="Text 1"/>
          <p:cNvSpPr/>
          <p:nvPr/>
        </p:nvSpPr>
        <p:spPr>
          <a:xfrm>
            <a:off x="731520" y="365760"/>
            <a:ext cx="2560320" cy="320040"/>
          </a:xfrm>
          <a:prstGeom prst="rect">
            <a:avLst/>
          </a:prstGeom>
          <a:noFill/>
          <a:ln/>
        </p:spPr>
        <p:txBody>
          <a:bodyPr wrap="square" rtlCol="0" anchor="ctr"/>
          <a:lstStyle/>
          <a:p>
            <a:pPr algn="ctr" indent="0" marL="0">
              <a:buNone/>
            </a:pPr>
            <a:r>
              <a:rPr lang="en-US" sz="950" b="1" dirty="0">
                <a:solidFill>
                  <a:srgbClr val="0F766E"/>
                </a:solidFill>
                <a:latin typeface="Segoe UI" pitchFamily="34" charset="0"/>
                <a:ea typeface="Segoe UI" pitchFamily="34" charset="-122"/>
                <a:cs typeface="Segoe UI" pitchFamily="34" charset="-120"/>
              </a:rPr>
              <a:t>SECURITY MODEL</a:t>
            </a:r>
            <a:endParaRPr lang="en-US" sz="950" dirty="0"/>
          </a:p>
        </p:txBody>
      </p:sp>
      <p:sp>
        <p:nvSpPr>
          <p:cNvPr id="4" name="Text 2"/>
          <p:cNvSpPr/>
          <p:nvPr/>
        </p:nvSpPr>
        <p:spPr>
          <a:xfrm>
            <a:off x="731520" y="749808"/>
            <a:ext cx="10698480" cy="41148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Security Architecture &amp; Healthcare Data Governance</a:t>
            </a:r>
            <a:endParaRPr lang="en-US" sz="2200" dirty="0"/>
          </a:p>
        </p:txBody>
      </p:sp>
      <p:sp>
        <p:nvSpPr>
          <p:cNvPr id="5" name="Text 3"/>
          <p:cNvSpPr/>
          <p:nvPr/>
        </p:nvSpPr>
        <p:spPr>
          <a:xfrm>
            <a:off x="731520" y="1188720"/>
            <a:ext cx="10698480" cy="274320"/>
          </a:xfrm>
          <a:prstGeom prst="rect">
            <a:avLst/>
          </a:prstGeom>
          <a:noFill/>
          <a:ln/>
        </p:spPr>
        <p:txBody>
          <a:bodyPr wrap="square" rtlCol="0" anchor="t"/>
          <a:lstStyle/>
          <a:p>
            <a:pPr indent="0" marL="0">
              <a:buNone/>
            </a:pPr>
            <a:r>
              <a:rPr lang="en-US" sz="1100" dirty="0">
                <a:solidFill>
                  <a:srgbClr val="64748B"/>
                </a:solidFill>
                <a:latin typeface="Segoe UI" pitchFamily="34" charset="0"/>
                <a:ea typeface="Segoe UI" pitchFamily="34" charset="-122"/>
                <a:cs typeface="Segoe UI" pitchFamily="34" charset="-120"/>
              </a:rPr>
              <a:t>Built-in privacy and legal integrity without unsupported compliance claims</a:t>
            </a:r>
            <a:endParaRPr lang="en-US" sz="1100" dirty="0"/>
          </a:p>
        </p:txBody>
      </p:sp>
      <p:sp>
        <p:nvSpPr>
          <p:cNvPr id="6" name="Shape 4"/>
          <p:cNvSpPr/>
          <p:nvPr/>
        </p:nvSpPr>
        <p:spPr>
          <a:xfrm>
            <a:off x="731520" y="1554480"/>
            <a:ext cx="3383280" cy="3931920"/>
          </a:xfrm>
          <a:prstGeom prst="roundRect">
            <a:avLst>
              <a:gd name="adj" fmla="val 2703"/>
            </a:avLst>
          </a:prstGeom>
          <a:solidFill>
            <a:srgbClr val="FFFFFF"/>
          </a:solidFill>
          <a:ln w="12700">
            <a:solidFill>
              <a:srgbClr val="E2E8F0"/>
            </a:solidFill>
            <a:prstDash val="solid"/>
          </a:ln>
        </p:spPr>
      </p:sp>
      <p:sp>
        <p:nvSpPr>
          <p:cNvPr id="7" name="Shape 5"/>
          <p:cNvSpPr/>
          <p:nvPr/>
        </p:nvSpPr>
        <p:spPr>
          <a:xfrm>
            <a:off x="1005840" y="1828800"/>
            <a:ext cx="1828800" cy="274320"/>
          </a:xfrm>
          <a:prstGeom prst="roundRect">
            <a:avLst>
              <a:gd name="adj" fmla="val 20000"/>
            </a:avLst>
          </a:prstGeom>
          <a:solidFill>
            <a:srgbClr val="F0FDFA"/>
          </a:solidFill>
          <a:ln w="12700">
            <a:solidFill>
              <a:srgbClr val="CCFBF1"/>
            </a:solidFill>
            <a:prstDash val="solid"/>
          </a:ln>
        </p:spPr>
      </p:sp>
      <p:sp>
        <p:nvSpPr>
          <p:cNvPr id="8" name="Text 6"/>
          <p:cNvSpPr/>
          <p:nvPr/>
        </p:nvSpPr>
        <p:spPr>
          <a:xfrm>
            <a:off x="1005840" y="1828800"/>
            <a:ext cx="1828800" cy="274320"/>
          </a:xfrm>
          <a:prstGeom prst="rect">
            <a:avLst/>
          </a:prstGeom>
          <a:noFill/>
          <a:ln/>
        </p:spPr>
        <p:txBody>
          <a:bodyPr wrap="square" rtlCol="0" anchor="ctr"/>
          <a:lstStyle/>
          <a:p>
            <a:pPr algn="ctr" indent="0" marL="0">
              <a:buNone/>
            </a:pPr>
            <a:r>
              <a:rPr lang="en-US" sz="850" b="1" dirty="0">
                <a:solidFill>
                  <a:srgbClr val="0F766E"/>
                </a:solidFill>
                <a:latin typeface="Segoe UI" pitchFamily="34" charset="0"/>
                <a:ea typeface="Segoe UI" pitchFamily="34" charset="-122"/>
                <a:cs typeface="Segoe UI" pitchFamily="34" charset="-120"/>
              </a:rPr>
              <a:t>DATABASE LEVEL</a:t>
            </a:r>
            <a:endParaRPr lang="en-US" sz="850" dirty="0"/>
          </a:p>
        </p:txBody>
      </p:sp>
      <p:sp>
        <p:nvSpPr>
          <p:cNvPr id="9" name="Text 7"/>
          <p:cNvSpPr/>
          <p:nvPr/>
        </p:nvSpPr>
        <p:spPr>
          <a:xfrm>
            <a:off x="1005840" y="2240280"/>
            <a:ext cx="2834640" cy="365760"/>
          </a:xfrm>
          <a:prstGeom prst="rect">
            <a:avLst/>
          </a:prstGeom>
          <a:noFill/>
          <a:ln/>
        </p:spPr>
        <p:txBody>
          <a:bodyPr wrap="square" rtlCol="0" anchor="ctr"/>
          <a:lstStyle/>
          <a:p>
            <a:pPr indent="0" marL="0">
              <a:buNone/>
            </a:pPr>
            <a:r>
              <a:rPr lang="en-US" sz="1200" b="1" dirty="0">
                <a:solidFill>
                  <a:srgbClr val="0F172A"/>
                </a:solidFill>
                <a:latin typeface="Segoe UI" pitchFamily="34" charset="0"/>
                <a:ea typeface="Segoe UI" pitchFamily="34" charset="-122"/>
                <a:cs typeface="Segoe UI" pitchFamily="34" charset="-120"/>
              </a:rPr>
              <a:t>Row Level Security (RLS)</a:t>
            </a:r>
            <a:endParaRPr lang="en-US" sz="1200" dirty="0"/>
          </a:p>
        </p:txBody>
      </p:sp>
      <p:sp>
        <p:nvSpPr>
          <p:cNvPr id="10" name="Text 8"/>
          <p:cNvSpPr/>
          <p:nvPr/>
        </p:nvSpPr>
        <p:spPr>
          <a:xfrm>
            <a:off x="1005840" y="2697480"/>
            <a:ext cx="2834640" cy="2560320"/>
          </a:xfrm>
          <a:prstGeom prst="rect">
            <a:avLst/>
          </a:prstGeom>
          <a:noFill/>
          <a:ln/>
        </p:spPr>
        <p:txBody>
          <a:bodyPr wrap="square" rtlCol="0" anchor="ctr"/>
          <a:lstStyle/>
          <a:p>
            <a:pPr indent="0" marL="0">
              <a:lnSpc>
                <a:spcPts val="1700"/>
              </a:lnSpc>
              <a:buNone/>
            </a:pPr>
            <a:r>
              <a:rPr lang="en-US" sz="1050" dirty="0">
                <a:solidFill>
                  <a:srgbClr val="334155"/>
                </a:solidFill>
                <a:latin typeface="Segoe UI" pitchFamily="34" charset="0"/>
                <a:ea typeface="Segoe UI" pitchFamily="34" charset="-122"/>
                <a:cs typeface="Segoe UI" pitchFamily="34" charset="-120"/>
              </a:rPr>
              <a:t>All 10 tables enforce PostgreSQL Row Level Security. Patient queries are restricted at the engine level to records where user phone or patient ID matches the authenticated session, preventing URL/ID tampering.</a:t>
            </a:r>
            <a:endParaRPr lang="en-US" sz="1050" dirty="0"/>
          </a:p>
        </p:txBody>
      </p:sp>
      <p:sp>
        <p:nvSpPr>
          <p:cNvPr id="11" name="Shape 9"/>
          <p:cNvSpPr/>
          <p:nvPr/>
        </p:nvSpPr>
        <p:spPr>
          <a:xfrm>
            <a:off x="4389120" y="1554480"/>
            <a:ext cx="3383280" cy="3931920"/>
          </a:xfrm>
          <a:prstGeom prst="roundRect">
            <a:avLst>
              <a:gd name="adj" fmla="val 2703"/>
            </a:avLst>
          </a:prstGeom>
          <a:solidFill>
            <a:srgbClr val="FFFFFF"/>
          </a:solidFill>
          <a:ln w="12700">
            <a:solidFill>
              <a:srgbClr val="E2E8F0"/>
            </a:solidFill>
            <a:prstDash val="solid"/>
          </a:ln>
        </p:spPr>
      </p:sp>
      <p:sp>
        <p:nvSpPr>
          <p:cNvPr id="12" name="Shape 10"/>
          <p:cNvSpPr/>
          <p:nvPr/>
        </p:nvSpPr>
        <p:spPr>
          <a:xfrm>
            <a:off x="4663440" y="1828800"/>
            <a:ext cx="1828800" cy="274320"/>
          </a:xfrm>
          <a:prstGeom prst="roundRect">
            <a:avLst>
              <a:gd name="adj" fmla="val 20000"/>
            </a:avLst>
          </a:prstGeom>
          <a:solidFill>
            <a:srgbClr val="F0FDFA"/>
          </a:solidFill>
          <a:ln w="12700">
            <a:solidFill>
              <a:srgbClr val="CCFBF1"/>
            </a:solidFill>
            <a:prstDash val="solid"/>
          </a:ln>
        </p:spPr>
      </p:sp>
      <p:sp>
        <p:nvSpPr>
          <p:cNvPr id="13" name="Text 11"/>
          <p:cNvSpPr/>
          <p:nvPr/>
        </p:nvSpPr>
        <p:spPr>
          <a:xfrm>
            <a:off x="4663440" y="1828800"/>
            <a:ext cx="1828800" cy="274320"/>
          </a:xfrm>
          <a:prstGeom prst="rect">
            <a:avLst/>
          </a:prstGeom>
          <a:noFill/>
          <a:ln/>
        </p:spPr>
        <p:txBody>
          <a:bodyPr wrap="square" rtlCol="0" anchor="ctr"/>
          <a:lstStyle/>
          <a:p>
            <a:pPr algn="ctr" indent="0" marL="0">
              <a:buNone/>
            </a:pPr>
            <a:r>
              <a:rPr lang="en-US" sz="850" b="1" dirty="0">
                <a:solidFill>
                  <a:srgbClr val="0F766E"/>
                </a:solidFill>
                <a:latin typeface="Segoe UI" pitchFamily="34" charset="0"/>
                <a:ea typeface="Segoe UI" pitchFamily="34" charset="-122"/>
                <a:cs typeface="Segoe UI" pitchFamily="34" charset="-120"/>
              </a:rPr>
              <a:t>CLINICAL INTEGRITY</a:t>
            </a:r>
            <a:endParaRPr lang="en-US" sz="850" dirty="0"/>
          </a:p>
        </p:txBody>
      </p:sp>
      <p:sp>
        <p:nvSpPr>
          <p:cNvPr id="14" name="Text 12"/>
          <p:cNvSpPr/>
          <p:nvPr/>
        </p:nvSpPr>
        <p:spPr>
          <a:xfrm>
            <a:off x="4663440" y="2240280"/>
            <a:ext cx="2834640" cy="365760"/>
          </a:xfrm>
          <a:prstGeom prst="rect">
            <a:avLst/>
          </a:prstGeom>
          <a:noFill/>
          <a:ln/>
        </p:spPr>
        <p:txBody>
          <a:bodyPr wrap="square" rtlCol="0" anchor="ctr"/>
          <a:lstStyle/>
          <a:p>
            <a:pPr indent="0" marL="0">
              <a:buNone/>
            </a:pPr>
            <a:r>
              <a:rPr lang="en-US" sz="1200" b="1" dirty="0">
                <a:solidFill>
                  <a:srgbClr val="0F172A"/>
                </a:solidFill>
                <a:latin typeface="Segoe UI" pitchFamily="34" charset="0"/>
                <a:ea typeface="Segoe UI" pitchFamily="34" charset="-122"/>
                <a:cs typeface="Segoe UI" pitchFamily="34" charset="-120"/>
              </a:rPr>
              <a:t>Prescription Immutability</a:t>
            </a:r>
            <a:endParaRPr lang="en-US" sz="1200" dirty="0"/>
          </a:p>
        </p:txBody>
      </p:sp>
      <p:sp>
        <p:nvSpPr>
          <p:cNvPr id="15" name="Text 13"/>
          <p:cNvSpPr/>
          <p:nvPr/>
        </p:nvSpPr>
        <p:spPr>
          <a:xfrm>
            <a:off x="4663440" y="2697480"/>
            <a:ext cx="2834640" cy="2560320"/>
          </a:xfrm>
          <a:prstGeom prst="rect">
            <a:avLst/>
          </a:prstGeom>
          <a:noFill/>
          <a:ln/>
        </p:spPr>
        <p:txBody>
          <a:bodyPr wrap="square" rtlCol="0" anchor="ctr"/>
          <a:lstStyle/>
          <a:p>
            <a:pPr indent="0" marL="0">
              <a:lnSpc>
                <a:spcPts val="1700"/>
              </a:lnSpc>
              <a:buNone/>
            </a:pPr>
            <a:r>
              <a:rPr lang="en-US" sz="1050" dirty="0">
                <a:solidFill>
                  <a:srgbClr val="334155"/>
                </a:solidFill>
                <a:latin typeface="Segoe UI" pitchFamily="34" charset="0"/>
                <a:ea typeface="Segoe UI" pitchFamily="34" charset="-122"/>
                <a:cs typeface="Segoe UI" pitchFamily="34" charset="-120"/>
              </a:rPr>
              <a:t>Medical prescriptions cannot be modified or deleted post-finalization (rx_no_update, rx_no_delete policies evaluate USING false). Check constraints ensure no empty prescriptions are recorded.</a:t>
            </a:r>
            <a:endParaRPr lang="en-US" sz="1050" dirty="0"/>
          </a:p>
        </p:txBody>
      </p:sp>
      <p:sp>
        <p:nvSpPr>
          <p:cNvPr id="16" name="Shape 14"/>
          <p:cNvSpPr/>
          <p:nvPr/>
        </p:nvSpPr>
        <p:spPr>
          <a:xfrm>
            <a:off x="8046720" y="1554480"/>
            <a:ext cx="3383280" cy="3931920"/>
          </a:xfrm>
          <a:prstGeom prst="roundRect">
            <a:avLst>
              <a:gd name="adj" fmla="val 2703"/>
            </a:avLst>
          </a:prstGeom>
          <a:solidFill>
            <a:srgbClr val="FFFFFF"/>
          </a:solidFill>
          <a:ln w="12700">
            <a:solidFill>
              <a:srgbClr val="E2E8F0"/>
            </a:solidFill>
            <a:prstDash val="solid"/>
          </a:ln>
        </p:spPr>
      </p:sp>
      <p:sp>
        <p:nvSpPr>
          <p:cNvPr id="17" name="Shape 15"/>
          <p:cNvSpPr/>
          <p:nvPr/>
        </p:nvSpPr>
        <p:spPr>
          <a:xfrm>
            <a:off x="8321040" y="1828800"/>
            <a:ext cx="1828800" cy="274320"/>
          </a:xfrm>
          <a:prstGeom prst="roundRect">
            <a:avLst>
              <a:gd name="adj" fmla="val 20000"/>
            </a:avLst>
          </a:prstGeom>
          <a:solidFill>
            <a:srgbClr val="F0FDFA"/>
          </a:solidFill>
          <a:ln w="12700">
            <a:solidFill>
              <a:srgbClr val="CCFBF1"/>
            </a:solidFill>
            <a:prstDash val="solid"/>
          </a:ln>
        </p:spPr>
      </p:sp>
      <p:sp>
        <p:nvSpPr>
          <p:cNvPr id="18" name="Text 16"/>
          <p:cNvSpPr/>
          <p:nvPr/>
        </p:nvSpPr>
        <p:spPr>
          <a:xfrm>
            <a:off x="8321040" y="1828800"/>
            <a:ext cx="1828800" cy="274320"/>
          </a:xfrm>
          <a:prstGeom prst="rect">
            <a:avLst/>
          </a:prstGeom>
          <a:noFill/>
          <a:ln/>
        </p:spPr>
        <p:txBody>
          <a:bodyPr wrap="square" rtlCol="0" anchor="ctr"/>
          <a:lstStyle/>
          <a:p>
            <a:pPr algn="ctr" indent="0" marL="0">
              <a:buNone/>
            </a:pPr>
            <a:r>
              <a:rPr lang="en-US" sz="850" b="1" dirty="0">
                <a:solidFill>
                  <a:srgbClr val="0F766E"/>
                </a:solidFill>
                <a:latin typeface="Segoe UI" pitchFamily="34" charset="0"/>
                <a:ea typeface="Segoe UI" pitchFamily="34" charset="-122"/>
                <a:cs typeface="Segoe UI" pitchFamily="34" charset="-120"/>
              </a:rPr>
              <a:t>ACCESS CONTROL</a:t>
            </a:r>
            <a:endParaRPr lang="en-US" sz="850" dirty="0"/>
          </a:p>
        </p:txBody>
      </p:sp>
      <p:sp>
        <p:nvSpPr>
          <p:cNvPr id="19" name="Text 17"/>
          <p:cNvSpPr/>
          <p:nvPr/>
        </p:nvSpPr>
        <p:spPr>
          <a:xfrm>
            <a:off x="8321040" y="2240280"/>
            <a:ext cx="2834640" cy="365760"/>
          </a:xfrm>
          <a:prstGeom prst="rect">
            <a:avLst/>
          </a:prstGeom>
          <a:noFill/>
          <a:ln/>
        </p:spPr>
        <p:txBody>
          <a:bodyPr wrap="square" rtlCol="0" anchor="ctr"/>
          <a:lstStyle/>
          <a:p>
            <a:pPr indent="0" marL="0">
              <a:buNone/>
            </a:pPr>
            <a:r>
              <a:rPr lang="en-US" sz="1200" b="1" dirty="0">
                <a:solidFill>
                  <a:srgbClr val="0F172A"/>
                </a:solidFill>
                <a:latin typeface="Segoe UI" pitchFamily="34" charset="0"/>
                <a:ea typeface="Segoe UI" pitchFamily="34" charset="-122"/>
                <a:cs typeface="Segoe UI" pitchFamily="34" charset="-120"/>
              </a:rPr>
              <a:t>RBAC &amp; Secret Isolation</a:t>
            </a:r>
            <a:endParaRPr lang="en-US" sz="1200" dirty="0"/>
          </a:p>
        </p:txBody>
      </p:sp>
      <p:sp>
        <p:nvSpPr>
          <p:cNvPr id="20" name="Text 18"/>
          <p:cNvSpPr/>
          <p:nvPr/>
        </p:nvSpPr>
        <p:spPr>
          <a:xfrm>
            <a:off x="8321040" y="2697480"/>
            <a:ext cx="2834640" cy="2560320"/>
          </a:xfrm>
          <a:prstGeom prst="rect">
            <a:avLst/>
          </a:prstGeom>
          <a:noFill/>
          <a:ln/>
        </p:spPr>
        <p:txBody>
          <a:bodyPr wrap="square" rtlCol="0" anchor="ctr"/>
          <a:lstStyle/>
          <a:p>
            <a:pPr indent="0" marL="0">
              <a:lnSpc>
                <a:spcPts val="1700"/>
              </a:lnSpc>
              <a:buNone/>
            </a:pPr>
            <a:r>
              <a:rPr lang="en-US" sz="1050" dirty="0">
                <a:solidFill>
                  <a:srgbClr val="334155"/>
                </a:solidFill>
                <a:latin typeface="Segoe UI" pitchFamily="34" charset="0"/>
                <a:ea typeface="Segoe UI" pitchFamily="34" charset="-122"/>
                <a:cs typeface="Segoe UI" pitchFamily="34" charset="-120"/>
              </a:rPr>
              <a:t>Triggers prevent client-side privilege escalation. Private API credentials (Resend API key, Supabase service-role) are isolated exclusively in serverless API routes, never exposed to browser clients.</a:t>
            </a:r>
            <a:endParaRPr lang="en-US" sz="1050" dirty="0"/>
          </a:p>
        </p:txBody>
      </p:sp>
      <p:sp>
        <p:nvSpPr>
          <p:cNvPr id="21" name="Shape 19"/>
          <p:cNvSpPr/>
          <p:nvPr/>
        </p:nvSpPr>
        <p:spPr>
          <a:xfrm>
            <a:off x="731520" y="5669280"/>
            <a:ext cx="10698480" cy="640080"/>
          </a:xfrm>
          <a:prstGeom prst="roundRect">
            <a:avLst>
              <a:gd name="adj" fmla="val 14286"/>
            </a:avLst>
          </a:prstGeom>
          <a:solidFill>
            <a:srgbClr val="FFFFFF"/>
          </a:solidFill>
          <a:ln w="12700">
            <a:solidFill>
              <a:srgbClr val="E2E8F0"/>
            </a:solidFill>
            <a:prstDash val="solid"/>
          </a:ln>
        </p:spPr>
      </p:sp>
      <p:sp>
        <p:nvSpPr>
          <p:cNvPr id="22" name="Text 20"/>
          <p:cNvSpPr/>
          <p:nvPr/>
        </p:nvSpPr>
        <p:spPr>
          <a:xfrm>
            <a:off x="1005840" y="5806440"/>
            <a:ext cx="10149840" cy="365760"/>
          </a:xfrm>
          <a:prstGeom prst="rect">
            <a:avLst/>
          </a:prstGeom>
          <a:noFill/>
          <a:ln/>
        </p:spPr>
        <p:txBody>
          <a:bodyPr wrap="square" rtlCol="0" anchor="ctr"/>
          <a:lstStyle/>
          <a:p>
            <a:pPr indent="0" marL="0">
              <a:buNone/>
            </a:pPr>
            <a:r>
              <a:rPr lang="en-US" sz="950" dirty="0">
                <a:solidFill>
                  <a:srgbClr val="64748B"/>
                </a:solidFill>
                <a:latin typeface="Segoe UI" pitchFamily="34" charset="0"/>
                <a:ea typeface="Segoe UI" pitchFamily="34" charset="-122"/>
                <a:cs typeface="Segoe UI" pitchFamily="34" charset="-120"/>
              </a:rPr>
              <a:t>AUDIT TRANSPARENCY NOTICE: The application enforces robust engineering security patterns (PostgreSQL RLS, secret isolation, audit logging). No formal HIPAA or NABH certifications are claimed, reflecting academic honesty.</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365760"/>
            <a:ext cx="2560320" cy="320040"/>
          </a:xfrm>
          <a:prstGeom prst="roundRect">
            <a:avLst>
              <a:gd name="adj" fmla="val 22857"/>
            </a:avLst>
          </a:prstGeom>
          <a:solidFill>
            <a:srgbClr val="F0FDFA"/>
          </a:solidFill>
          <a:ln w="12700">
            <a:solidFill>
              <a:srgbClr val="CCFBF1"/>
            </a:solidFill>
            <a:prstDash val="solid"/>
          </a:ln>
        </p:spPr>
      </p:sp>
      <p:sp>
        <p:nvSpPr>
          <p:cNvPr id="3" name="Text 1"/>
          <p:cNvSpPr/>
          <p:nvPr/>
        </p:nvSpPr>
        <p:spPr>
          <a:xfrm>
            <a:off x="731520" y="365760"/>
            <a:ext cx="2560320" cy="320040"/>
          </a:xfrm>
          <a:prstGeom prst="rect">
            <a:avLst/>
          </a:prstGeom>
          <a:noFill/>
          <a:ln/>
        </p:spPr>
        <p:txBody>
          <a:bodyPr wrap="square" rtlCol="0" anchor="ctr"/>
          <a:lstStyle/>
          <a:p>
            <a:pPr algn="ctr" indent="0" marL="0">
              <a:buNone/>
            </a:pPr>
            <a:r>
              <a:rPr lang="en-US" sz="950" b="1" dirty="0">
                <a:solidFill>
                  <a:srgbClr val="0F766E"/>
                </a:solidFill>
                <a:latin typeface="Segoe UI" pitchFamily="34" charset="0"/>
                <a:ea typeface="Segoe UI" pitchFamily="34" charset="-122"/>
                <a:cs typeface="Segoe UI" pitchFamily="34" charset="-120"/>
              </a:rPr>
              <a:t>LIVE DEPLOYMENT</a:t>
            </a:r>
            <a:endParaRPr lang="en-US" sz="950" dirty="0"/>
          </a:p>
        </p:txBody>
      </p:sp>
      <p:sp>
        <p:nvSpPr>
          <p:cNvPr id="4" name="Text 2"/>
          <p:cNvSpPr/>
          <p:nvPr/>
        </p:nvSpPr>
        <p:spPr>
          <a:xfrm>
            <a:off x="731520" y="749808"/>
            <a:ext cx="10698480" cy="41148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Working Product Verification &amp; Live Cloud Deployment</a:t>
            </a:r>
            <a:endParaRPr lang="en-US" sz="2200" dirty="0"/>
          </a:p>
        </p:txBody>
      </p:sp>
      <p:sp>
        <p:nvSpPr>
          <p:cNvPr id="5" name="Text 3"/>
          <p:cNvSpPr/>
          <p:nvPr/>
        </p:nvSpPr>
        <p:spPr>
          <a:xfrm>
            <a:off x="731520" y="1188720"/>
            <a:ext cx="10698480" cy="274320"/>
          </a:xfrm>
          <a:prstGeom prst="rect">
            <a:avLst/>
          </a:prstGeom>
          <a:noFill/>
          <a:ln/>
        </p:spPr>
        <p:txBody>
          <a:bodyPr wrap="square" rtlCol="0" anchor="t"/>
          <a:lstStyle/>
          <a:p>
            <a:pPr indent="0" marL="0">
              <a:buNone/>
            </a:pPr>
            <a:r>
              <a:rPr lang="en-US" sz="1100" dirty="0">
                <a:solidFill>
                  <a:srgbClr val="64748B"/>
                </a:solidFill>
                <a:latin typeface="Segoe UI" pitchFamily="34" charset="0"/>
                <a:ea typeface="Segoe UI" pitchFamily="34" charset="-122"/>
                <a:cs typeface="Segoe UI" pitchFamily="34" charset="-120"/>
              </a:rPr>
              <a:t>Operational verification on Vercel Edge Network backed by automated test suites</a:t>
            </a:r>
            <a:endParaRPr lang="en-US" sz="1100" dirty="0"/>
          </a:p>
        </p:txBody>
      </p:sp>
      <p:sp>
        <p:nvSpPr>
          <p:cNvPr id="6" name="Shape 4"/>
          <p:cNvSpPr/>
          <p:nvPr/>
        </p:nvSpPr>
        <p:spPr>
          <a:xfrm>
            <a:off x="731520" y="1554480"/>
            <a:ext cx="5212080" cy="4663440"/>
          </a:xfrm>
          <a:prstGeom prst="roundRect">
            <a:avLst>
              <a:gd name="adj" fmla="val 1961"/>
            </a:avLst>
          </a:prstGeom>
          <a:solidFill>
            <a:srgbClr val="FFFFFF"/>
          </a:solidFill>
          <a:ln w="12700">
            <a:solidFill>
              <a:srgbClr val="E2E8F0"/>
            </a:solidFill>
            <a:prstDash val="solid"/>
          </a:ln>
        </p:spPr>
      </p:sp>
      <p:sp>
        <p:nvSpPr>
          <p:cNvPr id="7" name="Text 5"/>
          <p:cNvSpPr/>
          <p:nvPr/>
        </p:nvSpPr>
        <p:spPr>
          <a:xfrm>
            <a:off x="1005840" y="1828800"/>
            <a:ext cx="4663440" cy="274320"/>
          </a:xfrm>
          <a:prstGeom prst="rect">
            <a:avLst/>
          </a:prstGeom>
          <a:noFill/>
          <a:ln/>
        </p:spPr>
        <p:txBody>
          <a:bodyPr wrap="square" rtlCol="0" anchor="ctr"/>
          <a:lstStyle/>
          <a:p>
            <a:pPr indent="0" marL="0">
              <a:buNone/>
            </a:pPr>
            <a:r>
              <a:rPr lang="en-US" sz="1200" b="1" dirty="0">
                <a:solidFill>
                  <a:srgbClr val="0F766E"/>
                </a:solidFill>
                <a:latin typeface="Segoe UI" pitchFamily="34" charset="0"/>
                <a:ea typeface="Segoe UI" pitchFamily="34" charset="-122"/>
                <a:cs typeface="Segoe UI" pitchFamily="34" charset="-120"/>
              </a:rPr>
              <a:t>CLOUD DEPLOYMENT STATUS</a:t>
            </a:r>
            <a:endParaRPr lang="en-US" sz="1200" dirty="0"/>
          </a:p>
        </p:txBody>
      </p:sp>
      <p:sp>
        <p:nvSpPr>
          <p:cNvPr id="8" name="Text 6"/>
          <p:cNvSpPr/>
          <p:nvPr/>
        </p:nvSpPr>
        <p:spPr>
          <a:xfrm>
            <a:off x="1005840" y="2194560"/>
            <a:ext cx="4663440" cy="3840480"/>
          </a:xfrm>
          <a:prstGeom prst="rect">
            <a:avLst/>
          </a:prstGeom>
          <a:noFill/>
          <a:ln/>
        </p:spPr>
        <p:txBody>
          <a:bodyPr wrap="square" rtlCol="0" anchor="ctr"/>
          <a:lstStyle/>
          <a:p>
            <a:pPr indent="0" marL="0">
              <a:lnSpc>
                <a:spcPts val="1800"/>
              </a:lnSpc>
              <a:buNone/>
            </a:pPr>
            <a:r>
              <a:rPr lang="en-US" sz="1100" b="1" dirty="0">
                <a:solidFill>
                  <a:srgbClr val="0F172A"/>
                </a:solidFill>
                <a:latin typeface="Segoe UI" pitchFamily="34" charset="0"/>
                <a:ea typeface="Segoe UI" pitchFamily="34" charset="-122"/>
                <a:cs typeface="Segoe UI" pitchFamily="34" charset="-120"/>
              </a:rPr>
              <a:t>Live Production URL:
</a:t>
            </a:r>
            <a:pPr indent="0" marL="0">
              <a:lnSpc>
                <a:spcPts val="1800"/>
              </a:lnSpc>
              <a:buNone/>
            </a:pPr>
            <a:r>
              <a:rPr lang="en-US" sz="1100" b="1" dirty="0">
                <a:solidFill>
                  <a:srgbClr val="0D9488"/>
                </a:solidFill>
                <a:latin typeface="Segoe UI" pitchFamily="34" charset="0"/>
                <a:ea typeface="Segoe UI" pitchFamily="34" charset="-122"/>
                <a:cs typeface="Segoe UI" pitchFamily="34" charset="-120"/>
              </a:rPr>
              <a:t>https://hmis-wine.vercel.app
</a:t>
            </a:r>
            <a:pPr indent="0" marL="0">
              <a:lnSpc>
                <a:spcPts val="1800"/>
              </a:lnSpc>
              <a:buNone/>
            </a:pPr>
            <a:r>
              <a:rPr lang="en-US" sz="1100" b="1" dirty="0">
                <a:solidFill>
                  <a:srgbClr val="0F172A"/>
                </a:solidFill>
                <a:latin typeface="Segoe UI" pitchFamily="34" charset="0"/>
                <a:ea typeface="Segoe UI" pitchFamily="34" charset="-122"/>
                <a:cs typeface="Segoe UI" pitchFamily="34" charset="-120"/>
              </a:rPr>
              <a:t>Edge Hosting Platform:
</a:t>
            </a:r>
            <a:pPr indent="0" marL="0">
              <a:lnSpc>
                <a:spcPts val="1800"/>
              </a:lnSpc>
              <a:buNone/>
            </a:pPr>
            <a:r>
              <a:rPr lang="en-US" sz="1100" dirty="0">
                <a:solidFill>
                  <a:srgbClr val="334155"/>
                </a:solidFill>
                <a:latin typeface="Segoe UI" pitchFamily="34" charset="0"/>
                <a:ea typeface="Segoe UI" pitchFamily="34" charset="-122"/>
                <a:cs typeface="Segoe UI" pitchFamily="34" charset="-120"/>
              </a:rPr>
              <a:t>Vercel Edge Network with automated SPA URL rewriting.
</a:t>
            </a:r>
            <a:pPr indent="0" marL="0">
              <a:lnSpc>
                <a:spcPts val="1800"/>
              </a:lnSpc>
              <a:buNone/>
            </a:pPr>
            <a:r>
              <a:rPr lang="en-US" sz="1100" b="1" dirty="0">
                <a:solidFill>
                  <a:srgbClr val="0F172A"/>
                </a:solidFill>
                <a:latin typeface="Segoe UI" pitchFamily="34" charset="0"/>
                <a:ea typeface="Segoe UI" pitchFamily="34" charset="-122"/>
                <a:cs typeface="Segoe UI" pitchFamily="34" charset="-120"/>
              </a:rPr>
              <a:t>Database Backend:
</a:t>
            </a:r>
            <a:pPr indent="0" marL="0">
              <a:lnSpc>
                <a:spcPts val="1800"/>
              </a:lnSpc>
              <a:buNone/>
            </a:pPr>
            <a:r>
              <a:rPr lang="en-US" sz="1100" dirty="0">
                <a:solidFill>
                  <a:srgbClr val="334155"/>
                </a:solidFill>
                <a:latin typeface="Segoe UI" pitchFamily="34" charset="0"/>
                <a:ea typeface="Segoe UI" pitchFamily="34" charset="-122"/>
                <a:cs typeface="Segoe UI" pitchFamily="34" charset="-120"/>
              </a:rPr>
              <a:t>Supabase Cloud (PostgreSQL 15, AWS ap-south-1 Mumbai).
</a:t>
            </a:r>
            <a:pPr indent="0" marL="0">
              <a:lnSpc>
                <a:spcPts val="1800"/>
              </a:lnSpc>
              <a:buNone/>
            </a:pPr>
            <a:r>
              <a:rPr lang="en-US" sz="1100" b="1" dirty="0">
                <a:solidFill>
                  <a:srgbClr val="0F172A"/>
                </a:solidFill>
                <a:latin typeface="Segoe UI" pitchFamily="34" charset="0"/>
                <a:ea typeface="Segoe UI" pitchFamily="34" charset="-122"/>
                <a:cs typeface="Segoe UI" pitchFamily="34" charset="-120"/>
              </a:rPr>
              <a:t>Mobile Evaluation:
</a:t>
            </a:r>
            <a:pPr indent="0" marL="0">
              <a:lnSpc>
                <a:spcPts val="1800"/>
              </a:lnSpc>
              <a:buNone/>
            </a:pPr>
            <a:r>
              <a:rPr lang="en-US" sz="1100" dirty="0">
                <a:solidFill>
                  <a:srgbClr val="334155"/>
                </a:solidFill>
                <a:latin typeface="Segoe UI" pitchFamily="34" charset="0"/>
                <a:ea typeface="Segoe UI" pitchFamily="34" charset="-122"/>
                <a:cs typeface="Segoe UI" pitchFamily="34" charset="-120"/>
              </a:rPr>
              <a:t>Evaluators can scan the QR code to interact with the responsive mobile patient portal on any smartphone.</a:t>
            </a:r>
            <a:endParaRPr lang="en-US" sz="1100" dirty="0"/>
          </a:p>
        </p:txBody>
      </p:sp>
      <p:sp>
        <p:nvSpPr>
          <p:cNvPr id="9" name="Shape 7"/>
          <p:cNvSpPr/>
          <p:nvPr/>
        </p:nvSpPr>
        <p:spPr>
          <a:xfrm>
            <a:off x="6217920" y="1554480"/>
            <a:ext cx="5212080" cy="4663440"/>
          </a:xfrm>
          <a:prstGeom prst="roundRect">
            <a:avLst>
              <a:gd name="adj" fmla="val 1961"/>
            </a:avLst>
          </a:prstGeom>
          <a:solidFill>
            <a:srgbClr val="FFFFFF"/>
          </a:solidFill>
          <a:ln w="12700">
            <a:solidFill>
              <a:srgbClr val="E2E8F0"/>
            </a:solidFill>
            <a:prstDash val="solid"/>
          </a:ln>
        </p:spPr>
      </p:sp>
      <p:sp>
        <p:nvSpPr>
          <p:cNvPr id="10" name="Text 8"/>
          <p:cNvSpPr/>
          <p:nvPr/>
        </p:nvSpPr>
        <p:spPr>
          <a:xfrm>
            <a:off x="6492240" y="1828800"/>
            <a:ext cx="4663440" cy="274320"/>
          </a:xfrm>
          <a:prstGeom prst="rect">
            <a:avLst/>
          </a:prstGeom>
          <a:noFill/>
          <a:ln/>
        </p:spPr>
        <p:txBody>
          <a:bodyPr wrap="square" rtlCol="0" anchor="ctr"/>
          <a:lstStyle/>
          <a:p>
            <a:pPr indent="0" marL="0">
              <a:buNone/>
            </a:pPr>
            <a:r>
              <a:rPr lang="en-US" sz="1200" b="1" dirty="0">
                <a:solidFill>
                  <a:srgbClr val="0F766E"/>
                </a:solidFill>
                <a:latin typeface="Segoe UI" pitchFamily="34" charset="0"/>
                <a:ea typeface="Segoe UI" pitchFamily="34" charset="-122"/>
                <a:cs typeface="Segoe UI" pitchFamily="34" charset="-120"/>
              </a:rPr>
              <a:t>AUTOMATED VERIFICATION BATTERY</a:t>
            </a:r>
            <a:endParaRPr lang="en-US" sz="1200" dirty="0"/>
          </a:p>
        </p:txBody>
      </p:sp>
      <p:sp>
        <p:nvSpPr>
          <p:cNvPr id="11" name="Text 9"/>
          <p:cNvSpPr/>
          <p:nvPr/>
        </p:nvSpPr>
        <p:spPr>
          <a:xfrm>
            <a:off x="6492240" y="2240280"/>
            <a:ext cx="4663440" cy="228600"/>
          </a:xfrm>
          <a:prstGeom prst="rect">
            <a:avLst/>
          </a:prstGeom>
          <a:noFill/>
          <a:ln/>
        </p:spPr>
        <p:txBody>
          <a:bodyPr wrap="square" rtlCol="0" anchor="ctr"/>
          <a:lstStyle/>
          <a:p>
            <a:pPr indent="0" marL="0">
              <a:buNone/>
            </a:pPr>
            <a:r>
              <a:rPr lang="en-US" sz="1050" b="1" dirty="0">
                <a:solidFill>
                  <a:srgbClr val="0F172A"/>
                </a:solidFill>
                <a:latin typeface="Segoe UI" pitchFamily="34" charset="0"/>
                <a:ea typeface="Segoe UI" pitchFamily="34" charset="-122"/>
                <a:cs typeface="Segoe UI" pitchFamily="34" charset="-120"/>
              </a:rPr>
              <a:t>ESLint Code Quality Suite</a:t>
            </a:r>
            <a:endParaRPr lang="en-US" sz="1050" dirty="0"/>
          </a:p>
        </p:txBody>
      </p:sp>
      <p:sp>
        <p:nvSpPr>
          <p:cNvPr id="12" name="Text 10"/>
          <p:cNvSpPr/>
          <p:nvPr/>
        </p:nvSpPr>
        <p:spPr>
          <a:xfrm>
            <a:off x="6492240" y="2496312"/>
            <a:ext cx="4663440" cy="274320"/>
          </a:xfrm>
          <a:prstGeom prst="rect">
            <a:avLst/>
          </a:prstGeom>
          <a:noFill/>
          <a:ln/>
        </p:spPr>
        <p:txBody>
          <a:bodyPr wrap="square" rtlCol="0" anchor="ctr"/>
          <a:lstStyle/>
          <a:p>
            <a:pPr indent="0" marL="0">
              <a:buNone/>
            </a:pPr>
            <a:r>
              <a:rPr lang="en-US" sz="1000" b="1" dirty="0">
                <a:solidFill>
                  <a:srgbClr val="059669"/>
                </a:solidFill>
                <a:latin typeface="Segoe UI" pitchFamily="34" charset="0"/>
                <a:ea typeface="Segoe UI" pitchFamily="34" charset="-122"/>
                <a:cs typeface="Segoe UI" pitchFamily="34" charset="-120"/>
              </a:rPr>
              <a:t>Status: PASS (0 Errors, 0 Warnings)</a:t>
            </a:r>
            <a:endParaRPr lang="en-US" sz="1000" dirty="0"/>
          </a:p>
        </p:txBody>
      </p:sp>
      <p:sp>
        <p:nvSpPr>
          <p:cNvPr id="13" name="Text 11"/>
          <p:cNvSpPr/>
          <p:nvPr/>
        </p:nvSpPr>
        <p:spPr>
          <a:xfrm>
            <a:off x="6492240" y="3017520"/>
            <a:ext cx="4663440" cy="228600"/>
          </a:xfrm>
          <a:prstGeom prst="rect">
            <a:avLst/>
          </a:prstGeom>
          <a:noFill/>
          <a:ln/>
        </p:spPr>
        <p:txBody>
          <a:bodyPr wrap="square" rtlCol="0" anchor="ctr"/>
          <a:lstStyle/>
          <a:p>
            <a:pPr indent="0" marL="0">
              <a:buNone/>
            </a:pPr>
            <a:r>
              <a:rPr lang="en-US" sz="1050" b="1" dirty="0">
                <a:solidFill>
                  <a:srgbClr val="0F172A"/>
                </a:solidFill>
                <a:latin typeface="Segoe UI" pitchFamily="34" charset="0"/>
                <a:ea typeface="Segoe UI" pitchFamily="34" charset="-122"/>
                <a:cs typeface="Segoe UI" pitchFamily="34" charset="-120"/>
              </a:rPr>
              <a:t>TypeScript &amp; Vite Production Bundle</a:t>
            </a:r>
            <a:endParaRPr lang="en-US" sz="1050" dirty="0"/>
          </a:p>
        </p:txBody>
      </p:sp>
      <p:sp>
        <p:nvSpPr>
          <p:cNvPr id="14" name="Text 12"/>
          <p:cNvSpPr/>
          <p:nvPr/>
        </p:nvSpPr>
        <p:spPr>
          <a:xfrm>
            <a:off x="6492240" y="3273552"/>
            <a:ext cx="4663440" cy="274320"/>
          </a:xfrm>
          <a:prstGeom prst="rect">
            <a:avLst/>
          </a:prstGeom>
          <a:noFill/>
          <a:ln/>
        </p:spPr>
        <p:txBody>
          <a:bodyPr wrap="square" rtlCol="0" anchor="ctr"/>
          <a:lstStyle/>
          <a:p>
            <a:pPr indent="0" marL="0">
              <a:buNone/>
            </a:pPr>
            <a:r>
              <a:rPr lang="en-US" sz="1000" b="1" dirty="0">
                <a:solidFill>
                  <a:srgbClr val="059669"/>
                </a:solidFill>
                <a:latin typeface="Segoe UI" pitchFamily="34" charset="0"/>
                <a:ea typeface="Segoe UI" pitchFamily="34" charset="-122"/>
                <a:cs typeface="Segoe UI" pitchFamily="34" charset="-120"/>
              </a:rPr>
              <a:t>Status: PASS (Zero compile errors, 8.65s)</a:t>
            </a:r>
            <a:endParaRPr lang="en-US" sz="1000" dirty="0"/>
          </a:p>
        </p:txBody>
      </p:sp>
      <p:sp>
        <p:nvSpPr>
          <p:cNvPr id="15" name="Text 13"/>
          <p:cNvSpPr/>
          <p:nvPr/>
        </p:nvSpPr>
        <p:spPr>
          <a:xfrm>
            <a:off x="6492240" y="3794760"/>
            <a:ext cx="4663440" cy="228600"/>
          </a:xfrm>
          <a:prstGeom prst="rect">
            <a:avLst/>
          </a:prstGeom>
          <a:noFill/>
          <a:ln/>
        </p:spPr>
        <p:txBody>
          <a:bodyPr wrap="square" rtlCol="0" anchor="ctr"/>
          <a:lstStyle/>
          <a:p>
            <a:pPr indent="0" marL="0">
              <a:buNone/>
            </a:pPr>
            <a:r>
              <a:rPr lang="en-US" sz="1050" b="1" dirty="0">
                <a:solidFill>
                  <a:srgbClr val="0F172A"/>
                </a:solidFill>
                <a:latin typeface="Segoe UI" pitchFamily="34" charset="0"/>
                <a:ea typeface="Segoe UI" pitchFamily="34" charset="-122"/>
                <a:cs typeface="Segoe UI" pitchFamily="34" charset="-120"/>
              </a:rPr>
              <a:t>Database Migration Integrity (001–012)</a:t>
            </a:r>
            <a:endParaRPr lang="en-US" sz="1050" dirty="0"/>
          </a:p>
        </p:txBody>
      </p:sp>
      <p:sp>
        <p:nvSpPr>
          <p:cNvPr id="16" name="Text 14"/>
          <p:cNvSpPr/>
          <p:nvPr/>
        </p:nvSpPr>
        <p:spPr>
          <a:xfrm>
            <a:off x="6492240" y="4050792"/>
            <a:ext cx="4663440" cy="274320"/>
          </a:xfrm>
          <a:prstGeom prst="rect">
            <a:avLst/>
          </a:prstGeom>
          <a:noFill/>
          <a:ln/>
        </p:spPr>
        <p:txBody>
          <a:bodyPr wrap="square" rtlCol="0" anchor="ctr"/>
          <a:lstStyle/>
          <a:p>
            <a:pPr indent="0" marL="0">
              <a:buNone/>
            </a:pPr>
            <a:r>
              <a:rPr lang="en-US" sz="1000" b="1" dirty="0">
                <a:solidFill>
                  <a:srgbClr val="059669"/>
                </a:solidFill>
                <a:latin typeface="Segoe UI" pitchFamily="34" charset="0"/>
                <a:ea typeface="Segoe UI" pitchFamily="34" charset="-122"/>
                <a:cs typeface="Segoe UI" pitchFamily="34" charset="-120"/>
              </a:rPr>
              <a:t>Status: PASS (All 12 files verified)</a:t>
            </a:r>
            <a:endParaRPr lang="en-US" sz="1000" dirty="0"/>
          </a:p>
        </p:txBody>
      </p:sp>
      <p:sp>
        <p:nvSpPr>
          <p:cNvPr id="17" name="Text 15"/>
          <p:cNvSpPr/>
          <p:nvPr/>
        </p:nvSpPr>
        <p:spPr>
          <a:xfrm>
            <a:off x="6492240" y="4572000"/>
            <a:ext cx="4663440" cy="228600"/>
          </a:xfrm>
          <a:prstGeom prst="rect">
            <a:avLst/>
          </a:prstGeom>
          <a:noFill/>
          <a:ln/>
        </p:spPr>
        <p:txBody>
          <a:bodyPr wrap="square" rtlCol="0" anchor="ctr"/>
          <a:lstStyle/>
          <a:p>
            <a:pPr indent="0" marL="0">
              <a:buNone/>
            </a:pPr>
            <a:r>
              <a:rPr lang="en-US" sz="1050" b="1" dirty="0">
                <a:solidFill>
                  <a:srgbClr val="0F172A"/>
                </a:solidFill>
                <a:latin typeface="Segoe UI" pitchFamily="34" charset="0"/>
                <a:ea typeface="Segoe UI" pitchFamily="34" charset="-122"/>
                <a:cs typeface="Segoe UI" pitchFamily="34" charset="-120"/>
              </a:rPr>
              <a:t>E2E Workflow Test Suite (9 Suites)</a:t>
            </a:r>
            <a:endParaRPr lang="en-US" sz="1050" dirty="0"/>
          </a:p>
        </p:txBody>
      </p:sp>
      <p:sp>
        <p:nvSpPr>
          <p:cNvPr id="18" name="Text 16"/>
          <p:cNvSpPr/>
          <p:nvPr/>
        </p:nvSpPr>
        <p:spPr>
          <a:xfrm>
            <a:off x="6492240" y="4828032"/>
            <a:ext cx="4663440" cy="274320"/>
          </a:xfrm>
          <a:prstGeom prst="rect">
            <a:avLst/>
          </a:prstGeom>
          <a:noFill/>
          <a:ln/>
        </p:spPr>
        <p:txBody>
          <a:bodyPr wrap="square" rtlCol="0" anchor="ctr"/>
          <a:lstStyle/>
          <a:p>
            <a:pPr indent="0" marL="0">
              <a:buNone/>
            </a:pPr>
            <a:r>
              <a:rPr lang="en-US" sz="1000" b="1" dirty="0">
                <a:solidFill>
                  <a:srgbClr val="059669"/>
                </a:solidFill>
                <a:latin typeface="Segoe UI" pitchFamily="34" charset="0"/>
                <a:ea typeface="Segoe UI" pitchFamily="34" charset="-122"/>
                <a:cs typeface="Segoe UI" pitchFamily="34" charset="-120"/>
              </a:rPr>
              <a:t>Status: PASS (60/60 Assertions Passing)</a:t>
            </a:r>
            <a:endParaRPr lang="en-US" sz="1000" dirty="0"/>
          </a:p>
        </p:txBody>
      </p:sp>
      <p:sp>
        <p:nvSpPr>
          <p:cNvPr id="19" name="Text 17"/>
          <p:cNvSpPr/>
          <p:nvPr/>
        </p:nvSpPr>
        <p:spPr>
          <a:xfrm>
            <a:off x="6492240" y="5349240"/>
            <a:ext cx="4663440" cy="228600"/>
          </a:xfrm>
          <a:prstGeom prst="rect">
            <a:avLst/>
          </a:prstGeom>
          <a:noFill/>
          <a:ln/>
        </p:spPr>
        <p:txBody>
          <a:bodyPr wrap="square" rtlCol="0" anchor="ctr"/>
          <a:lstStyle/>
          <a:p>
            <a:pPr indent="0" marL="0">
              <a:buNone/>
            </a:pPr>
            <a:r>
              <a:rPr lang="en-US" sz="1050" b="1" dirty="0">
                <a:solidFill>
                  <a:srgbClr val="0F172A"/>
                </a:solidFill>
                <a:latin typeface="Segoe UI" pitchFamily="34" charset="0"/>
                <a:ea typeface="Segoe UI" pitchFamily="34" charset="-122"/>
                <a:cs typeface="Segoe UI" pitchFamily="34" charset="-120"/>
              </a:rPr>
              <a:t>Live Supabase GoTrue Auth Login</a:t>
            </a:r>
            <a:endParaRPr lang="en-US" sz="1050" dirty="0"/>
          </a:p>
        </p:txBody>
      </p:sp>
      <p:sp>
        <p:nvSpPr>
          <p:cNvPr id="20" name="Text 18"/>
          <p:cNvSpPr/>
          <p:nvPr/>
        </p:nvSpPr>
        <p:spPr>
          <a:xfrm>
            <a:off x="6492240" y="5605272"/>
            <a:ext cx="4663440" cy="274320"/>
          </a:xfrm>
          <a:prstGeom prst="rect">
            <a:avLst/>
          </a:prstGeom>
          <a:noFill/>
          <a:ln/>
        </p:spPr>
        <p:txBody>
          <a:bodyPr wrap="square" rtlCol="0" anchor="ctr"/>
          <a:lstStyle/>
          <a:p>
            <a:pPr indent="0" marL="0">
              <a:buNone/>
            </a:pPr>
            <a:r>
              <a:rPr lang="en-US" sz="1000" b="1" dirty="0">
                <a:solidFill>
                  <a:srgbClr val="059669"/>
                </a:solidFill>
                <a:latin typeface="Segoe UI" pitchFamily="34" charset="0"/>
                <a:ea typeface="Segoe UI" pitchFamily="34" charset="-122"/>
                <a:cs typeface="Segoe UI" pitchFamily="34" charset="-120"/>
              </a:rPr>
              <a:t>Status: PASS (Admin, Doctor, Patient verified)</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365760"/>
            <a:ext cx="2560320" cy="320040"/>
          </a:xfrm>
          <a:prstGeom prst="roundRect">
            <a:avLst>
              <a:gd name="adj" fmla="val 22857"/>
            </a:avLst>
          </a:prstGeom>
          <a:solidFill>
            <a:srgbClr val="F0FDFA"/>
          </a:solidFill>
          <a:ln w="12700">
            <a:solidFill>
              <a:srgbClr val="CCFBF1"/>
            </a:solidFill>
            <a:prstDash val="solid"/>
          </a:ln>
        </p:spPr>
      </p:sp>
      <p:sp>
        <p:nvSpPr>
          <p:cNvPr id="3" name="Text 1"/>
          <p:cNvSpPr/>
          <p:nvPr/>
        </p:nvSpPr>
        <p:spPr>
          <a:xfrm>
            <a:off x="731520" y="365760"/>
            <a:ext cx="2560320" cy="320040"/>
          </a:xfrm>
          <a:prstGeom prst="rect">
            <a:avLst/>
          </a:prstGeom>
          <a:noFill/>
          <a:ln/>
        </p:spPr>
        <p:txBody>
          <a:bodyPr wrap="square" rtlCol="0" anchor="ctr"/>
          <a:lstStyle/>
          <a:p>
            <a:pPr algn="ctr" indent="0" marL="0">
              <a:buNone/>
            </a:pPr>
            <a:r>
              <a:rPr lang="en-US" sz="950" b="1" dirty="0">
                <a:solidFill>
                  <a:srgbClr val="0F766E"/>
                </a:solidFill>
                <a:latin typeface="Segoe UI" pitchFamily="34" charset="0"/>
                <a:ea typeface="Segoe UI" pitchFamily="34" charset="-122"/>
                <a:cs typeface="Segoe UI" pitchFamily="34" charset="-120"/>
              </a:rPr>
              <a:t>CLIENT VALIDATION</a:t>
            </a:r>
            <a:endParaRPr lang="en-US" sz="950" dirty="0"/>
          </a:p>
        </p:txBody>
      </p:sp>
      <p:sp>
        <p:nvSpPr>
          <p:cNvPr id="4" name="Text 2"/>
          <p:cNvSpPr/>
          <p:nvPr/>
        </p:nvSpPr>
        <p:spPr>
          <a:xfrm>
            <a:off x="731520" y="749808"/>
            <a:ext cx="10698480" cy="41148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Client Validation &amp; On-Site Evaluation Framework</a:t>
            </a:r>
            <a:endParaRPr lang="en-US" sz="2200" dirty="0"/>
          </a:p>
        </p:txBody>
      </p:sp>
      <p:sp>
        <p:nvSpPr>
          <p:cNvPr id="5" name="Text 3"/>
          <p:cNvSpPr/>
          <p:nvPr/>
        </p:nvSpPr>
        <p:spPr>
          <a:xfrm>
            <a:off x="731520" y="1188720"/>
            <a:ext cx="10698480" cy="274320"/>
          </a:xfrm>
          <a:prstGeom prst="rect">
            <a:avLst/>
          </a:prstGeom>
          <a:noFill/>
          <a:ln/>
        </p:spPr>
        <p:txBody>
          <a:bodyPr wrap="square" rtlCol="0" anchor="t"/>
          <a:lstStyle/>
          <a:p>
            <a:pPr indent="0" marL="0">
              <a:buNone/>
            </a:pPr>
            <a:r>
              <a:rPr lang="en-US" sz="1100" dirty="0">
                <a:solidFill>
                  <a:srgbClr val="64748B"/>
                </a:solidFill>
                <a:latin typeface="Segoe UI" pitchFamily="34" charset="0"/>
                <a:ea typeface="Segoe UI" pitchFamily="34" charset="-122"/>
                <a:cs typeface="Segoe UI" pitchFamily="34" charset="-120"/>
              </a:rPr>
              <a:t>Academic integrity: live clinic evaluation in progress without fabricated quotes</a:t>
            </a:r>
            <a:endParaRPr lang="en-US" sz="1100" dirty="0"/>
          </a:p>
        </p:txBody>
      </p:sp>
      <p:sp>
        <p:nvSpPr>
          <p:cNvPr id="6" name="Shape 4"/>
          <p:cNvSpPr/>
          <p:nvPr/>
        </p:nvSpPr>
        <p:spPr>
          <a:xfrm>
            <a:off x="731520" y="1554480"/>
            <a:ext cx="10698480" cy="731520"/>
          </a:xfrm>
          <a:prstGeom prst="roundRect">
            <a:avLst>
              <a:gd name="adj" fmla="val 12500"/>
            </a:avLst>
          </a:prstGeom>
          <a:solidFill>
            <a:srgbClr val="FEF3C7"/>
          </a:solidFill>
          <a:ln w="12700">
            <a:solidFill>
              <a:srgbClr val="D97706"/>
            </a:solidFill>
            <a:prstDash val="solid"/>
          </a:ln>
        </p:spPr>
      </p:sp>
      <p:sp>
        <p:nvSpPr>
          <p:cNvPr id="7" name="Text 5"/>
          <p:cNvSpPr/>
          <p:nvPr/>
        </p:nvSpPr>
        <p:spPr>
          <a:xfrm>
            <a:off x="1005840" y="1691640"/>
            <a:ext cx="10149840" cy="228600"/>
          </a:xfrm>
          <a:prstGeom prst="rect">
            <a:avLst/>
          </a:prstGeom>
          <a:noFill/>
          <a:ln/>
        </p:spPr>
        <p:txBody>
          <a:bodyPr wrap="square" rtlCol="0" anchor="ctr"/>
          <a:lstStyle/>
          <a:p>
            <a:pPr indent="0" marL="0">
              <a:buNone/>
            </a:pPr>
            <a:r>
              <a:rPr lang="en-US" sz="1100" b="1" dirty="0">
                <a:solidFill>
                  <a:srgbClr val="D97706"/>
                </a:solidFill>
                <a:latin typeface="Segoe UI" pitchFamily="34" charset="0"/>
                <a:ea typeface="Segoe UI" pitchFamily="34" charset="-122"/>
                <a:cs typeface="Segoe UI" pitchFamily="34" charset="-120"/>
              </a:rPr>
              <a:t>CLIENT VALIDATION STATUS: IN PROGRESS (ON-SITE CLINIC EVALUATION)</a:t>
            </a:r>
            <a:endParaRPr lang="en-US" sz="1100" dirty="0"/>
          </a:p>
        </p:txBody>
      </p:sp>
      <p:sp>
        <p:nvSpPr>
          <p:cNvPr id="8" name="Text 6"/>
          <p:cNvSpPr/>
          <p:nvPr/>
        </p:nvSpPr>
        <p:spPr>
          <a:xfrm>
            <a:off x="1005840" y="1965960"/>
            <a:ext cx="10149840" cy="27432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In strict compliance with academic research integrity, no fictional doctor endorsements or simulated staff testimonials have been fabricated. Evaluation data is being actively collected at Prasad Dental Care.</a:t>
            </a:r>
            <a:endParaRPr lang="en-US" sz="950" dirty="0"/>
          </a:p>
        </p:txBody>
      </p:sp>
      <p:sp>
        <p:nvSpPr>
          <p:cNvPr id="9" name="Shape 7"/>
          <p:cNvSpPr/>
          <p:nvPr/>
        </p:nvSpPr>
        <p:spPr>
          <a:xfrm>
            <a:off x="731520" y="2468880"/>
            <a:ext cx="5212080" cy="3749040"/>
          </a:xfrm>
          <a:prstGeom prst="roundRect">
            <a:avLst>
              <a:gd name="adj" fmla="val 2439"/>
            </a:avLst>
          </a:prstGeom>
          <a:solidFill>
            <a:srgbClr val="FFFFFF"/>
          </a:solidFill>
          <a:ln w="12700">
            <a:solidFill>
              <a:srgbClr val="E2E8F0"/>
            </a:solidFill>
            <a:prstDash val="solid"/>
          </a:ln>
        </p:spPr>
      </p:sp>
      <p:sp>
        <p:nvSpPr>
          <p:cNvPr id="10" name="Text 8"/>
          <p:cNvSpPr/>
          <p:nvPr/>
        </p:nvSpPr>
        <p:spPr>
          <a:xfrm>
            <a:off x="1005840" y="2697480"/>
            <a:ext cx="4663440" cy="274320"/>
          </a:xfrm>
          <a:prstGeom prst="rect">
            <a:avLst/>
          </a:prstGeom>
          <a:noFill/>
          <a:ln/>
        </p:spPr>
        <p:txBody>
          <a:bodyPr wrap="square" rtlCol="0" anchor="ctr"/>
          <a:lstStyle/>
          <a:p>
            <a:pPr indent="0" marL="0">
              <a:buNone/>
            </a:pPr>
            <a:r>
              <a:rPr lang="en-US" sz="1200" b="1" dirty="0">
                <a:solidFill>
                  <a:srgbClr val="0F766E"/>
                </a:solidFill>
                <a:latin typeface="Segoe UI" pitchFamily="34" charset="0"/>
                <a:ea typeface="Segoe UI" pitchFamily="34" charset="-122"/>
                <a:cs typeface="Segoe UI" pitchFamily="34" charset="-120"/>
              </a:rPr>
              <a:t>FIELD EVALUATION PROTOCOL</a:t>
            </a:r>
            <a:endParaRPr lang="en-US" sz="1200" dirty="0"/>
          </a:p>
        </p:txBody>
      </p:sp>
      <p:sp>
        <p:nvSpPr>
          <p:cNvPr id="11" name="Text 9"/>
          <p:cNvSpPr/>
          <p:nvPr/>
        </p:nvSpPr>
        <p:spPr>
          <a:xfrm>
            <a:off x="1005840" y="3063240"/>
            <a:ext cx="4663440" cy="2926080"/>
          </a:xfrm>
          <a:prstGeom prst="rect">
            <a:avLst/>
          </a:prstGeom>
          <a:noFill/>
          <a:ln/>
        </p:spPr>
        <p:txBody>
          <a:bodyPr wrap="square" rtlCol="0" anchor="ctr"/>
          <a:lstStyle/>
          <a:p>
            <a:pPr indent="0" marL="0">
              <a:lnSpc>
                <a:spcPts val="1700"/>
              </a:lnSpc>
              <a:buNone/>
            </a:pPr>
            <a:r>
              <a:rPr lang="en-US" sz="1050" b="1" dirty="0">
                <a:solidFill>
                  <a:srgbClr val="0F172A"/>
                </a:solidFill>
                <a:latin typeface="Segoe UI" pitchFamily="34" charset="0"/>
                <a:ea typeface="Segoe UI" pitchFamily="34" charset="-122"/>
                <a:cs typeface="Segoe UI" pitchFamily="34" charset="-120"/>
              </a:rPr>
              <a:t>• Primary Evaluator: </a:t>
            </a:r>
            <a:pPr indent="0" marL="0">
              <a:lnSpc>
                <a:spcPts val="1700"/>
              </a:lnSpc>
              <a:buNone/>
            </a:pPr>
            <a:r>
              <a:rPr lang="en-US" sz="1050" dirty="0">
                <a:solidFill>
                  <a:srgbClr val="334155"/>
                </a:solidFill>
                <a:latin typeface="Segoe UI" pitchFamily="34" charset="0"/>
                <a:ea typeface="Segoe UI" pitchFamily="34" charset="-122"/>
                <a:cs typeface="Segoe UI" pitchFamily="34" charset="-120"/>
              </a:rPr>
              <a:t>Dr. Hemanth Kumar (BDS, MDS – Orthodontics).
</a:t>
            </a:r>
            <a:pPr indent="0" marL="0">
              <a:lnSpc>
                <a:spcPts val="1700"/>
              </a:lnSpc>
              <a:buNone/>
            </a:pPr>
            <a:r>
              <a:rPr lang="en-US" sz="1050" b="1" dirty="0">
                <a:solidFill>
                  <a:srgbClr val="0F172A"/>
                </a:solidFill>
                <a:latin typeface="Segoe UI" pitchFamily="34" charset="0"/>
                <a:ea typeface="Segoe UI" pitchFamily="34" charset="-122"/>
                <a:cs typeface="Segoe UI" pitchFamily="34" charset="-120"/>
              </a:rPr>
              <a:t>• Secondary Evaluators: </a:t>
            </a:r>
            <a:pPr indent="0" marL="0">
              <a:lnSpc>
                <a:spcPts val="1700"/>
              </a:lnSpc>
              <a:buNone/>
            </a:pPr>
            <a:r>
              <a:rPr lang="en-US" sz="1050" dirty="0">
                <a:solidFill>
                  <a:srgbClr val="334155"/>
                </a:solidFill>
                <a:latin typeface="Segoe UI" pitchFamily="34" charset="0"/>
                <a:ea typeface="Segoe UI" pitchFamily="34" charset="-122"/>
                <a:cs typeface="Segoe UI" pitchFamily="34" charset="-120"/>
              </a:rPr>
              <a:t>Front-desk reception staff &amp; outpatient dental patients.
</a:t>
            </a:r>
            <a:pPr indent="0" marL="0">
              <a:lnSpc>
                <a:spcPts val="1700"/>
              </a:lnSpc>
              <a:buNone/>
            </a:pPr>
            <a:r>
              <a:rPr lang="en-US" sz="1050" b="1" dirty="0">
                <a:solidFill>
                  <a:srgbClr val="0F172A"/>
                </a:solidFill>
                <a:latin typeface="Segoe UI" pitchFamily="34" charset="0"/>
                <a:ea typeface="Segoe UI" pitchFamily="34" charset="-122"/>
                <a:cs typeface="Segoe UI" pitchFamily="34" charset="-120"/>
              </a:rPr>
              <a:t>• Quantitative Metrics: </a:t>
            </a:r>
            <a:pPr indent="0" marL="0">
              <a:lnSpc>
                <a:spcPts val="1700"/>
              </a:lnSpc>
              <a:buNone/>
            </a:pPr>
            <a:r>
              <a:rPr lang="en-US" sz="1050" dirty="0">
                <a:solidFill>
                  <a:srgbClr val="334155"/>
                </a:solidFill>
                <a:latin typeface="Segoe UI" pitchFamily="34" charset="0"/>
                <a:ea typeface="Segoe UI" pitchFamily="34" charset="-122"/>
                <a:cs typeface="Segoe UI" pitchFamily="34" charset="-120"/>
              </a:rPr>
              <a:t>Patient check-in duration, appointment scheduling accuracy, prescription generation time.
</a:t>
            </a:r>
            <a:pPr indent="0" marL="0">
              <a:lnSpc>
                <a:spcPts val="1700"/>
              </a:lnSpc>
              <a:buNone/>
            </a:pPr>
            <a:r>
              <a:rPr lang="en-US" sz="1050" b="1" dirty="0">
                <a:solidFill>
                  <a:srgbClr val="0F172A"/>
                </a:solidFill>
                <a:latin typeface="Segoe UI" pitchFamily="34" charset="0"/>
                <a:ea typeface="Segoe UI" pitchFamily="34" charset="-122"/>
                <a:cs typeface="Segoe UI" pitchFamily="34" charset="-120"/>
              </a:rPr>
              <a:t>• Qualitative Metrics: </a:t>
            </a:r>
            <a:pPr indent="0" marL="0">
              <a:lnSpc>
                <a:spcPts val="1700"/>
              </a:lnSpc>
              <a:buNone/>
            </a:pPr>
            <a:r>
              <a:rPr lang="en-US" sz="1050" dirty="0">
                <a:solidFill>
                  <a:srgbClr val="334155"/>
                </a:solidFill>
                <a:latin typeface="Segoe UI" pitchFamily="34" charset="0"/>
                <a:ea typeface="Segoe UI" pitchFamily="34" charset="-122"/>
                <a:cs typeface="Segoe UI" pitchFamily="34" charset="-120"/>
              </a:rPr>
              <a:t>Operatory usability, FDI tooth chart clarity, patient portal adoption.</a:t>
            </a:r>
            <a:endParaRPr lang="en-US" sz="1050" dirty="0"/>
          </a:p>
        </p:txBody>
      </p:sp>
      <p:sp>
        <p:nvSpPr>
          <p:cNvPr id="12" name="Shape 10"/>
          <p:cNvSpPr/>
          <p:nvPr/>
        </p:nvSpPr>
        <p:spPr>
          <a:xfrm>
            <a:off x="6217920" y="2468880"/>
            <a:ext cx="5212080" cy="3749040"/>
          </a:xfrm>
          <a:prstGeom prst="roundRect">
            <a:avLst>
              <a:gd name="adj" fmla="val 2439"/>
            </a:avLst>
          </a:prstGeom>
          <a:solidFill>
            <a:srgbClr val="FFFFFF"/>
          </a:solidFill>
          <a:ln w="12700">
            <a:solidFill>
              <a:srgbClr val="E2E8F0"/>
            </a:solidFill>
            <a:prstDash val="solid"/>
          </a:ln>
        </p:spPr>
      </p:sp>
      <p:sp>
        <p:nvSpPr>
          <p:cNvPr id="13" name="Text 11"/>
          <p:cNvSpPr/>
          <p:nvPr/>
        </p:nvSpPr>
        <p:spPr>
          <a:xfrm>
            <a:off x="6492240" y="2697480"/>
            <a:ext cx="4663440" cy="274320"/>
          </a:xfrm>
          <a:prstGeom prst="rect">
            <a:avLst/>
          </a:prstGeom>
          <a:noFill/>
          <a:ln/>
        </p:spPr>
        <p:txBody>
          <a:bodyPr wrap="square" rtlCol="0" anchor="ctr"/>
          <a:lstStyle/>
          <a:p>
            <a:pPr indent="0" marL="0">
              <a:buNone/>
            </a:pPr>
            <a:r>
              <a:rPr lang="en-US" sz="1200" b="1" dirty="0">
                <a:solidFill>
                  <a:srgbClr val="0F766E"/>
                </a:solidFill>
                <a:latin typeface="Segoe UI" pitchFamily="34" charset="0"/>
                <a:ea typeface="Segoe UI" pitchFamily="34" charset="-122"/>
                <a:cs typeface="Segoe UI" pitchFamily="34" charset="-120"/>
              </a:rPr>
              <a:t>INTEGRATED CLINIC FEEDBACK MODULE</a:t>
            </a:r>
            <a:endParaRPr lang="en-US" sz="1200" dirty="0"/>
          </a:p>
        </p:txBody>
      </p:sp>
      <p:sp>
        <p:nvSpPr>
          <p:cNvPr id="14" name="Text 12"/>
          <p:cNvSpPr/>
          <p:nvPr/>
        </p:nvSpPr>
        <p:spPr>
          <a:xfrm>
            <a:off x="6492240" y="3063240"/>
            <a:ext cx="4663440" cy="2926080"/>
          </a:xfrm>
          <a:prstGeom prst="rect">
            <a:avLst/>
          </a:prstGeom>
          <a:noFill/>
          <a:ln/>
        </p:spPr>
        <p:txBody>
          <a:bodyPr wrap="square" rtlCol="0" anchor="ctr"/>
          <a:lstStyle/>
          <a:p>
            <a:pPr indent="0" marL="0">
              <a:lnSpc>
                <a:spcPts val="1700"/>
              </a:lnSpc>
              <a:buNone/>
            </a:pPr>
            <a:r>
              <a:rPr lang="en-US" sz="1050" b="1" dirty="0">
                <a:solidFill>
                  <a:srgbClr val="0F172A"/>
                </a:solidFill>
                <a:latin typeface="Segoe UI" pitchFamily="34" charset="0"/>
                <a:ea typeface="Segoe UI" pitchFamily="34" charset="-122"/>
                <a:cs typeface="Segoe UI" pitchFamily="34" charset="-120"/>
              </a:rPr>
              <a:t>Direct Feedback Capture at /feedback:
</a:t>
            </a:r>
            <a:pPr indent="0" marL="0">
              <a:lnSpc>
                <a:spcPts val="1700"/>
              </a:lnSpc>
              <a:buNone/>
            </a:pPr>
            <a:r>
              <a:rPr lang="en-US" sz="1050" dirty="0">
                <a:solidFill>
                  <a:srgbClr val="334155"/>
                </a:solidFill>
                <a:latin typeface="Segoe UI" pitchFamily="34" charset="0"/>
                <a:ea typeface="Segoe UI" pitchFamily="34" charset="-122"/>
                <a:cs typeface="Segoe UI" pitchFamily="34" charset="-120"/>
              </a:rPr>
              <a:t>A dedicated feedback tool is embedded directly within the HMIS application for clinic staff and patients.
</a:t>
            </a:r>
            <a:pPr indent="0" marL="0">
              <a:lnSpc>
                <a:spcPts val="1700"/>
              </a:lnSpc>
              <a:buNone/>
            </a:pPr>
            <a:r>
              <a:rPr lang="en-US" sz="1050" b="1" dirty="0">
                <a:solidFill>
                  <a:srgbClr val="0F172A"/>
                </a:solidFill>
                <a:latin typeface="Segoe UI" pitchFamily="34" charset="0"/>
                <a:ea typeface="Segoe UI" pitchFamily="34" charset="-122"/>
                <a:cs typeface="Segoe UI" pitchFamily="34" charset="-120"/>
              </a:rPr>
              <a:t>Structured Capture Fields:
</a:t>
            </a:r>
            <a:pPr indent="0" marL="0">
              <a:lnSpc>
                <a:spcPts val="1700"/>
              </a:lnSpc>
              <a:buNone/>
            </a:pPr>
            <a:r>
              <a:rPr lang="en-US" sz="1050" dirty="0">
                <a:solidFill>
                  <a:srgbClr val="334155"/>
                </a:solidFill>
                <a:latin typeface="Segoe UI" pitchFamily="34" charset="0"/>
                <a:ea typeface="Segoe UI" pitchFamily="34" charset="-122"/>
                <a:cs typeface="Segoe UI" pitchFamily="34" charset="-120"/>
              </a:rPr>
              <a:t>1. Overall System Usability (1–5 Star Rating)
</a:t>
            </a:r>
            <a:pPr indent="0" marL="0">
              <a:lnSpc>
                <a:spcPts val="1700"/>
              </a:lnSpc>
              <a:buNone/>
            </a:pPr>
            <a:r>
              <a:rPr lang="en-US" sz="1050" dirty="0">
                <a:solidFill>
                  <a:srgbClr val="334155"/>
                </a:solidFill>
                <a:latin typeface="Segoe UI" pitchFamily="34" charset="0"/>
                <a:ea typeface="Segoe UI" pitchFamily="34" charset="-122"/>
                <a:cs typeface="Segoe UI" pitchFamily="34" charset="-120"/>
              </a:rPr>
              <a:t>2. Feature Utility Ratings (Registration, Queue, Prescriptions)
</a:t>
            </a:r>
            <a:pPr indent="0" marL="0">
              <a:lnSpc>
                <a:spcPts val="1700"/>
              </a:lnSpc>
              <a:buNone/>
            </a:pPr>
            <a:r>
              <a:rPr lang="en-US" sz="1050" dirty="0">
                <a:solidFill>
                  <a:srgbClr val="334155"/>
                </a:solidFill>
                <a:latin typeface="Segoe UI" pitchFamily="34" charset="0"/>
                <a:ea typeface="Segoe UI" pitchFamily="34" charset="-122"/>
                <a:cs typeface="Segoe UI" pitchFamily="34" charset="-120"/>
              </a:rPr>
              <a:t>3. Operatory Friction Notes (Text observations during clinics)
</a:t>
            </a:r>
            <a:pPr indent="0" marL="0">
              <a:lnSpc>
                <a:spcPts val="1700"/>
              </a:lnSpc>
              <a:buNone/>
            </a:pPr>
            <a:r>
              <a:rPr lang="en-US" sz="1050" dirty="0">
                <a:solidFill>
                  <a:srgbClr val="334155"/>
                </a:solidFill>
                <a:latin typeface="Segoe UI" pitchFamily="34" charset="0"/>
                <a:ea typeface="Segoe UI" pitchFamily="34" charset="-122"/>
                <a:cs typeface="Segoe UI" pitchFamily="34" charset="-120"/>
              </a:rPr>
              <a:t>4. Suggested Functional Enhancements
</a:t>
            </a:r>
            <a:pPr indent="0" marL="0">
              <a:lnSpc>
                <a:spcPts val="1700"/>
              </a:lnSpc>
              <a:buNone/>
            </a:pPr>
            <a:r>
              <a:rPr lang="en-US" sz="1050" b="1" dirty="0">
                <a:solidFill>
                  <a:srgbClr val="0F172A"/>
                </a:solidFill>
                <a:latin typeface="Segoe UI" pitchFamily="34" charset="0"/>
                <a:ea typeface="Segoe UI" pitchFamily="34" charset="-122"/>
                <a:cs typeface="Segoe UI" pitchFamily="34" charset="-120"/>
              </a:rPr>
              <a:t>Database Persistence:
</a:t>
            </a:r>
            <a:pPr indent="0" marL="0">
              <a:lnSpc>
                <a:spcPts val="1700"/>
              </a:lnSpc>
              <a:buNone/>
            </a:pPr>
            <a:r>
              <a:rPr lang="en-US" sz="1050" dirty="0">
                <a:solidFill>
                  <a:srgbClr val="334155"/>
                </a:solidFill>
                <a:latin typeface="Segoe UI" pitchFamily="34" charset="0"/>
                <a:ea typeface="Segoe UI" pitchFamily="34" charset="-122"/>
                <a:cs typeface="Segoe UI" pitchFamily="34" charset="-120"/>
              </a:rPr>
              <a:t>Responses are securely saved to public.clinic_feedback for analysis.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365760"/>
            <a:ext cx="2560320" cy="320040"/>
          </a:xfrm>
          <a:prstGeom prst="roundRect">
            <a:avLst>
              <a:gd name="adj" fmla="val 22857"/>
            </a:avLst>
          </a:prstGeom>
          <a:solidFill>
            <a:srgbClr val="F0FDFA"/>
          </a:solidFill>
          <a:ln w="12700">
            <a:solidFill>
              <a:srgbClr val="CCFBF1"/>
            </a:solidFill>
            <a:prstDash val="solid"/>
          </a:ln>
        </p:spPr>
      </p:sp>
      <p:sp>
        <p:nvSpPr>
          <p:cNvPr id="3" name="Text 1"/>
          <p:cNvSpPr/>
          <p:nvPr/>
        </p:nvSpPr>
        <p:spPr>
          <a:xfrm>
            <a:off x="731520" y="365760"/>
            <a:ext cx="2560320" cy="320040"/>
          </a:xfrm>
          <a:prstGeom prst="rect">
            <a:avLst/>
          </a:prstGeom>
          <a:noFill/>
          <a:ln/>
        </p:spPr>
        <p:txBody>
          <a:bodyPr wrap="square" rtlCol="0" anchor="ctr"/>
          <a:lstStyle/>
          <a:p>
            <a:pPr algn="ctr" indent="0" marL="0">
              <a:buNone/>
            </a:pPr>
            <a:r>
              <a:rPr lang="en-US" sz="950" b="1" dirty="0">
                <a:solidFill>
                  <a:srgbClr val="0F766E"/>
                </a:solidFill>
                <a:latin typeface="Segoe UI" pitchFamily="34" charset="0"/>
                <a:ea typeface="Segoe UI" pitchFamily="34" charset="-122"/>
                <a:cs typeface="Segoe UI" pitchFamily="34" charset="-120"/>
              </a:rPr>
              <a:t>CONCLUSION</a:t>
            </a:r>
            <a:endParaRPr lang="en-US" sz="950" dirty="0"/>
          </a:p>
        </p:txBody>
      </p:sp>
      <p:sp>
        <p:nvSpPr>
          <p:cNvPr id="4" name="Text 2"/>
          <p:cNvSpPr/>
          <p:nvPr/>
        </p:nvSpPr>
        <p:spPr>
          <a:xfrm>
            <a:off x="731520" y="749808"/>
            <a:ext cx="10698480" cy="41148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Project Summary, Conclusions &amp; Post-MTA Roadmap</a:t>
            </a:r>
            <a:endParaRPr lang="en-US" sz="2200" dirty="0"/>
          </a:p>
        </p:txBody>
      </p:sp>
      <p:sp>
        <p:nvSpPr>
          <p:cNvPr id="5" name="Text 3"/>
          <p:cNvSpPr/>
          <p:nvPr/>
        </p:nvSpPr>
        <p:spPr>
          <a:xfrm>
            <a:off x="731520" y="1188720"/>
            <a:ext cx="10698480" cy="274320"/>
          </a:xfrm>
          <a:prstGeom prst="rect">
            <a:avLst/>
          </a:prstGeom>
          <a:noFill/>
          <a:ln/>
        </p:spPr>
        <p:txBody>
          <a:bodyPr wrap="square" rtlCol="0" anchor="t"/>
          <a:lstStyle/>
          <a:p>
            <a:pPr indent="0" marL="0">
              <a:buNone/>
            </a:pPr>
            <a:r>
              <a:rPr lang="en-US" sz="1100" dirty="0">
                <a:solidFill>
                  <a:srgbClr val="64748B"/>
                </a:solidFill>
                <a:latin typeface="Segoe UI" pitchFamily="34" charset="0"/>
                <a:ea typeface="Segoe UI" pitchFamily="34" charset="-122"/>
                <a:cs typeface="Segoe UI" pitchFamily="34" charset="-120"/>
              </a:rPr>
              <a:t>Successful delivery of a tailored HMIS for Prasad Dental Care</a:t>
            </a:r>
            <a:endParaRPr lang="en-US" sz="1100" dirty="0"/>
          </a:p>
        </p:txBody>
      </p:sp>
      <p:sp>
        <p:nvSpPr>
          <p:cNvPr id="6" name="Shape 4"/>
          <p:cNvSpPr/>
          <p:nvPr/>
        </p:nvSpPr>
        <p:spPr>
          <a:xfrm>
            <a:off x="731520" y="1554480"/>
            <a:ext cx="5212080" cy="4663440"/>
          </a:xfrm>
          <a:prstGeom prst="roundRect">
            <a:avLst>
              <a:gd name="adj" fmla="val 1961"/>
            </a:avLst>
          </a:prstGeom>
          <a:solidFill>
            <a:srgbClr val="FFFFFF"/>
          </a:solidFill>
          <a:ln w="12700">
            <a:solidFill>
              <a:srgbClr val="E2E8F0"/>
            </a:solidFill>
            <a:prstDash val="solid"/>
          </a:ln>
        </p:spPr>
      </p:sp>
      <p:sp>
        <p:nvSpPr>
          <p:cNvPr id="7" name="Text 5"/>
          <p:cNvSpPr/>
          <p:nvPr/>
        </p:nvSpPr>
        <p:spPr>
          <a:xfrm>
            <a:off x="1005840" y="1828800"/>
            <a:ext cx="4663440" cy="274320"/>
          </a:xfrm>
          <a:prstGeom prst="rect">
            <a:avLst/>
          </a:prstGeom>
          <a:noFill/>
          <a:ln/>
        </p:spPr>
        <p:txBody>
          <a:bodyPr wrap="square" rtlCol="0" anchor="ctr"/>
          <a:lstStyle/>
          <a:p>
            <a:pPr indent="0" marL="0">
              <a:buNone/>
            </a:pPr>
            <a:r>
              <a:rPr lang="en-US" sz="1200" b="1" dirty="0">
                <a:solidFill>
                  <a:srgbClr val="0F766E"/>
                </a:solidFill>
                <a:latin typeface="Segoe UI" pitchFamily="34" charset="0"/>
                <a:ea typeface="Segoe UI" pitchFamily="34" charset="-122"/>
                <a:cs typeface="Segoe UI" pitchFamily="34" charset="-120"/>
              </a:rPr>
              <a:t>KEY FIELD PROJECT DELIVERABLES</a:t>
            </a:r>
            <a:endParaRPr lang="en-US" sz="1200" dirty="0"/>
          </a:p>
        </p:txBody>
      </p:sp>
      <p:sp>
        <p:nvSpPr>
          <p:cNvPr id="8" name="Text 6"/>
          <p:cNvSpPr/>
          <p:nvPr/>
        </p:nvSpPr>
        <p:spPr>
          <a:xfrm>
            <a:off x="1005840" y="2194560"/>
            <a:ext cx="4663440" cy="3840480"/>
          </a:xfrm>
          <a:prstGeom prst="rect">
            <a:avLst/>
          </a:prstGeom>
          <a:noFill/>
          <a:ln/>
        </p:spPr>
        <p:txBody>
          <a:bodyPr wrap="square" rtlCol="0" anchor="ctr"/>
          <a:lstStyle/>
          <a:p>
            <a:pPr indent="0" marL="0">
              <a:lnSpc>
                <a:spcPts val="1800"/>
              </a:lnSpc>
              <a:buNone/>
            </a:pPr>
            <a:r>
              <a:rPr lang="en-US" sz="1100" b="1" dirty="0">
                <a:solidFill>
                  <a:srgbClr val="0F172A"/>
                </a:solidFill>
                <a:latin typeface="Segoe UI" pitchFamily="34" charset="0"/>
                <a:ea typeface="Segoe UI" pitchFamily="34" charset="-122"/>
                <a:cs typeface="Segoe UI" pitchFamily="34" charset="-120"/>
              </a:rPr>
              <a:t>1. Eliminated Paper File Retrieval Delays:
</a:t>
            </a:r>
            <a:pPr indent="0" marL="0">
              <a:lnSpc>
                <a:spcPts val="1800"/>
              </a:lnSpc>
              <a:buNone/>
            </a:pPr>
            <a:r>
              <a:rPr lang="en-US" sz="1100" dirty="0">
                <a:solidFill>
                  <a:srgbClr val="334155"/>
                </a:solidFill>
                <a:latin typeface="Segoe UI" pitchFamily="34" charset="0"/>
                <a:ea typeface="Segoe UI" pitchFamily="34" charset="-122"/>
                <a:cs typeface="Segoe UI" pitchFamily="34" charset="-120"/>
              </a:rPr>
              <a:t>Replaced manual shelf searches with sub-second digital lookups.
</a:t>
            </a:r>
            <a:pPr indent="0" marL="0">
              <a:lnSpc>
                <a:spcPts val="1800"/>
              </a:lnSpc>
              <a:buNone/>
            </a:pPr>
            <a:r>
              <a:rPr lang="en-US" sz="1100" b="1" dirty="0">
                <a:solidFill>
                  <a:srgbClr val="0F172A"/>
                </a:solidFill>
                <a:latin typeface="Segoe UI" pitchFamily="34" charset="0"/>
                <a:ea typeface="Segoe UI" pitchFamily="34" charset="-122"/>
                <a:cs typeface="Segoe UI" pitchFamily="34" charset="-120"/>
              </a:rPr>
              <a:t>2. Automated Conflict-Free Scheduling:
</a:t>
            </a:r>
            <a:pPr indent="0" marL="0">
              <a:lnSpc>
                <a:spcPts val="1800"/>
              </a:lnSpc>
              <a:buNone/>
            </a:pPr>
            <a:r>
              <a:rPr lang="en-US" sz="1100" dirty="0">
                <a:solidFill>
                  <a:srgbClr val="334155"/>
                </a:solidFill>
                <a:latin typeface="Segoe UI" pitchFamily="34" charset="0"/>
                <a:ea typeface="Segoe UI" pitchFamily="34" charset="-122"/>
                <a:cs typeface="Segoe UI" pitchFamily="34" charset="-120"/>
              </a:rPr>
              <a:t>Engine enforces timetable limits and prevents slot collisions.
</a:t>
            </a:r>
            <a:pPr indent="0" marL="0">
              <a:lnSpc>
                <a:spcPts val="1800"/>
              </a:lnSpc>
              <a:buNone/>
            </a:pPr>
            <a:r>
              <a:rPr lang="en-US" sz="1100" b="1" dirty="0">
                <a:solidFill>
                  <a:srgbClr val="0F172A"/>
                </a:solidFill>
                <a:latin typeface="Segoe UI" pitchFamily="34" charset="0"/>
                <a:ea typeface="Segoe UI" pitchFamily="34" charset="-122"/>
                <a:cs typeface="Segoe UI" pitchFamily="34" charset="-120"/>
              </a:rPr>
              <a:t>3. Chairside Dental Charting &amp; Safe Rx:
</a:t>
            </a:r>
            <a:pPr indent="0" marL="0">
              <a:lnSpc>
                <a:spcPts val="1800"/>
              </a:lnSpc>
              <a:buNone/>
            </a:pPr>
            <a:r>
              <a:rPr lang="en-US" sz="1100" dirty="0">
                <a:solidFill>
                  <a:srgbClr val="334155"/>
                </a:solidFill>
                <a:latin typeface="Segoe UI" pitchFamily="34" charset="0"/>
                <a:ea typeface="Segoe UI" pitchFamily="34" charset="-122"/>
                <a:cs typeface="Segoe UI" pitchFamily="34" charset="-120"/>
              </a:rPr>
              <a:t>Equipped Dr. Hemanth Kumar with an interactive FDI tooth chart, standardized drug master, and immutable printed prescriptions.
</a:t>
            </a:r>
            <a:pPr indent="0" marL="0">
              <a:lnSpc>
                <a:spcPts val="1800"/>
              </a:lnSpc>
              <a:buNone/>
            </a:pPr>
            <a:r>
              <a:rPr lang="en-US" sz="1100" b="1" dirty="0">
                <a:solidFill>
                  <a:srgbClr val="0F172A"/>
                </a:solidFill>
                <a:latin typeface="Segoe UI" pitchFamily="34" charset="0"/>
                <a:ea typeface="Segoe UI" pitchFamily="34" charset="-122"/>
                <a:cs typeface="Segoe UI" pitchFamily="34" charset="-120"/>
              </a:rPr>
              <a:t>4. Empowered Continuous Patient Care:
</a:t>
            </a:r>
            <a:pPr indent="0" marL="0">
              <a:lnSpc>
                <a:spcPts val="1800"/>
              </a:lnSpc>
              <a:buNone/>
            </a:pPr>
            <a:r>
              <a:rPr lang="en-US" sz="1100" dirty="0">
                <a:solidFill>
                  <a:srgbClr val="334155"/>
                </a:solidFill>
                <a:latin typeface="Segoe UI" pitchFamily="34" charset="0"/>
                <a:ea typeface="Segoe UI" pitchFamily="34" charset="-122"/>
                <a:cs typeface="Segoe UI" pitchFamily="34" charset="-120"/>
              </a:rPr>
              <a:t>Provided patients with a 24/7 self-service portal on mobile web.</a:t>
            </a:r>
            <a:endParaRPr lang="en-US" sz="1100" dirty="0"/>
          </a:p>
        </p:txBody>
      </p:sp>
      <p:sp>
        <p:nvSpPr>
          <p:cNvPr id="9" name="Shape 7"/>
          <p:cNvSpPr/>
          <p:nvPr/>
        </p:nvSpPr>
        <p:spPr>
          <a:xfrm>
            <a:off x="6217920" y="1554480"/>
            <a:ext cx="5212080" cy="4663440"/>
          </a:xfrm>
          <a:prstGeom prst="roundRect">
            <a:avLst>
              <a:gd name="adj" fmla="val 1961"/>
            </a:avLst>
          </a:prstGeom>
          <a:solidFill>
            <a:srgbClr val="FFFFFF"/>
          </a:solidFill>
          <a:ln w="12700">
            <a:solidFill>
              <a:srgbClr val="E2E8F0"/>
            </a:solidFill>
            <a:prstDash val="solid"/>
          </a:ln>
        </p:spPr>
      </p:sp>
      <p:sp>
        <p:nvSpPr>
          <p:cNvPr id="10" name="Text 8"/>
          <p:cNvSpPr/>
          <p:nvPr/>
        </p:nvSpPr>
        <p:spPr>
          <a:xfrm>
            <a:off x="6492240" y="1828800"/>
            <a:ext cx="4663440" cy="274320"/>
          </a:xfrm>
          <a:prstGeom prst="rect">
            <a:avLst/>
          </a:prstGeom>
          <a:noFill/>
          <a:ln/>
        </p:spPr>
        <p:txBody>
          <a:bodyPr wrap="square" rtlCol="0" anchor="ctr"/>
          <a:lstStyle/>
          <a:p>
            <a:pPr indent="0" marL="0">
              <a:buNone/>
            </a:pPr>
            <a:r>
              <a:rPr lang="en-US" sz="1200" b="1" dirty="0">
                <a:solidFill>
                  <a:srgbClr val="0F766E"/>
                </a:solidFill>
                <a:latin typeface="Segoe UI" pitchFamily="34" charset="0"/>
                <a:ea typeface="Segoe UI" pitchFamily="34" charset="-122"/>
                <a:cs typeface="Segoe UI" pitchFamily="34" charset="-120"/>
              </a:rPr>
              <a:t>IMMEDIATE POST-MTA ROADMAP</a:t>
            </a:r>
            <a:endParaRPr lang="en-US" sz="1200" dirty="0"/>
          </a:p>
        </p:txBody>
      </p:sp>
      <p:sp>
        <p:nvSpPr>
          <p:cNvPr id="11" name="Text 9"/>
          <p:cNvSpPr/>
          <p:nvPr/>
        </p:nvSpPr>
        <p:spPr>
          <a:xfrm>
            <a:off x="6492240" y="2194560"/>
            <a:ext cx="4663440" cy="3840480"/>
          </a:xfrm>
          <a:prstGeom prst="rect">
            <a:avLst/>
          </a:prstGeom>
          <a:noFill/>
          <a:ln/>
        </p:spPr>
        <p:txBody>
          <a:bodyPr wrap="square" rtlCol="0" anchor="ctr"/>
          <a:lstStyle/>
          <a:p>
            <a:pPr indent="0" marL="0">
              <a:lnSpc>
                <a:spcPts val="1800"/>
              </a:lnSpc>
              <a:buNone/>
            </a:pPr>
            <a:r>
              <a:rPr lang="en-US" sz="1100" b="1" dirty="0">
                <a:solidFill>
                  <a:srgbClr val="0F172A"/>
                </a:solidFill>
                <a:latin typeface="Segoe UI" pitchFamily="34" charset="0"/>
                <a:ea typeface="Segoe UI" pitchFamily="34" charset="-122"/>
                <a:cs typeface="Segoe UI" pitchFamily="34" charset="-120"/>
              </a:rPr>
              <a:t>1. Complete Staff Operatory Training:
</a:t>
            </a:r>
            <a:pPr indent="0" marL="0">
              <a:lnSpc>
                <a:spcPts val="1800"/>
              </a:lnSpc>
              <a:buNone/>
            </a:pPr>
            <a:r>
              <a:rPr lang="en-US" sz="1100" dirty="0">
                <a:solidFill>
                  <a:srgbClr val="334155"/>
                </a:solidFill>
                <a:latin typeface="Segoe UI" pitchFamily="34" charset="0"/>
                <a:ea typeface="Segoe UI" pitchFamily="34" charset="-122"/>
                <a:cs typeface="Segoe UI" pitchFamily="34" charset="-120"/>
              </a:rPr>
              <a:t>Conduct guided simulation sessions with Dr. Hemanth Kumar and front-desk staff on edge cases.
</a:t>
            </a:r>
            <a:pPr indent="0" marL="0">
              <a:lnSpc>
                <a:spcPts val="1800"/>
              </a:lnSpc>
              <a:buNone/>
            </a:pPr>
            <a:r>
              <a:rPr lang="en-US" sz="1100" b="1" dirty="0">
                <a:solidFill>
                  <a:srgbClr val="0F172A"/>
                </a:solidFill>
                <a:latin typeface="Segoe UI" pitchFamily="34" charset="0"/>
                <a:ea typeface="Segoe UI" pitchFamily="34" charset="-122"/>
                <a:cs typeface="Segoe UI" pitchFamily="34" charset="-120"/>
              </a:rPr>
              <a:t>2. Synthesize Quantitative Evaluation Data:
</a:t>
            </a:r>
            <a:pPr indent="0" marL="0">
              <a:lnSpc>
                <a:spcPts val="1800"/>
              </a:lnSpc>
              <a:buNone/>
            </a:pPr>
            <a:r>
              <a:rPr lang="en-US" sz="1100" dirty="0">
                <a:solidFill>
                  <a:srgbClr val="334155"/>
                </a:solidFill>
                <a:latin typeface="Segoe UI" pitchFamily="34" charset="0"/>
                <a:ea typeface="Segoe UI" pitchFamily="34" charset="-122"/>
                <a:cs typeface="Segoe UI" pitchFamily="34" charset="-120"/>
              </a:rPr>
              <a:t>Aggregate Likert usability ratings and time-motion observations collected via the feedback module.
</a:t>
            </a:r>
            <a:pPr indent="0" marL="0">
              <a:lnSpc>
                <a:spcPts val="1800"/>
              </a:lnSpc>
              <a:buNone/>
            </a:pPr>
            <a:r>
              <a:rPr lang="en-US" sz="1100" b="1" dirty="0">
                <a:solidFill>
                  <a:srgbClr val="0F172A"/>
                </a:solidFill>
                <a:latin typeface="Segoe UI" pitchFamily="34" charset="0"/>
                <a:ea typeface="Segoe UI" pitchFamily="34" charset="-122"/>
                <a:cs typeface="Segoe UI" pitchFamily="34" charset="-120"/>
              </a:rPr>
              <a:t>3. Clinic Hardware Calibration:
</a:t>
            </a:r>
            <a:pPr indent="0" marL="0">
              <a:lnSpc>
                <a:spcPts val="1800"/>
              </a:lnSpc>
              <a:buNone/>
            </a:pPr>
            <a:r>
              <a:rPr lang="en-US" sz="1100" dirty="0">
                <a:solidFill>
                  <a:srgbClr val="334155"/>
                </a:solidFill>
                <a:latin typeface="Segoe UI" pitchFamily="34" charset="0"/>
                <a:ea typeface="Segoe UI" pitchFamily="34" charset="-122"/>
                <a:cs typeface="Segoe UI" pitchFamily="34" charset="-120"/>
              </a:rPr>
              <a:t>Fine-tune local operatory printer margins for pre-printed letterheads.
</a:t>
            </a:r>
            <a:pPr indent="0" marL="0">
              <a:lnSpc>
                <a:spcPts val="1800"/>
              </a:lnSpc>
              <a:buNone/>
            </a:pPr>
            <a:r>
              <a:rPr lang="en-US" sz="1100" b="1" dirty="0">
                <a:solidFill>
                  <a:srgbClr val="0F172A"/>
                </a:solidFill>
                <a:latin typeface="Segoe UI" pitchFamily="34" charset="0"/>
                <a:ea typeface="Segoe UI" pitchFamily="34" charset="-122"/>
                <a:cs typeface="Segoe UI" pitchFamily="34" charset="-120"/>
              </a:rPr>
              <a:t>4. Production Handover:
</a:t>
            </a:r>
            <a:pPr indent="0" marL="0">
              <a:lnSpc>
                <a:spcPts val="1800"/>
              </a:lnSpc>
              <a:buNone/>
            </a:pPr>
            <a:r>
              <a:rPr lang="en-US" sz="1100" dirty="0">
                <a:solidFill>
                  <a:srgbClr val="334155"/>
                </a:solidFill>
                <a:latin typeface="Segoe UI" pitchFamily="34" charset="0"/>
                <a:ea typeface="Segoe UI" pitchFamily="34" charset="-122"/>
                <a:cs typeface="Segoe UI" pitchFamily="34" charset="-120"/>
              </a:rPr>
              <a:t>Finalize administrative credentials and deliver complete operating manuals to Prasad Dental Care.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HIT709 Field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Prasad Dental Care HMIS — MTA Field Project Presentation</dc:title>
  <dc:subject>PptxGenJS Presentation</dc:subject>
  <dc:creator>Prasad Dental Care HMIS</dc:creator>
  <cp:lastModifiedBy>Prasad Dental Care HMIS</cp:lastModifiedBy>
  <cp:revision>1</cp:revision>
  <dcterms:created xsi:type="dcterms:W3CDTF">2026-09-28T17:26:45Z</dcterms:created>
  <dcterms:modified xsi:type="dcterms:W3CDTF">2026-09-28T17:26:45Z</dcterms:modified>
</cp:coreProperties>
</file>