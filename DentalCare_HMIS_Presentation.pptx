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mis-wine.vercel.app/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3840480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  <a:latin typeface="Segoe UI"/>
              </a:defRPr>
            </a:pPr>
            <a:r>
              <a:t>HEALTHCARE MANAGEMENT SYSTEM • DIGITAL HEALTH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DentalCare HMIS</a:t>
            </a:r>
          </a:p>
          <a:p>
            <a:pPr>
              <a:defRPr sz="2000" b="1">
                <a:solidFill>
                  <a:srgbClr val="0D9488"/>
                </a:solidFill>
                <a:latin typeface="Segoe UI"/>
              </a:defRPr>
            </a:pPr>
            <a:r>
              <a:t>Hospital Management Information System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A modern, cloud-native clinical platform designed specifically for dental facilities — enabling centralized digital management of patient registrations, multi-doctor appointment scheduling, FDI tooth charting, immutable prescriptions, and role-based administration.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252374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2249424" cy="41148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215798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Full system governance, staff account provisioning with setup emails, master tariff &amp; medication catalogs, test patient management, and legal audit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3566160"/>
            <a:ext cx="252374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84448" y="3703320"/>
            <a:ext cx="2249424" cy="411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DOCTOR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4251960"/>
            <a:ext cx="215798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Daily consultation queue, patient clinical histories, tooth examination with FDI charting (11-48), diagnosis notes, and 1-click legal prescription builder with WhatsApp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3566160"/>
            <a:ext cx="252374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0216" y="3703320"/>
            <a:ext cx="2249424" cy="4114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RECEPTIONIST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4251960"/>
            <a:ext cx="215798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Zero-barrier patient onboarding with normalized E.164 UHID, calendar appointment booking with conflict detection, and live clinic queue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3566160"/>
            <a:ext cx="252374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15984" y="3703320"/>
            <a:ext cx="2249424" cy="4114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4251960"/>
            <a:ext cx="215798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Self-service patient portal to request appointments, review chronological visit and procedure records, and download or print official verified prescriptions.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217920"/>
            <a:ext cx="10698480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CORE ARCHITECTURE:  Zero-Barrier E.164 Mobile UHID  •  FDI Tooth Charting  •  Immutable Legal Prescriptions  •  Row Level Security (RLS)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CHALLENGES IN DENTAL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Real-world operational, clinical, and data security bottlenecks addressed by DentalCare HMIS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09928"/>
            <a:ext cx="3291840" cy="64922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Fragmented &amp; Paper-Based Patient Records</a:t>
            </a:r>
          </a:p>
          <a:p>
            <a:pPr>
              <a:defRPr sz="950">
                <a:solidFill>
                  <a:srgbClr val="D97706"/>
                </a:solidFill>
                <a:latin typeface="Segoe UI"/>
              </a:defRPr>
            </a:pPr>
            <a:r>
              <a:t>Trigger: Physical files, registers, and slips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97680" y="1856232"/>
            <a:ext cx="320040" cy="3474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00" b="1">
                <a:solidFill>
                  <a:srgbClr val="0F766E"/>
                </a:solidFill>
                <a:latin typeface="Segoe UI"/>
              </a:defRPr>
            </a:pPr>
            <a:r>
              <a:t>CLINICAL &amp; OPERATIONAL IMPACT: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Clinical histories are lost or inaccessible across visits. Doctors lack longitudinal context on past tooth procedures and patient allergy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70048"/>
            <a:ext cx="3291840" cy="64922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Chaotic Appointments &amp; Queue Bottlenecks</a:t>
            </a:r>
          </a:p>
          <a:p>
            <a:pPr>
              <a:defRPr sz="950">
                <a:solidFill>
                  <a:srgbClr val="D97706"/>
                </a:solidFill>
                <a:latin typeface="Segoe UI"/>
              </a:defRPr>
            </a:pPr>
            <a:r>
              <a:t>Trigger: Manual booking via phone &amp; walk-ins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80" y="2816352"/>
            <a:ext cx="320040" cy="3474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00" b="1">
                <a:solidFill>
                  <a:srgbClr val="0F766E"/>
                </a:solidFill>
                <a:latin typeface="Segoe UI"/>
              </a:defRPr>
            </a:pPr>
            <a:r>
              <a:t>CLINICAL &amp; OPERATIONAL IMPACT: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Double-booking doctor slots, scheduling conflicts, and untracked waiting rooms create extended patient wait times and reception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630168"/>
            <a:ext cx="3291840" cy="64922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Prescription Errors &amp; Adverse Drug Risks</a:t>
            </a:r>
          </a:p>
          <a:p>
            <a:pPr>
              <a:defRPr sz="950">
                <a:solidFill>
                  <a:srgbClr val="D97706"/>
                </a:solidFill>
                <a:latin typeface="Segoe UI"/>
              </a:defRPr>
            </a:pPr>
            <a:r>
              <a:t>Trigger: Handwritten illegible prescriptions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97680" y="3776472"/>
            <a:ext cx="320040" cy="3474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611880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00" b="1">
                <a:solidFill>
                  <a:srgbClr val="0F766E"/>
                </a:solidFill>
                <a:latin typeface="Segoe UI"/>
              </a:defRPr>
            </a:pPr>
            <a:r>
              <a:t>CLINICAL &amp; OPERATIONAL IMPACT: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Misread medications, non-standard dosing forms, and unspotted drug contraindications jeopardize patient safety and clinical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590288"/>
            <a:ext cx="3291840" cy="64922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Inefficient Cross-Role Communication</a:t>
            </a:r>
          </a:p>
          <a:p>
            <a:pPr>
              <a:defRPr sz="950">
                <a:solidFill>
                  <a:srgbClr val="D97706"/>
                </a:solidFill>
                <a:latin typeface="Segoe UI"/>
              </a:defRPr>
            </a:pPr>
            <a:r>
              <a:t>Trigger: Siloed reception, doctor &amp; patient interactions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97680" y="4736592"/>
            <a:ext cx="320040" cy="3474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572000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00" b="1">
                <a:solidFill>
                  <a:srgbClr val="0F766E"/>
                </a:solidFill>
                <a:latin typeface="Segoe UI"/>
              </a:defRPr>
            </a:pPr>
            <a:r>
              <a:t>CLINICAL &amp; OPERATIONAL IMPACT: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No unified handoff mechanism between front desk check-in, dentist consultation, and patient post-visit access to their verified prescriptions.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50408"/>
            <a:ext cx="3291840" cy="64922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5. Lack of Role Security &amp; Audit Compliance</a:t>
            </a:r>
          </a:p>
          <a:p>
            <a:pPr>
              <a:defRPr sz="950">
                <a:solidFill>
                  <a:srgbClr val="D97706"/>
                </a:solidFill>
                <a:latin typeface="Segoe UI"/>
              </a:defRPr>
            </a:pPr>
            <a:r>
              <a:t>Trigger: Unsecured physical registers and spreadsheets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97680" y="5696712"/>
            <a:ext cx="320040" cy="34747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5532120"/>
            <a:ext cx="6492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900" b="1">
                <a:solidFill>
                  <a:srgbClr val="0F766E"/>
                </a:solidFill>
                <a:latin typeface="Segoe UI"/>
              </a:defRPr>
            </a:pPr>
            <a:r>
              <a:t>CLINICAL &amp; OPERATIONAL IMPACT: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Vulnerable to unauthorized alteration or data loss. Zero tamper-proof audit trails for legal accountability or regulatory data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COMPREHENSIVE HEALTHCARE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Our Solution — DentalCare HMIS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An integrated, cloud-backed clinical architecture spanning specialized role portals and automated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08760"/>
            <a:ext cx="33832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DentalCare HMIS Core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2374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2249424" cy="41148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Patient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Mobile UHID Access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Zero-friction authentication via verified mobile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21608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Self-Service Booking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Request appointments with doctor preference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62856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Chronological History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View past treatments, procedures, and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04104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Digital Prescriptions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View, print, and download official PDF prescriptions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194560"/>
            <a:ext cx="252374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2331720"/>
            <a:ext cx="2249424" cy="4114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Reception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8803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UHID Registration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E.164 phone normalization eliminates duplicate identities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721608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Smart Queue System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Real-time queue tracking (scheduled, checked-in, waiting)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4562856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Slot Conflict Guard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Prevents double-booking doctor time slots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5404104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Tariff Master Data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33 Kurnool Dental Association standardized pricing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194560"/>
            <a:ext cx="252374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0216" y="2331720"/>
            <a:ext cx="2249424" cy="411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Doctor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8803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Live Daily Queue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Immediate visibility into today's assigned waiting 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721608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FDI Tooth Charting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Interactive tooth examination (quadrants 11-48)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4562856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Medication Master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21 pre-configured dental drugs with standardized dosage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5404104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Immutable Rx Builder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Legal tamper-proof prescriptions with WhatsApp share 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78824" y="2194560"/>
            <a:ext cx="252374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2331720"/>
            <a:ext cx="2249424" cy="4114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Admin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880360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Staff Management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Admin-only provisioning for Admins, Doctors &amp; Receptionists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721608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Password Setup Links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Direct secure Supabase password recovery emails sent to 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4562856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Test Patient Manager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Safe cascade deletion of development &amp; test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5404104"/>
            <a:ext cx="2249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Audit Log Trail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  Tamper-proof append-only logging of all clinical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TECHNOLOGY STACK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Frontend &amp; Backend Architecture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Complete technical stack verified directly from project source code and Supabase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4937760" cy="4572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FRONTEND ARCHITECTURE (React + Vite SPA)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React 18.3 &amp; TypeScript 5.5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Component-driven Single Page Application with strict compile-time types for patient and clinical data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169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Vite 5.4 Tooling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Modern, optimized frontend bundling, hot-module replacement (HMR), and high-performance production build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0215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Tailwind CSS 3.4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Responsive healthcare design system with custom medical color tokens, modern clean cards, and layout utilities.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8736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React Router v6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Declarative client-side routing secured by custom ProtectedRoute role-based access controllers.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7258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Lucide React &amp; Date-fns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Unified medical iconography and standardized appointment/prescription timestamp manipulation.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66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Segoe UI"/>
              </a:defRPr>
            </a:pPr>
            <a:r>
              <a:t>Frontend Role: Handles UI rendering, routing, authentication state, role-based navigation guards, and interaction with backend API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4937760" cy="457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BACKEND &amp; DATABASE (Supabase + PostgreSQL)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Supabase Cloud Backend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Cloud-hosted BaaS platform providing Auth, automated PostgREST endpoints, and PostgreSQL database hosting.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169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PostgreSQL 15+ Database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9 relational tables: users, patients, appointments, consultations, prescriptions, medications, treatments, audit_logs,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0215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Supabase Auth (GoTrue)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Encrypted password credentials (bcrypt), email confirmation tokens, and secure JWT session state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8736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Row Level Security (RLS)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Database-enforced access policies guaranteeing that patients access only their records and staff access assigned tiers.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7258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PostgreSQL RPCs &amp; Triggers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SECURITY DEFINER procedures for staff provisioning, test patient deletion, role escalation prevention, and audit logging.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166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Segoe UI"/>
              </a:defRPr>
            </a:pPr>
            <a:r>
              <a:t>Backend Role: Manages authentication, authorization, persistent healthcare data, database operations, and secure server-side functionality.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INTERACTION FLOW:   React Frontend (UI/State)  ──►  Supabase JS Client (PostgREST API)  ──►  PostgreSQL Engine (RLS &amp; Stored RPCs)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System Architecture &amp; Data Flow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Complete architectural topology illustrating user portals, application services, and database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HMIS USER ECOSYSTEM:   [Patient Portal]      •      [Reception Desk]      •      [Attending Dentist]      •      [Clinic Administrator]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97880" y="2267712"/>
            <a:ext cx="384048" cy="25603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CLIENT PRESENTATION LAYER (React 18 + TypeScript + Vite + Tailwind CSS)</a:t>
            </a:r>
          </a:p>
          <a:p>
            <a:pPr algn="ctr">
              <a:defRPr sz="1000">
                <a:solidFill>
                  <a:srgbClr val="334155"/>
                </a:solidFill>
                <a:latin typeface="Segoe UI"/>
              </a:defRPr>
            </a:pPr>
            <a:r>
              <a:t>AuthContext Session State  •  ProtectedRoute Role Guards  •  Patient / Reception / Doctor Layouts  •  Odontogram Tooth Charting (FDI)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97880" y="3364992"/>
            <a:ext cx="384048" cy="25603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APPLICATION SERVICE LAYER (TypeScript Modular Services)</a:t>
            </a:r>
          </a:p>
          <a:p>
            <a:pPr algn="ctr">
              <a:defRPr sz="1000">
                <a:solidFill>
                  <a:srgbClr val="334155"/>
                </a:solidFill>
                <a:latin typeface="Segoe UI"/>
              </a:defRPr>
            </a:pPr>
            <a:r>
              <a:t>authService  •  patientService (UHID)  •  appointmentService (Queue)  •  consultationService  •  prescriptionService  •  userService  •  auditService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4462272"/>
            <a:ext cx="384048" cy="25603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SUPABASE CLOUD INFRASTRUCTURE &amp; BACKEND GATEWAY</a:t>
            </a:r>
          </a:p>
          <a:p>
            <a:pPr algn="ctr">
              <a:defRPr sz="1000">
                <a:solidFill>
                  <a:srgbClr val="334155"/>
                </a:solidFill>
                <a:latin typeface="Segoe UI"/>
              </a:defRPr>
            </a:pPr>
            <a:r>
              <a:t>Supabase Auth (GoTrue Sessions)  •  PostgREST REST API  •  SECURITY DEFINER RPCs (provision_staff, delete_test_patient)  •  JWT Role Verification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97880" y="5559552"/>
            <a:ext cx="384048" cy="25603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POSTGRESQL RELATIONAL DATABASE (Protected by Row Level Security &amp; Triggers)</a:t>
            </a:r>
          </a:p>
          <a:p>
            <a:pPr algn="ctr">
              <a:defRPr sz="950">
                <a:solidFill>
                  <a:srgbClr val="334155"/>
                </a:solidFill>
                <a:latin typeface="Segoe UI"/>
              </a:defRPr>
            </a:pPr>
            <a:r>
              <a:t>public.users  •  public.patients  •  appointments  •  consultations  •  prescriptions (IMMUTABLE)  •  medications  •  treatments  •  audit_logs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Live HMIS — Demo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Explore the fully operational DentalCare HMIS deployed in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874519"/>
            <a:ext cx="2926080" cy="3657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● LIVE SYSTEM OPERATIONAL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6217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DentalCare HMIS Web Application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Hosted on Vercel with high-availability Supabase PostgreSQL backend. Click below to launch the live application in your browser.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1188720" y="3520440"/>
            <a:ext cx="5852160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hlinkClick r:id="rId2"/>
              </a:rPr>
              <a:t>➜   OPEN LIVE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5852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Segoe UI"/>
              </a:defRPr>
            </a:pPr>
            <a:r>
              <a:t>URL: </a:t>
            </a:r>
            <a:r>
              <a:rPr sz="1200" b="1" u="sng">
                <a:solidFill>
                  <a:srgbClr val="0D9488"/>
                </a:solidFill>
                <a:latin typeface="Segoe UI"/>
                <a:hlinkClick r:id="rId2"/>
              </a:rPr>
              <a:t>https://hmis-wine.vercel.app/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892040"/>
            <a:ext cx="5852160" cy="12344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 b="1">
                <a:solidFill>
                  <a:srgbClr val="0F766E"/>
                </a:solidFill>
                <a:latin typeface="Segoe UI"/>
              </a:defRPr>
            </a:pPr>
            <a:r>
              <a:t>DEMO ROLE PERSONAS AVAILABLE FOR TESTING: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Administrator: admin@dentalcare.com (Staff management, audit, test patient cleanup)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Doctor: dr.sharma@dentalcare.com (Consultations, FDI tooth charting, Rx builder)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Receptionist: receptionist@dentalcare.com (Patient registration &amp; queue management)</a:t>
            </a:r>
          </a:p>
          <a:p>
            <a:pPr>
              <a:defRPr sz="900">
                <a:solidFill>
                  <a:srgbClr val="334155"/>
                </a:solidFill>
                <a:latin typeface="Segoe UI"/>
              </a:defRPr>
            </a:pPr>
            <a:r>
              <a:t>• Patient: rahul.kumar@dentalcare.com (Appointments &amp; prescription downloads)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874519"/>
            <a:ext cx="3474720" cy="4251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ve_demo_qr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19456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0" y="48920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SCAN WITH MOBILE CAMERA</a:t>
            </a:r>
          </a:p>
          <a:p>
            <a:pPr algn="ctr">
              <a:defRPr sz="1000">
                <a:solidFill>
                  <a:srgbClr val="334155"/>
                </a:solidFill>
                <a:latin typeface="Segoe UI"/>
              </a:defRPr>
            </a:pPr>
            <a:r>
              <a:t>Direct mobile access to test the responsive Patient &amp; Staff Portals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